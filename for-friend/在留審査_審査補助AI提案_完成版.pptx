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3" r:id="rId9"/>
    <p:sldId id="278" r:id="rId10"/>
    <p:sldId id="264" r:id="rId11"/>
    <p:sldId id="269" r:id="rId12"/>
    <p:sldId id="265" r:id="rId13"/>
    <p:sldId id="266" r:id="rId14"/>
    <p:sldId id="280" r:id="rId15"/>
    <p:sldId id="281" r:id="rId16"/>
    <p:sldId id="267" r:id="rId17"/>
    <p:sldId id="26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結論" id="{3CE5712B-B580-1D5C-7906-BA3CF52C514F}">
          <p14:sldIdLst>
            <p14:sldId id="256"/>
          </p14:sldIdLst>
        </p14:section>
        <p14:section name="背景と現状" id="{0CC210BC-7D1A-C44D-6FE0-0B79C1E15AA3}">
          <p14:sldIdLst>
            <p14:sldId id="257"/>
            <p14:sldId id="258"/>
          </p14:sldIdLst>
        </p14:section>
        <p14:section name="現状と課題" id="{87656966-E327-9650-00E1-98C49D98067E}">
          <p14:sldIdLst>
            <p14:sldId id="259"/>
            <p14:sldId id="260"/>
            <p14:sldId id="261"/>
            <p14:sldId id="279"/>
          </p14:sldIdLst>
        </p14:section>
        <p14:section name="提案" id="{1FB18105-7FAA-CDA3-508A-EB12E9EF61F4}">
          <p14:sldIdLst>
            <p14:sldId id="263"/>
            <p14:sldId id="278"/>
            <p14:sldId id="264"/>
            <p14:sldId id="269"/>
            <p14:sldId id="265"/>
          </p14:sldIdLst>
        </p14:section>
        <p14:section name="効果" id="{8BEF0D64-F107-CE2E-9F1D-9AA1AC06070E}">
          <p14:sldIdLst>
            <p14:sldId id="266"/>
            <p14:sldId id="280"/>
            <p14:sldId id="281"/>
          </p14:sldIdLst>
        </p14:section>
        <p14:section name="次の一手" id="{02D5B939-23E7-70CF-EE02-FFEF50626121}">
          <p14:sldIdLst>
            <p14:sldId id="267"/>
          </p14:sldIdLst>
        </p14:section>
        <p14:section name="補足" id="{5EFCC9A7-A812-13BE-E7DC-83AB850919CB}">
          <p14:sldIdLst>
            <p14:sldId id="268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CB7B2-0BA8-4BA6-AA90-900748647CE2}" v="5" dt="2026-10-14T13:51:59.3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悠生 合谷" userId="ffcf339c3cddc92e" providerId="LiveId" clId="{9E4328B3-8B00-4FE8-9B0C-DA2E43D9A6B9}"/>
    <pc:docChg chg="custSel addSld delSld modSld modSection">
      <pc:chgData name="悠生 合谷" userId="ffcf339c3cddc92e" providerId="LiveId" clId="{9E4328B3-8B00-4FE8-9B0C-DA2E43D9A6B9}" dt="2026-10-14T13:55:52.674" v="10" actId="207"/>
      <pc:docMkLst>
        <pc:docMk/>
      </pc:docMkLst>
      <pc:sldChg chg="del">
        <pc:chgData name="悠生 合谷" userId="ffcf339c3cddc92e" providerId="LiveId" clId="{9E4328B3-8B00-4FE8-9B0C-DA2E43D9A6B9}" dt="2026-10-14T13:40:48.910" v="4" actId="47"/>
        <pc:sldMkLst>
          <pc:docMk/>
          <pc:sldMk cId="0" sldId="262"/>
        </pc:sldMkLst>
      </pc:sldChg>
      <pc:sldChg chg="modSp mod modClrScheme chgLayout">
        <pc:chgData name="悠生 合谷" userId="ffcf339c3cddc92e" providerId="LiveId" clId="{9E4328B3-8B00-4FE8-9B0C-DA2E43D9A6B9}" dt="2026-10-14T13:41:05.173" v="6" actId="207"/>
        <pc:sldMkLst>
          <pc:docMk/>
          <pc:sldMk cId="0" sldId="268"/>
        </pc:sldMkLst>
        <pc:spChg chg="mod ord">
          <ac:chgData name="悠生 合谷" userId="ffcf339c3cddc92e" providerId="LiveId" clId="{9E4328B3-8B00-4FE8-9B0C-DA2E43D9A6B9}" dt="2026-10-14T13:41:05.173" v="6" actId="207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悠生 合谷" userId="ffcf339c3cddc92e" providerId="LiveId" clId="{9E4328B3-8B00-4FE8-9B0C-DA2E43D9A6B9}" dt="2026-10-14T13:40:56.715" v="5" actId="700"/>
          <ac:spMkLst>
            <pc:docMk/>
            <pc:sldMk cId="0" sldId="268"/>
            <ac:spMk id="25" creationId="{00000000-0000-0000-0000-000000000000}"/>
          </ac:spMkLst>
        </pc:spChg>
      </pc:sldChg>
      <pc:sldChg chg="del">
        <pc:chgData name="悠生 合谷" userId="ffcf339c3cddc92e" providerId="LiveId" clId="{9E4328B3-8B00-4FE8-9B0C-DA2E43D9A6B9}" dt="2026-10-14T13:36:21.211" v="0" actId="2696"/>
        <pc:sldMkLst>
          <pc:docMk/>
          <pc:sldMk cId="0" sldId="269"/>
        </pc:sldMkLst>
      </pc:sldChg>
      <pc:sldChg chg="add">
        <pc:chgData name="悠生 合谷" userId="ffcf339c3cddc92e" providerId="LiveId" clId="{9E4328B3-8B00-4FE8-9B0C-DA2E43D9A6B9}" dt="2026-10-14T13:36:26.543" v="1"/>
        <pc:sldMkLst>
          <pc:docMk/>
          <pc:sldMk cId="4160864233" sldId="269"/>
        </pc:sldMkLst>
      </pc:sldChg>
      <pc:sldChg chg="add">
        <pc:chgData name="悠生 合谷" userId="ffcf339c3cddc92e" providerId="LiveId" clId="{9E4328B3-8B00-4FE8-9B0C-DA2E43D9A6B9}" dt="2026-10-14T13:40:00.250" v="2"/>
        <pc:sldMkLst>
          <pc:docMk/>
          <pc:sldMk cId="0" sldId="278"/>
        </pc:sldMkLst>
      </pc:sldChg>
      <pc:sldChg chg="modSp add mod">
        <pc:chgData name="悠生 合谷" userId="ffcf339c3cddc92e" providerId="LiveId" clId="{9E4328B3-8B00-4FE8-9B0C-DA2E43D9A6B9}" dt="2026-10-14T13:55:52.674" v="10" actId="207"/>
        <pc:sldMkLst>
          <pc:docMk/>
          <pc:sldMk cId="0" sldId="279"/>
        </pc:sldMkLst>
        <pc:spChg chg="mod">
          <ac:chgData name="悠生 合谷" userId="ffcf339c3cddc92e" providerId="LiveId" clId="{9E4328B3-8B00-4FE8-9B0C-DA2E43D9A6B9}" dt="2026-10-14T13:55:48.095" v="9" actId="1076"/>
          <ac:spMkLst>
            <pc:docMk/>
            <pc:sldMk cId="0" sldId="279"/>
            <ac:spMk id="2" creationId="{00000000-0000-0000-0000-000000000000}"/>
          </ac:spMkLst>
        </pc:spChg>
        <pc:spChg chg="mod">
          <ac:chgData name="悠生 合谷" userId="ffcf339c3cddc92e" providerId="LiveId" clId="{9E4328B3-8B00-4FE8-9B0C-DA2E43D9A6B9}" dt="2026-10-14T13:55:52.674" v="10" actId="207"/>
          <ac:spMkLst>
            <pc:docMk/>
            <pc:sldMk cId="0" sldId="279"/>
            <ac:spMk id="6" creationId="{00000000-0000-0000-0000-000000000000}"/>
          </ac:spMkLst>
        </pc:spChg>
      </pc:sldChg>
      <pc:sldChg chg="add">
        <pc:chgData name="悠生 合谷" userId="ffcf339c3cddc92e" providerId="LiveId" clId="{9E4328B3-8B00-4FE8-9B0C-DA2E43D9A6B9}" dt="2026-10-14T13:51:39.020" v="7"/>
        <pc:sldMkLst>
          <pc:docMk/>
          <pc:sldMk cId="0" sldId="280"/>
        </pc:sldMkLst>
      </pc:sldChg>
      <pc:sldChg chg="add">
        <pc:chgData name="悠生 合谷" userId="ffcf339c3cddc92e" providerId="LiveId" clId="{9E4328B3-8B00-4FE8-9B0C-DA2E43D9A6B9}" dt="2026-10-14T13:51:59.330" v="8"/>
        <pc:sldMkLst>
          <pc:docMk/>
          <pc:sldMk cId="0" sldId="28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63F"/>
                </a:solidFill>
                <a:latin typeface="+mn-lt"/>
              </a:defRPr>
            </a:pPr>
            <a:r>
              <a:rPr lang="ja-JP" altLang="en-US" sz="1500" b="0" i="0" u="none" strike="noStrike">
                <a:solidFill>
                  <a:srgbClr val="12263F"/>
                </a:solidFill>
                <a:latin typeface="+mn-lt"/>
              </a:rPr>
              <a:t>在留資格変更許可の平均処理日数</a:t>
            </a:r>
            <a:r>
              <a:rPr lang="en-US" altLang="ja-JP" sz="1500" b="0" i="0" u="none" strike="noStrike">
                <a:solidFill>
                  <a:srgbClr val="12263F"/>
                </a:solidFill>
                <a:latin typeface="+mn-lt"/>
              </a:rPr>
              <a:t>(</a:t>
            </a:r>
            <a:r>
              <a:rPr lang="ja-JP" altLang="en-US" sz="1500" b="0" i="0" u="none" strike="noStrike">
                <a:solidFill>
                  <a:srgbClr val="12263F"/>
                </a:solidFill>
                <a:latin typeface="+mn-lt"/>
              </a:rPr>
              <a:t>日</a:t>
            </a:r>
            <a:r>
              <a:rPr lang="en-US" altLang="ja-JP" sz="1500" b="0" i="0" u="none" strike="noStrike">
                <a:solidFill>
                  <a:srgbClr val="12263F"/>
                </a:solidFill>
                <a:latin typeface="+mn-lt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技術・人文知識・国際業務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令和5年4〜6月</c:v>
                </c:pt>
                <c:pt idx="1">
                  <c:v>令和7年7月</c:v>
                </c:pt>
                <c:pt idx="2">
                  <c:v>令和8年7月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</c:v>
                </c:pt>
                <c:pt idx="1">
                  <c:v>64.2</c:v>
                </c:pt>
                <c:pt idx="2">
                  <c:v>72.900000000000006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5F-4C7D-A962-5A5BC94BF4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留学</c:v>
                </c:pt>
              </c:strCache>
            </c:strRef>
          </c:tx>
          <c:spPr>
            <a:solidFill>
              <a:srgbClr val="C2410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令和5年4〜6月</c:v>
                </c:pt>
                <c:pt idx="1">
                  <c:v>令和7年7月</c:v>
                </c:pt>
                <c:pt idx="2">
                  <c:v>令和8年7月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28.4</c:v>
                </c:pt>
                <c:pt idx="1">
                  <c:v>50.2</c:v>
                </c:pt>
                <c:pt idx="2">
                  <c:v>57.9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5F-4C7D-A962-5A5BC94BF4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2263F"/>
                </a:solidFill>
                <a:latin typeface="+mn-lt"/>
              </a:defRPr>
            </a:pPr>
            <a:r>
              <a:rPr lang="ja-JP" altLang="en-US" sz="1500" b="0" i="0" u="none" strike="noStrike">
                <a:solidFill>
                  <a:srgbClr val="12263F"/>
                </a:solidFill>
                <a:latin typeface="+mn-lt"/>
              </a:rPr>
              <a:t>期間更新の審査待ち件数</a:t>
            </a:r>
            <a:r>
              <a:rPr lang="en-US" altLang="ja-JP" sz="1500" b="0" i="0" u="none" strike="noStrike">
                <a:solidFill>
                  <a:srgbClr val="12263F"/>
                </a:solidFill>
                <a:latin typeface="+mn-lt"/>
              </a:rPr>
              <a:t>(</a:t>
            </a:r>
            <a:r>
              <a:rPr lang="ja-JP" altLang="en-US" sz="1500" b="0" i="0" u="none" strike="noStrike">
                <a:solidFill>
                  <a:srgbClr val="12263F"/>
                </a:solidFill>
                <a:latin typeface="+mn-lt"/>
              </a:rPr>
              <a:t>件</a:t>
            </a:r>
            <a:r>
              <a:rPr lang="en-US" altLang="ja-JP" sz="1500" b="0" i="0" u="none" strike="noStrike">
                <a:solidFill>
                  <a:srgbClr val="12263F"/>
                </a:solidFill>
                <a:latin typeface="+mn-lt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審査待ちの案件数(旧受)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000000"/>
                    </a:solidFill>
                    <a:latin typeface="+mn-lt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現在</c:v>
                </c:pt>
                <c:pt idx="1">
                  <c:v>AI導入後(30%減・仮説)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198026</c:v>
                </c:pt>
                <c:pt idx="1">
                  <c:v>138618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EA-4E1D-A1AC-0A8BF93CEF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00"/>
          <c:min val="0"/>
        </c:scaling>
        <c:delete val="0"/>
        <c:axPos val="l"/>
        <c:majorGridlines>
          <c:spPr>
            <a:ln w="6350" cap="flat">
              <a:solidFill>
                <a:srgbClr val="DDE1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74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から述べる。提案は、入管庁の在留審査で、審査官の判断を支える生成AIをFEISの外側(端末側)に置くこと。RASENSの申請内容とFEISの既存情報をAIが突き合わせ、違いと確認すべき観点を表にして示す。可否の判断は人が行う。効果は審査時間と待ち日数で測り、入管庁に導入して、うまくいけば他の審査業務へ広げる。(約30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事実として確認できる背景。在留外国人は412.5万人(2025年末、前年比+9.5%)、特定技能は39.0万人(+37.2%)。2026年7月に226人の緊急増員(入国審査官176人)があり、年度途中の増員。特定技能1号の更新は41.0日で標準処理期間(2週間〜1か月)を超過。増員は採用・育成に時間がかかり、人手依存の構造は変わらない。処理日数には追加資料待ち・来庁待ちを含み、純粋な審査時間ではない。(2・3枚目で約1分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査期間の推移。技術・人文知識・国際業務の変更申請は、令和5年4〜6月の41日から、令和7年7月に64日、令和8年7月に73日。留学の変更も28日→50日→58日。標準処理期間(変更は1〜2か月)を超えている。ただし、全体が一律に長期化しているのではなく、更新は微増、認定は横ばい。表の列の対応は自動抽出の推定で、令和5年は3か月分、令和7・8年は単月の値。原本PDFで確認す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れは、オンライン申請→RASENS→FEIS→端末でデータ整理→審査官の判断。紙の申請は職員がFEISに手入力する。ここまではヒアリングで確認した事実。FEISは他社製で触れないため、AIは端末側(FEISの外側)に置く。現状は、整理までは端末でできているが、その先の判断は属人化が強く、新人は判断が難しい。提案は、AIが差異と確認の観点を根拠付きで示し、通知文の案も作る。最終判断は審査官。端末での見え方の詳細は未確認で、次に確かめる事項。(約1分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つの課題を並べ、効果・介入のしやすさ・技術的な難しさで比べた。(a)紙申請の手入力は、手書きが読みにくくOCRが難しく、NTTも導入できていないため見送り。(c)問い合わせ対応はチャットボット案があるが優先度が低く副案。(b)FEIS整理後の審査判断の補助は、審査の中心に効き、FEISの外側で実現できるため優先。この判断はヒアリングによる。(約1分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選定理由。①審査案件がそもそも多い。②審査官が判断し、書類を出し、回付して決裁へ進むフローを回しており、審査官の業務が重い(この工程の詳細は、ヒアリングで確認した内容に合わせて話す)。③判断が経験に頼る属人的な作業で、新人は大変。公開資料の裏付けとして、総務省勧告に、担当官が独自DBを作っていた記述があり、現場の個別工夫・属人化の傍証になる。ただし技能実習・留学の受入機関の把握が主題で、審査判断の記述は薄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要推敲。ここは自分の言葉で話す)課題の絞り込みは現場のヒアリングが中心だったので、なぜ自分がこれを解きたいのかを述べる。ベトナムのカフェ提案チームで、全員が力を発揮できるよう調整役を担った経験から、経験の差で成果が変わる状況を仕組みで支えたいと考えた。審査官の新人も熟練者もそれぞれが力を出せる環境が、結果として申請者を待たせない社会につながる。別の動機(研究での根拠に基づく判断、海外で働く難しさ)に差し替えてもよい。(約30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査補助AIは、過去の事例を探し、書類を確認し、担当者の判断を支える型。NTTデータは、この型を他の領域ですでに手がけている。金融機関向けの稟議書起案支援は、類似案件を検索して表示し、実証で調査時間を約50%削減。官公庁向けには、申請書類の分類と類似ケース検索のPoCを2024年に完了。自治体向けの職員支援AIアプリは2025年10月に提供開始で、報告書作成時間が約60%削減(実証)。ただし、入管庁の在留申請オンラインシステム(RASENS)の更改・設計開発を、NTTデータが11.385億円で受注している(令和6年5月落札)。官公庁向けの分類・検索AIは、官公庁名と導入の有無が非公表。(約60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の進め方(提案・仮説)。段階分けは行わず、まず入管庁に導入する。FEISは触らず端末側に載せ、閉域・セキュアな環境で、人が最終判断をする。一部で試して効果を測る。うまくいけば、書類の読み取り・照合・起案が共通する他の許認可・審査業務へ広げる。追い風として、次期FEISの検討(令和8年度に調査・構築検討支援業務が進行中)、マイナンバー連携や公共サービスメッシュ、ガバメントAI「源内」(利用可否は要確認)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内容を、業務アプリ風の画面にしたイメージ。左に案件一覧、中央に申請とFEISの比較、右にAIの観点のパネル。要確認と相違だけ色を付け、審査官がまず見る場所が分かる。右のパネルから、根拠(基準・過去事例)に飛べる。内容はすべて架空。AIは可否を断定せず、判断は審査官が入力する。(約45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審査官の大きなPC画面を、表計算ソフトのような形で表したイメージ。B列が利用者のオンライン申請(RASENS)、C列がFEISの情報、D列が突合の結果、E列とF列がAIの観点と類似案件の参照。要確認と相違の行に色が付く。内容はすべて架空の例。AIは可否を断定しない。実際の画面の見え方は未確認。(約45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216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力は5つ。照合結果、確認ポイント、判断の観点、注意区分、追加資料の候補と通知文の案。守ることは、AIが許可・不許可を断定・推奨しないこと、人が最終判断すること、根拠リンクを必ず付けること、要注意は人が全件確認すること。英国の要約AIで深刻な誤りが約9%あった事例を踏まえた設計。作業別では、照合が最も効き、判断は時間よりも質が揃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段はビジネスモデル。NTTデータが審査補助AIを入管庁に提供し、入管庁は予算から対価を支払う。審査官が使い、申請者は待ち日数の短縮という形で恩恵を受ける。予算は令和8年度の外国人材受入れ体制整備等が145.4億円で、内訳に在留審査の迅速化システムの導入がある。取り分は、RASENS更改の受注額11.385億円(予算枠の約8%)を参考に3〜8%と仮置きし、約4〜12億円。下段は効果。時間で表す。技術・人文知識・国際業務の変更申請は平均72.9日(令和8年7月)。処理日数が30%減ると約51日、1件あたり約22日の短縮。件数は表06の2026年7月分。既済は資格変更57,452件、期間更新153,920件、永住6,136件で、12倍して年換算した。認定は2025年の交付人員の合計約68.5万人。短縮日数を掛けると、年間で延べ約5,400万日の待ち日数の削減になる。更新は特定技能の41日、永住は標準処理期間5か月で代用した概算。資格外活動・再入国・資格取得は、簡易な手続きで日数データもないので除く。処理日数は追加資料の待ちなどを含む平均値で、審査官の作業時間ではない。30%は仮説。(約90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待ち日数と、審査待ちの案件数は、同じ事実の言い換え(リトルの法則)。期間更新は、新受が月136,910件、処理日数が約41日なので、審査中の件数は約18.7万件。実際の旧受(前月からの持ち越し)は198,026件で、ほぼ一致する。待ち日数が30%減ると、審査待ちの件数も約30%減り、約19.8万件が約13.9万件、約5.9万件の減少になる。注意として、永住は新受が月11,314件に対し既済が6,136件で、処理能力が足りない。日数を30%短縮しても、件数が処理能力を超える手続では、滞留は自動では解消しない。数値は2026年7月の単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費用対効果の試算。削減できる人件費は、担当者数×人件費単価×削減率。担当者数は入国審査官3,988人に在留審査の割合30%(仮)をかけた約1,200人、人件費は700万円/人(仮)。削減率が10%・20%・30%のとき、年8.4億・16.8億・25.2億円。AIの費用は、NTTの取り分の仮説(予算枠の3〜8%)の約4〜12億円とした。表は、削減額から費用を引いた純効果。削減率10%・費用8億円付近が分岐点。ただし、待ち日数の短縮と、審査官の工数の削減は同じではない。削減率は審査官の作業時間に対するもので、現場の聞き取りで検証が必要。担当者数、単価、費用はすべて仮置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行動。第1に、審査のどの作業に時間がかかっているかを確かめる。読み取り、照合、判断、記録の内訳をヒアリングや計測で出し、効果の仮置きを実測に置き換える。あわせて、年間件数、閉域環境の要件、FEISとRASENSのベンダーとの連携条件を確認する。第2に、1局・1資格で、過去の終了案件を使ってPoCを行い、実績をつくる。第3に、実績があれば同じ型の業務へ横展開する。入管庁内では他の在留資格や難民認定など。他の官庁では、申請書類の審査と過去事例の検索が要る業務。これは仮説で、各業務の実態確認が前提。(約60秒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ISは外国人出入国情報システム。出入国・在留管理の各種DBを統合した統合サーバシステム。平成13年度からの3か年計画で既存システムのDBを統合・一元化した。単一端末から全システムを検索できる。この記述は総務省の報告書(約2013年)によるもので、現行の構成は要確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突合は、2つ以上のデータや書類を照らし合わせて、一致・矛盾・該当の有無を確認すること。FEISでは、申請書の本人情報を外国人BL基本情報DBなどと照合し、上陸拒否事由や違反歴に該当しないかを確認する。ただし突合は審査の一部で、基準適合性や相当性の判断は別。突合はFEIS側で自動化されている可能性が高く、AIの領域はその先と考える。初申請は、海外在住の場合は本人の履歴がほぼなく、書類の読み取り・照合の負担が大き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総務省の報告書で指摘された問題点。FEISの把握機能の限界として、現在の受入団体リストを作ると過去の実績も全部出力されること、監理団体と実習実施機関のデータが連携されていないこと。担当官が独自DBを作っていたが、局ごとに不統一で精度も不十分。法務省は、FEISは個人基準で、新機能の付与は時間と費用がかかるとしている。ただし約2013年の資料で、主題は技能実習・留学の受入機関の把握であり、審査判断の記述は薄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・制度の背景。第2次出入国在留管理基本計画(2026/7/31)に在留審査業務の効率化が明記された。懇談会報告書(R7.12)でAIの明示は難民審査のみ、高度専門職の審査期間の大幅長期化の指摘がある。総合的対応策で、原則オンライン化はR9年度、公共サービスメッシュはR8.1、入管分野の情報連携は2027年3月。入管庁はSNS自動巡回AIを検討(2026/5、取締側)。ガバメントAI源内は約10万人が利用可で、本格利用はR9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決策を5つ比べた。A増員は確実だが時間とコストがかかり、人手依存は変わらない。B申請側の改善は不備を減らせるが、審査そのものは軽くならない。Cルールベースの自動チェックは定型項目に有効だが、相当性など裁量的な判断には届かない。D生成AI支援は、非定型の長い文書の読み取り・照合・要約・起案が得意で、判断は人のまま。E第三者・自治体の事前確認は、制度変更が大きい。推奨はDを中核に、BとCを組み合わ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1109167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在留審査の判断を支える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審査補助AIの提案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NTTデータ インターン ｜ 公社基-33 ｜ 個人ワーク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46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</a:rPr>
              <a:t>FEISの外側に置き、可否の判断は人が行う。</a:t>
            </a:r>
            <a:endParaRPr lang="en-US" sz="2400" dirty="0"/>
          </a:p>
        </p:txBody>
      </p:sp>
      <p:sp>
        <p:nvSpPr>
          <p:cNvPr id="6" name="cover-card-0"/>
          <p:cNvSpPr/>
          <p:nvPr/>
        </p:nvSpPr>
        <p:spPr>
          <a:xfrm>
            <a:off x="731520" y="4206240"/>
            <a:ext cx="3474720" cy="1554480"/>
          </a:xfrm>
          <a:prstGeom prst="roundRect">
            <a:avLst>
              <a:gd name="adj" fmla="val 5882"/>
            </a:avLst>
          </a:prstGeom>
          <a:solidFill>
            <a:schemeClr val="accent1">
              <a:alpha val="40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誰の業務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754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入国審査官(在留審査)</a:t>
            </a:r>
            <a:endParaRPr lang="en-US" sz="1800" dirty="0"/>
          </a:p>
        </p:txBody>
      </p:sp>
      <p:sp>
        <p:nvSpPr>
          <p:cNvPr id="9" name="cover-card-1"/>
          <p:cNvSpPr/>
          <p:nvPr/>
        </p:nvSpPr>
        <p:spPr>
          <a:xfrm>
            <a:off x="4389120" y="4206240"/>
            <a:ext cx="3474720" cy="1554480"/>
          </a:xfrm>
          <a:prstGeom prst="roundRect">
            <a:avLst>
              <a:gd name="adj" fmla="val 5882"/>
            </a:avLst>
          </a:prstGeom>
          <a:solidFill>
            <a:schemeClr val="accent1">
              <a:alpha val="40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461772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何をするか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4754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申請とFEIS情報の照合、確認観点の提示</a:t>
            </a:r>
            <a:endParaRPr lang="en-US" sz="1800" dirty="0"/>
          </a:p>
        </p:txBody>
      </p:sp>
      <p:sp>
        <p:nvSpPr>
          <p:cNvPr id="12" name="cover-card-2"/>
          <p:cNvSpPr/>
          <p:nvPr/>
        </p:nvSpPr>
        <p:spPr>
          <a:xfrm>
            <a:off x="8046720" y="4206240"/>
            <a:ext cx="3474720" cy="1554480"/>
          </a:xfrm>
          <a:prstGeom prst="roundRect">
            <a:avLst>
              <a:gd name="adj" fmla="val 5882"/>
            </a:avLst>
          </a:prstGeom>
          <a:solidFill>
            <a:schemeClr val="accent1">
              <a:alpha val="40000"/>
            </a:schemeClr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75320" y="4389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どう測るか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4754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審査時間・待ち日数。入管庁に導入し横展開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合谷 悠生 ｜ 2026年10月15日 成果報告会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案件が増え、増員で対応している</a:t>
            </a:r>
            <a:endParaRPr lang="en-US" sz="3200" dirty="0"/>
          </a:p>
        </p:txBody>
      </p:sp>
      <p:sp>
        <p:nvSpPr>
          <p:cNvPr id="4" name="card-1"/>
          <p:cNvSpPr/>
          <p:nvPr/>
        </p:nvSpPr>
        <p:spPr>
          <a:xfrm>
            <a:off x="548640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412.5万人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在留外国人(2025年末)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前年比+9.5%、4年連続で過去最多</a:t>
            </a:r>
            <a:endParaRPr lang="en-US" sz="1300" dirty="0"/>
          </a:p>
        </p:txBody>
      </p:sp>
      <p:sp>
        <p:nvSpPr>
          <p:cNvPr id="8" name="card-2"/>
          <p:cNvSpPr/>
          <p:nvPr/>
        </p:nvSpPr>
        <p:spPr>
          <a:xfrm>
            <a:off x="3346704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3529584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39.0万人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3529584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特定技能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529584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前年比 約+37%(計算値)</a:t>
            </a:r>
            <a:endParaRPr lang="en-US" sz="1300" dirty="0"/>
          </a:p>
        </p:txBody>
      </p:sp>
      <p:sp>
        <p:nvSpPr>
          <p:cNvPr id="12" name="card-3"/>
          <p:cNvSpPr/>
          <p:nvPr/>
        </p:nvSpPr>
        <p:spPr>
          <a:xfrm>
            <a:off x="6144768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6327648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226人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327648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緊急増員(2026年7月)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327648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うち入国審査官176人。年度途中の増員</a:t>
            </a:r>
            <a:endParaRPr lang="en-US" sz="1300" dirty="0"/>
          </a:p>
        </p:txBody>
      </p:sp>
      <p:sp>
        <p:nvSpPr>
          <p:cNvPr id="16" name="card-4"/>
          <p:cNvSpPr/>
          <p:nvPr/>
        </p:nvSpPr>
        <p:spPr>
          <a:xfrm>
            <a:off x="8942832" y="1371600"/>
            <a:ext cx="265176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9125712" y="1554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41.0日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9125712" y="2331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特定技能1号の更新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125712" y="2926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標準は2週間〜1か月。標準を超過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人員を増やして対応しているが、人手に頼る構造は変わらない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申請は4月(就職)、4月・10月(留学)に集中し、その時期に長期化する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特例期間を超えると、銀行口座凍結の恐れなど生活への影響が国会でも指摘されている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処理日数には追加資料の待ちと来庁(告知)の待ちを含み、純粋な審査時間ではない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出典：入管庁の公表資料、法務大臣会見(R8.7.28)、衆院質問主意書(R6.12)。数値は原文で要確認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変更申請で審査期間が長くなっている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2588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58952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読み取り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7589520" y="178308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技人国の変更：41日 → 64日 → 73日(約1.8倍)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留学の変更：28日 → 50日 → 58日(約2倍)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変更の標準処理期間(1〜2か月)を超えている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更新は微増、認定は横ばい。一律の長期化ではなく、</a:t>
            </a:r>
            <a:r>
              <a:rPr lang="en-US" sz="1500" b="1" dirty="0">
                <a:solidFill>
                  <a:schemeClr val="tx1"/>
                </a:solidFill>
              </a:rPr>
              <a:t>変更申請で顕著</a:t>
            </a:r>
            <a:endParaRPr lang="en-US" sz="1500" dirty="0"/>
          </a:p>
        </p:txBody>
      </p:sp>
      <p:sp>
        <p:nvSpPr>
          <p:cNvPr id="7" name="card-5"/>
          <p:cNvSpPr/>
          <p:nvPr/>
        </p:nvSpPr>
        <p:spPr>
          <a:xfrm>
            <a:off x="7589520" y="4526280"/>
            <a:ext cx="4050792" cy="1645920"/>
          </a:xfrm>
          <a:prstGeom prst="roundRect">
            <a:avLst>
              <a:gd name="adj" fmla="val 5556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 txBox="1"/>
          <p:nvPr/>
        </p:nvSpPr>
        <p:spPr>
          <a:xfrm>
            <a:off x="777240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【要】発表前に原本で確認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0" y="4937760"/>
            <a:ext cx="3703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列の対応(認定／更新／変更)は自動抽出の推定。令和5年は3か月分、令和7・8年は7月の単月。更新・変更は告知日が処分日のため、実際の審査期間は短い場合がある。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出典：入管庁 在留審査処理期間(令和8年7月分、令和7年7月分、令和5年度第1四半期)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現状と提案：判断の前段をAIが支える</a:t>
            </a:r>
            <a:endParaRPr lang="en-US" sz="3200" dirty="0"/>
          </a:p>
        </p:txBody>
      </p:sp>
      <p:sp>
        <p:nvSpPr>
          <p:cNvPr id="4" name="flow-0"/>
          <p:cNvSpPr/>
          <p:nvPr/>
        </p:nvSpPr>
        <p:spPr>
          <a:xfrm>
            <a:off x="548640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申請</a:t>
            </a:r>
            <a:endParaRPr lang="en-US" sz="1300" dirty="0"/>
          </a:p>
        </p:txBody>
      </p:sp>
      <p:sp>
        <p:nvSpPr>
          <p:cNvPr id="6" name="flow-arrow-0"/>
          <p:cNvSpPr/>
          <p:nvPr/>
        </p:nvSpPr>
        <p:spPr>
          <a:xfrm>
            <a:off x="2205228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flow-1"/>
          <p:cNvSpPr/>
          <p:nvPr/>
        </p:nvSpPr>
        <p:spPr>
          <a:xfrm>
            <a:off x="2442972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2442972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RASENS／手入力</a:t>
            </a:r>
            <a:endParaRPr lang="en-US" sz="1300" dirty="0"/>
          </a:p>
        </p:txBody>
      </p:sp>
      <p:sp>
        <p:nvSpPr>
          <p:cNvPr id="9" name="flow-arrow-1"/>
          <p:cNvSpPr/>
          <p:nvPr/>
        </p:nvSpPr>
        <p:spPr>
          <a:xfrm>
            <a:off x="4099560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low-2"/>
          <p:cNvSpPr/>
          <p:nvPr/>
        </p:nvSpPr>
        <p:spPr>
          <a:xfrm>
            <a:off x="4337304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4337304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FEIS</a:t>
            </a:r>
            <a:endParaRPr lang="en-US" sz="1300" dirty="0"/>
          </a:p>
        </p:txBody>
      </p:sp>
      <p:sp>
        <p:nvSpPr>
          <p:cNvPr id="12" name="flow-arrow-2"/>
          <p:cNvSpPr/>
          <p:nvPr/>
        </p:nvSpPr>
        <p:spPr>
          <a:xfrm>
            <a:off x="5993892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flow-3"/>
          <p:cNvSpPr/>
          <p:nvPr/>
        </p:nvSpPr>
        <p:spPr>
          <a:xfrm>
            <a:off x="6231636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6231636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端末で整理</a:t>
            </a:r>
            <a:endParaRPr lang="en-US" sz="1300" dirty="0"/>
          </a:p>
        </p:txBody>
      </p:sp>
      <p:sp>
        <p:nvSpPr>
          <p:cNvPr id="15" name="flow-arrow-3"/>
          <p:cNvSpPr/>
          <p:nvPr/>
        </p:nvSpPr>
        <p:spPr>
          <a:xfrm>
            <a:off x="7888224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flow-4"/>
          <p:cNvSpPr/>
          <p:nvPr/>
        </p:nvSpPr>
        <p:spPr>
          <a:xfrm>
            <a:off x="8125968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8125968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審査官の判断</a:t>
            </a:r>
            <a:endParaRPr lang="en-US" sz="1300" dirty="0"/>
          </a:p>
        </p:txBody>
      </p:sp>
      <p:sp>
        <p:nvSpPr>
          <p:cNvPr id="18" name="flow-arrow-4"/>
          <p:cNvSpPr/>
          <p:nvPr/>
        </p:nvSpPr>
        <p:spPr>
          <a:xfrm>
            <a:off x="9782556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flow-5"/>
          <p:cNvSpPr/>
          <p:nvPr/>
        </p:nvSpPr>
        <p:spPr>
          <a:xfrm>
            <a:off x="10020300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10020300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決裁・告知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31636" y="1810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着目：審査官の判断(AIは端末側＝FEISの外側に置く)</a:t>
            </a:r>
            <a:endParaRPr lang="en-US" sz="1300" dirty="0"/>
          </a:p>
        </p:txBody>
      </p:sp>
      <p:sp>
        <p:nvSpPr>
          <p:cNvPr id="22" name="card-6"/>
          <p:cNvSpPr/>
          <p:nvPr/>
        </p:nvSpPr>
        <p:spPr>
          <a:xfrm>
            <a:off x="548640" y="2331720"/>
            <a:ext cx="5440680" cy="3840480"/>
          </a:xfrm>
          <a:prstGeom prst="roundRect">
            <a:avLst>
              <a:gd name="adj" fmla="val 238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 txBox="1"/>
          <p:nvPr/>
        </p:nvSpPr>
        <p:spPr>
          <a:xfrm>
            <a:off x="777240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現状 (As-Is)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301752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案件が増え、審査官の負荷が増している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端末で、FEISとRASENSを見比べられるよう整理済み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その先の判断は、経験に頼る属人的な作業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新人は判断に迷い、熟練度で処理の速さが変わる</a:t>
            </a:r>
            <a:endParaRPr lang="en-US" sz="1800" dirty="0"/>
          </a:p>
        </p:txBody>
      </p:sp>
      <p:sp>
        <p:nvSpPr>
          <p:cNvPr id="25" name="card-7"/>
          <p:cNvSpPr/>
          <p:nvPr/>
        </p:nvSpPr>
        <p:spPr>
          <a:xfrm>
            <a:off x="6199632" y="2331720"/>
            <a:ext cx="5440680" cy="3840480"/>
          </a:xfrm>
          <a:prstGeom prst="roundRect">
            <a:avLst>
              <a:gd name="adj" fmla="val 2381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 txBox="1"/>
          <p:nvPr/>
        </p:nvSpPr>
        <p:spPr>
          <a:xfrm>
            <a:off x="6428232" y="24688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提案 (To-Be)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428232" y="3017520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AIが、違いと確認の観点を根拠付きの表で示す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追加資料の通知文などは、AIが案を作る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最終判断は審査官。判断の水準が揃う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FEISは変更せず、端末側に載せる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出典：3日目の現場社員へのヒアリング。To-Beは提案(仮説)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3つの課題から、審査の判断補助を選んだ</a:t>
            </a:r>
            <a:endParaRPr lang="en-US" sz="3200" dirty="0"/>
          </a:p>
        </p:txBody>
      </p:sp>
      <p:sp>
        <p:nvSpPr>
          <p:cNvPr id="4" name="flow-0"/>
          <p:cNvSpPr/>
          <p:nvPr/>
        </p:nvSpPr>
        <p:spPr>
          <a:xfrm>
            <a:off x="548640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申請</a:t>
            </a:r>
            <a:endParaRPr lang="en-US" sz="1300" dirty="0"/>
          </a:p>
        </p:txBody>
      </p:sp>
      <p:sp>
        <p:nvSpPr>
          <p:cNvPr id="6" name="flow-arrow-0"/>
          <p:cNvSpPr/>
          <p:nvPr/>
        </p:nvSpPr>
        <p:spPr>
          <a:xfrm>
            <a:off x="2205228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badge-0"/>
          <p:cNvSpPr/>
          <p:nvPr/>
        </p:nvSpPr>
        <p:spPr>
          <a:xfrm>
            <a:off x="1894332" y="1005840"/>
            <a:ext cx="384048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1894332" y="1005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(c)</a:t>
            </a:r>
            <a:endParaRPr lang="en-US" sz="1100" dirty="0"/>
          </a:p>
        </p:txBody>
      </p:sp>
      <p:sp>
        <p:nvSpPr>
          <p:cNvPr id="9" name="flow-1"/>
          <p:cNvSpPr/>
          <p:nvPr/>
        </p:nvSpPr>
        <p:spPr>
          <a:xfrm>
            <a:off x="2442972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2442972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RASENS／手入力</a:t>
            </a:r>
            <a:endParaRPr lang="en-US" sz="1300" dirty="0"/>
          </a:p>
        </p:txBody>
      </p:sp>
      <p:sp>
        <p:nvSpPr>
          <p:cNvPr id="11" name="flow-arrow-1"/>
          <p:cNvSpPr/>
          <p:nvPr/>
        </p:nvSpPr>
        <p:spPr>
          <a:xfrm>
            <a:off x="4099560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badge-1"/>
          <p:cNvSpPr/>
          <p:nvPr/>
        </p:nvSpPr>
        <p:spPr>
          <a:xfrm>
            <a:off x="3788664" y="1005840"/>
            <a:ext cx="384048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3788664" y="1005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(a)</a:t>
            </a:r>
            <a:endParaRPr lang="en-US" sz="1100" dirty="0"/>
          </a:p>
        </p:txBody>
      </p:sp>
      <p:sp>
        <p:nvSpPr>
          <p:cNvPr id="14" name="flow-2"/>
          <p:cNvSpPr/>
          <p:nvPr/>
        </p:nvSpPr>
        <p:spPr>
          <a:xfrm>
            <a:off x="4337304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4337304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FEIS</a:t>
            </a:r>
            <a:endParaRPr lang="en-US" sz="1300" dirty="0"/>
          </a:p>
        </p:txBody>
      </p:sp>
      <p:sp>
        <p:nvSpPr>
          <p:cNvPr id="16" name="flow-arrow-2"/>
          <p:cNvSpPr/>
          <p:nvPr/>
        </p:nvSpPr>
        <p:spPr>
          <a:xfrm>
            <a:off x="5993892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flow-3"/>
          <p:cNvSpPr/>
          <p:nvPr/>
        </p:nvSpPr>
        <p:spPr>
          <a:xfrm>
            <a:off x="6231636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 txBox="1"/>
          <p:nvPr/>
        </p:nvSpPr>
        <p:spPr>
          <a:xfrm>
            <a:off x="6231636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端末で整理</a:t>
            </a:r>
            <a:endParaRPr lang="en-US" sz="1300" dirty="0"/>
          </a:p>
        </p:txBody>
      </p:sp>
      <p:sp>
        <p:nvSpPr>
          <p:cNvPr id="19" name="flow-arrow-3"/>
          <p:cNvSpPr/>
          <p:nvPr/>
        </p:nvSpPr>
        <p:spPr>
          <a:xfrm>
            <a:off x="7888224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flow-4"/>
          <p:cNvSpPr/>
          <p:nvPr/>
        </p:nvSpPr>
        <p:spPr>
          <a:xfrm>
            <a:off x="8125968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 txBox="1"/>
          <p:nvPr/>
        </p:nvSpPr>
        <p:spPr>
          <a:xfrm>
            <a:off x="8125968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審査官の判断</a:t>
            </a:r>
            <a:endParaRPr lang="en-US" sz="1300" dirty="0"/>
          </a:p>
        </p:txBody>
      </p:sp>
      <p:sp>
        <p:nvSpPr>
          <p:cNvPr id="22" name="flow-arrow-4"/>
          <p:cNvSpPr/>
          <p:nvPr/>
        </p:nvSpPr>
        <p:spPr>
          <a:xfrm>
            <a:off x="9782556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badge-4"/>
          <p:cNvSpPr/>
          <p:nvPr/>
        </p:nvSpPr>
        <p:spPr>
          <a:xfrm>
            <a:off x="9471660" y="1005840"/>
            <a:ext cx="384048" cy="3474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1"/>
          <p:cNvSpPr txBox="1"/>
          <p:nvPr/>
        </p:nvSpPr>
        <p:spPr>
          <a:xfrm>
            <a:off x="9471660" y="1005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(b)</a:t>
            </a:r>
            <a:endParaRPr lang="en-US" sz="1100" dirty="0"/>
          </a:p>
        </p:txBody>
      </p:sp>
      <p:sp>
        <p:nvSpPr>
          <p:cNvPr id="25" name="flow-5"/>
          <p:cNvSpPr/>
          <p:nvPr/>
        </p:nvSpPr>
        <p:spPr>
          <a:xfrm>
            <a:off x="10020300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 txBox="1"/>
          <p:nvPr/>
        </p:nvSpPr>
        <p:spPr>
          <a:xfrm>
            <a:off x="10020300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決裁・告知</a:t>
            </a:r>
            <a:endParaRPr lang="en-US" sz="1300" dirty="0"/>
          </a:p>
        </p:txBody>
      </p:sp>
      <p:sp>
        <p:nvSpPr>
          <p:cNvPr id="27" name="card-8"/>
          <p:cNvSpPr/>
          <p:nvPr/>
        </p:nvSpPr>
        <p:spPr>
          <a:xfrm>
            <a:off x="548640" y="2103120"/>
            <a:ext cx="361188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5"/>
          <p:cNvSpPr txBox="1"/>
          <p:nvPr/>
        </p:nvSpPr>
        <p:spPr>
          <a:xfrm>
            <a:off x="77724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(a) 紙申請の手入力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27432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手書きが読みにくく、OCRは難しい。NTTも導入できていない【ヒ】</a:t>
            </a:r>
            <a:endParaRPr lang="en-US" sz="1700" dirty="0"/>
          </a:p>
        </p:txBody>
      </p:sp>
      <p:sp>
        <p:nvSpPr>
          <p:cNvPr id="30" name="chip-9"/>
          <p:cNvSpPr/>
          <p:nvPr/>
        </p:nvSpPr>
        <p:spPr>
          <a:xfrm>
            <a:off x="777240" y="4663440"/>
            <a:ext cx="1554480" cy="329184"/>
          </a:xfrm>
          <a:prstGeom prst="roundRect">
            <a:avLst>
              <a:gd name="adj" fmla="val 44444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8"/>
          <p:cNvSpPr txBox="1"/>
          <p:nvPr/>
        </p:nvSpPr>
        <p:spPr>
          <a:xfrm>
            <a:off x="777240" y="4663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優先③ 見送り</a:t>
            </a:r>
            <a:endParaRPr lang="en-US" sz="1200" dirty="0"/>
          </a:p>
        </p:txBody>
      </p:sp>
      <p:sp>
        <p:nvSpPr>
          <p:cNvPr id="32" name="card-10"/>
          <p:cNvSpPr/>
          <p:nvPr/>
        </p:nvSpPr>
        <p:spPr>
          <a:xfrm>
            <a:off x="4297680" y="2103120"/>
            <a:ext cx="3611880" cy="3108960"/>
          </a:xfrm>
          <a:prstGeom prst="roundRect">
            <a:avLst>
              <a:gd name="adj" fmla="val 2941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Text 30"/>
          <p:cNvSpPr txBox="1"/>
          <p:nvPr/>
        </p:nvSpPr>
        <p:spPr>
          <a:xfrm>
            <a:off x="452628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(b) 審査の判断補助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4526280" y="27432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FEIS整理後の審査は属人化が強く、新人は難しい。FEISは他社製のため端末側で実現【ヒ】</a:t>
            </a:r>
            <a:endParaRPr lang="en-US" sz="1700" dirty="0"/>
          </a:p>
        </p:txBody>
      </p:sp>
      <p:sp>
        <p:nvSpPr>
          <p:cNvPr id="35" name="chip-11"/>
          <p:cNvSpPr/>
          <p:nvPr/>
        </p:nvSpPr>
        <p:spPr>
          <a:xfrm>
            <a:off x="4526280" y="4663440"/>
            <a:ext cx="1554480" cy="329184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3"/>
          <p:cNvSpPr txBox="1"/>
          <p:nvPr/>
        </p:nvSpPr>
        <p:spPr>
          <a:xfrm>
            <a:off x="4526280" y="4663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優先① 採用</a:t>
            </a:r>
            <a:endParaRPr lang="en-US" sz="1200" dirty="0"/>
          </a:p>
        </p:txBody>
      </p:sp>
      <p:sp>
        <p:nvSpPr>
          <p:cNvPr id="37" name="card-12"/>
          <p:cNvSpPr/>
          <p:nvPr/>
        </p:nvSpPr>
        <p:spPr>
          <a:xfrm>
            <a:off x="8046720" y="2103120"/>
            <a:ext cx="3611880" cy="310896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8" name="Text 35"/>
          <p:cNvSpPr txBox="1"/>
          <p:nvPr/>
        </p:nvSpPr>
        <p:spPr>
          <a:xfrm>
            <a:off x="827532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(c) 外国人からの問い合わせ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8275320" y="27432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問い合わせが多く、チャットボット案はあるが、優先度が低い【ヒ】</a:t>
            </a:r>
            <a:endParaRPr lang="en-US" sz="1700" dirty="0"/>
          </a:p>
        </p:txBody>
      </p:sp>
      <p:sp>
        <p:nvSpPr>
          <p:cNvPr id="40" name="chip-13"/>
          <p:cNvSpPr/>
          <p:nvPr/>
        </p:nvSpPr>
        <p:spPr>
          <a:xfrm>
            <a:off x="8275320" y="4663440"/>
            <a:ext cx="1554480" cy="329184"/>
          </a:xfrm>
          <a:prstGeom prst="roundRect">
            <a:avLst>
              <a:gd name="adj" fmla="val 44444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8"/>
          <p:cNvSpPr txBox="1"/>
          <p:nvPr/>
        </p:nvSpPr>
        <p:spPr>
          <a:xfrm>
            <a:off x="8275320" y="4663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優先② 副案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審査の中心に効き、FEISを変更せずに実現できる(b)を優先する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出典：3日目のヒアリング。【ヒ】はヒアリングで確認した内容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なぜ審査の判断補助を選んだか</a:t>
            </a:r>
            <a:endParaRPr lang="en-US" sz="3200" dirty="0"/>
          </a:p>
        </p:txBody>
      </p:sp>
      <p:sp>
        <p:nvSpPr>
          <p:cNvPr id="4" name="num-0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371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審査案件がそもそも多い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在留外国人は412.5万人(+9.5%)。226人の増員でも対応が続く【事】</a:t>
            </a:r>
            <a:endParaRPr lang="en-US" sz="1600" dirty="0"/>
          </a:p>
        </p:txBody>
      </p:sp>
      <p:sp>
        <p:nvSpPr>
          <p:cNvPr id="8" name="num-1"/>
          <p:cNvSpPr/>
          <p:nvPr/>
        </p:nvSpPr>
        <p:spPr>
          <a:xfrm>
            <a:off x="548640" y="306324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54864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971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審査官の業務が重い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3474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判断し、書類を出し、回付して決裁へ進むフローを回している【ヒ】</a:t>
            </a:r>
            <a:endParaRPr lang="en-US" sz="1600" dirty="0"/>
          </a:p>
        </p:txBody>
      </p:sp>
      <p:sp>
        <p:nvSpPr>
          <p:cNvPr id="12" name="num-2"/>
          <p:cNvSpPr/>
          <p:nvPr/>
        </p:nvSpPr>
        <p:spPr>
          <a:xfrm>
            <a:off x="548640" y="4663440"/>
            <a:ext cx="640080" cy="6400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54864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4572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判断が経験に頼る属人的な作業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417320" y="50749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新人は判断が難しく、熟練度で差が出る【ヒ】</a:t>
            </a:r>
            <a:endParaRPr lang="en-US" sz="1600" dirty="0"/>
          </a:p>
        </p:txBody>
      </p:sp>
      <p:sp>
        <p:nvSpPr>
          <p:cNvPr id="16" name="card-14"/>
          <p:cNvSpPr/>
          <p:nvPr/>
        </p:nvSpPr>
        <p:spPr>
          <a:xfrm>
            <a:off x="7498080" y="1371600"/>
            <a:ext cx="4142232" cy="4754880"/>
          </a:xfrm>
          <a:prstGeom prst="roundRect">
            <a:avLst>
              <a:gd name="adj" fmla="val 220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77266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公開資料の裏付け【事】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7726680" y="1965960"/>
            <a:ext cx="3703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担当官が</a:t>
            </a:r>
            <a:r>
              <a:rPr lang="en-US" sz="1600" b="1" dirty="0">
                <a:solidFill>
                  <a:schemeClr val="tx1"/>
                </a:solidFill>
              </a:rPr>
              <a:t>独自のDB</a:t>
            </a:r>
            <a:r>
              <a:rPr lang="en-US" sz="1600" dirty="0">
                <a:solidFill>
                  <a:schemeClr val="tx1"/>
                </a:solidFill>
              </a:rPr>
              <a:t>を作っていた(総務省勧告、約2013年)。現場の個別工夫・属人化の傍証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FEISは個人基準のDBで、新機能の付与に時間と費用がかかるという法務省見解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5720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【要】主題は技能実習・留学の受入機関の把握で、審査判断の記述は薄い。資料も古い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出典：3日目のヒアリング、総務省 行政評価・監視 結果報告書(FEIS節)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 hasCustomPrompt="1"/>
          </p:nvPr>
        </p:nvSpPr>
        <p:spPr>
          <a:xfrm>
            <a:off x="521017" y="520700"/>
            <a:ext cx="11091863" cy="82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なぜ私はこの課題を解きたいのか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800" y="6400800"/>
            <a:ext cx="457200" cy="2746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548640" y="17373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/>
              <a:t>新人も熟練者も、それぞれが力を出せる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仕組みをつくりたい。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6616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ja-JP" altLang="en-US" sz="2000" dirty="0"/>
              <a:t>自身もよく海外に行くが、海外での申請に時間がかかるとやはり外国人からしても大変</a:t>
            </a:r>
            <a:endParaRPr lang="en-US" altLang="ja-JP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altLang="ja-JP" sz="2000" dirty="0"/>
              <a:t>AI</a:t>
            </a:r>
            <a:r>
              <a:rPr lang="ja-JP" altLang="en-US" sz="2000" dirty="0"/>
              <a:t>が進歩している今、データの見方や人でなくてもできるところを効率化したい。審査官の高度な知識を存分に発揮できる環境を整えたい。</a:t>
            </a:r>
            <a:endParaRPr lang="en-US" altLang="ja-JP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 err="1"/>
              <a:t>経験の差で成果が変わる状況を、仕組みで支えたい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/>
              <a:t>審査の現場にも、同じ考えを持ち込みたい</a:t>
            </a:r>
          </a:p>
        </p:txBody>
      </p:sp>
      <p:sp>
        <p:nvSpPr>
          <p:cNvPr id="6" name="Text 3"/>
          <p:cNvSpPr txBox="1"/>
          <p:nvPr/>
        </p:nvSpPr>
        <p:spPr>
          <a:xfrm>
            <a:off x="548640" y="5778789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/>
              <a:t>※仮案：自分の言葉に書き換える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NTTデータがやる意義：入管庁のシステムと同じ型の実績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3236976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1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事例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内容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効果・規模(公表値)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状態</a:t>
                      </a:r>
                      <a:endParaRPr lang="en-US" sz="13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入管庁 RASENS(在留申請オンライン)の更改 設計・開発(2024)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審査補助AIの入力元になる、申請の受付システムを設計・開発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契約額 11.385億円(落札決定 令和6年5月9日)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3A"/>
                          </a:solidFill>
                        </a:rPr>
                        <a:t>受注(NTTデータ)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官公庁向け 書類の分類付与・類似ケース検索(2024)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申請書類に分類を付け、過去の類似ケースを検索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効果の数値は非公表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</a:rPr>
                        <a:t>PoC完了(官公庁名・導入有無は非公表)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金融機関向け 稟議書起案支援(2019、京都銀行)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類似性の高い過去案件を検索して表示し、起案を支援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参考稟議書の調査時間 約50%削減(2017年度の実証)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3A"/>
                          </a:solidFill>
                        </a:rPr>
                        <a:t>提供開始を発表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自治体向け 職員支援AIアプリ(2025)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面談を記録し、報告書案と聞き漏れ防止の質問を生成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報告書作成時間 約60%削減(一関市の実証)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7A3A"/>
                          </a:solidFill>
                        </a:rPr>
                        <a:t>2025年10月に提供開始</a:t>
                      </a:r>
                      <a:endParaRPr lang="en-US" sz="12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-15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2"/>
          <p:cNvSpPr txBox="1"/>
          <p:nvPr/>
        </p:nvSpPr>
        <p:spPr>
          <a:xfrm>
            <a:off x="77724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入管庁の実績と、同じ型の技術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2303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入管庁の申請システムを手がけ、書類の分類・類似検索のAIも検証済み。審査補助AIは、その延長にある</a:t>
            </a:r>
            <a:endParaRPr lang="en-US" sz="1500" dirty="0"/>
          </a:p>
        </p:txBody>
      </p:sp>
      <p:sp>
        <p:nvSpPr>
          <p:cNvPr id="8" name="card-16"/>
          <p:cNvSpPr/>
          <p:nvPr/>
        </p:nvSpPr>
        <p:spPr>
          <a:xfrm>
            <a:off x="6199632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Text 5"/>
          <p:cNvSpPr txBox="1"/>
          <p:nvPr/>
        </p:nvSpPr>
        <p:spPr>
          <a:xfrm>
            <a:off x="6428232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確認できていないこと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428232" y="5230368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官公庁向けの分類・検索AIは、官公庁名と導入の有無が非公表。RASENSの運用保守の担当は未確認(社内で要確認)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出典：政府調達 落札者等の公示(法務省 2024/7/11)、Google Cloudブログ 2024/6/27、クラウドWatch 2019/2/28、NTTデータ関西 2025/6/25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導入：入管庁に導入し、横展開を探る</a:t>
            </a:r>
            <a:endParaRPr lang="en-US" sz="3200" dirty="0"/>
          </a:p>
        </p:txBody>
      </p:sp>
      <p:sp>
        <p:nvSpPr>
          <p:cNvPr id="4" name="flow-0"/>
          <p:cNvSpPr/>
          <p:nvPr/>
        </p:nvSpPr>
        <p:spPr>
          <a:xfrm>
            <a:off x="548640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申請</a:t>
            </a:r>
            <a:endParaRPr lang="en-US" sz="1300" dirty="0"/>
          </a:p>
        </p:txBody>
      </p:sp>
      <p:sp>
        <p:nvSpPr>
          <p:cNvPr id="6" name="flow-arrow-0"/>
          <p:cNvSpPr/>
          <p:nvPr/>
        </p:nvSpPr>
        <p:spPr>
          <a:xfrm>
            <a:off x="2205228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flow-1"/>
          <p:cNvSpPr/>
          <p:nvPr/>
        </p:nvSpPr>
        <p:spPr>
          <a:xfrm>
            <a:off x="2442972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2442972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RASENS／手入力</a:t>
            </a:r>
            <a:endParaRPr lang="en-US" sz="1300" dirty="0"/>
          </a:p>
        </p:txBody>
      </p:sp>
      <p:sp>
        <p:nvSpPr>
          <p:cNvPr id="9" name="flow-arrow-1"/>
          <p:cNvSpPr/>
          <p:nvPr/>
        </p:nvSpPr>
        <p:spPr>
          <a:xfrm>
            <a:off x="4099560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flow-2"/>
          <p:cNvSpPr/>
          <p:nvPr/>
        </p:nvSpPr>
        <p:spPr>
          <a:xfrm>
            <a:off x="4337304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4337304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FEIS</a:t>
            </a:r>
            <a:endParaRPr lang="en-US" sz="1300" dirty="0"/>
          </a:p>
        </p:txBody>
      </p:sp>
      <p:sp>
        <p:nvSpPr>
          <p:cNvPr id="12" name="flow-arrow-2"/>
          <p:cNvSpPr/>
          <p:nvPr/>
        </p:nvSpPr>
        <p:spPr>
          <a:xfrm>
            <a:off x="5993892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flow-3"/>
          <p:cNvSpPr/>
          <p:nvPr/>
        </p:nvSpPr>
        <p:spPr>
          <a:xfrm>
            <a:off x="6231636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6231636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端末で整理</a:t>
            </a:r>
            <a:endParaRPr lang="en-US" sz="1300" dirty="0"/>
          </a:p>
        </p:txBody>
      </p:sp>
      <p:sp>
        <p:nvSpPr>
          <p:cNvPr id="15" name="flow-arrow-3"/>
          <p:cNvSpPr/>
          <p:nvPr/>
        </p:nvSpPr>
        <p:spPr>
          <a:xfrm>
            <a:off x="7888224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flow-4"/>
          <p:cNvSpPr/>
          <p:nvPr/>
        </p:nvSpPr>
        <p:spPr>
          <a:xfrm>
            <a:off x="8125968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8125968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審査官の判断</a:t>
            </a:r>
            <a:endParaRPr lang="en-US" sz="1300" dirty="0"/>
          </a:p>
        </p:txBody>
      </p:sp>
      <p:sp>
        <p:nvSpPr>
          <p:cNvPr id="18" name="flow-arrow-4"/>
          <p:cNvSpPr/>
          <p:nvPr/>
        </p:nvSpPr>
        <p:spPr>
          <a:xfrm>
            <a:off x="9782556" y="1371600"/>
            <a:ext cx="201168" cy="182880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flow-5"/>
          <p:cNvSpPr/>
          <p:nvPr/>
        </p:nvSpPr>
        <p:spPr>
          <a:xfrm>
            <a:off x="10020300" y="1188720"/>
            <a:ext cx="1620012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10020300" y="1188720"/>
            <a:ext cx="162001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決裁・告知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231636" y="1810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導入先：端末側(FEISの外側)</a:t>
            </a:r>
            <a:endParaRPr lang="en-US" sz="1300" dirty="0"/>
          </a:p>
        </p:txBody>
      </p:sp>
      <p:sp>
        <p:nvSpPr>
          <p:cNvPr id="22" name="card-35"/>
          <p:cNvSpPr/>
          <p:nvPr/>
        </p:nvSpPr>
        <p:spPr>
          <a:xfrm>
            <a:off x="548640" y="2331720"/>
            <a:ext cx="5440680" cy="2514600"/>
          </a:xfrm>
          <a:prstGeom prst="roundRect">
            <a:avLst>
              <a:gd name="adj" fmla="val 3636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0"/>
          <p:cNvSpPr txBox="1"/>
          <p:nvPr/>
        </p:nvSpPr>
        <p:spPr>
          <a:xfrm>
            <a:off x="777240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① 入管庁に導入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29260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FEISは触らず、端末側に載せる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閉域・セキュアな環境で個人情報を扱う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人が最終判断。まず一部で試し、効果を測る</a:t>
            </a:r>
            <a:endParaRPr lang="en-US" sz="1700" dirty="0"/>
          </a:p>
        </p:txBody>
      </p:sp>
      <p:sp>
        <p:nvSpPr>
          <p:cNvPr id="25" name="card-36"/>
          <p:cNvSpPr/>
          <p:nvPr/>
        </p:nvSpPr>
        <p:spPr>
          <a:xfrm>
            <a:off x="6199632" y="2331720"/>
            <a:ext cx="5440680" cy="25146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3"/>
          <p:cNvSpPr txBox="1"/>
          <p:nvPr/>
        </p:nvSpPr>
        <p:spPr>
          <a:xfrm>
            <a:off x="6428232" y="24505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② 横展開【仮】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28232" y="29260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書類の読み取り・照合・起案が共通する、他の許認可・審査業務へ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審査基準と事例の整理が、共通の基盤になる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導入の追い風【事】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次期FEISの検討が進行中(R8)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マイナンバー連携・公共サービスメッシュで、審査時に参照できる情報が増える見込み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ガバメントAI「源内」(利用可否は要確認)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提案(仮説)。追い風は入管庁・デジタル庁の公表資料より。数値は原文で要確認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サービスのイメージ(B)：業務アプリ風の画面</a:t>
            </a:r>
            <a:endParaRPr lang="en-US" sz="3200" dirty="0"/>
          </a:p>
        </p:txBody>
      </p:sp>
      <p:sp>
        <p:nvSpPr>
          <p:cNvPr id="4" name="win-b"/>
          <p:cNvSpPr/>
          <p:nvPr/>
        </p:nvSpPr>
        <p:spPr>
          <a:xfrm>
            <a:off x="548640" y="1280160"/>
            <a:ext cx="11091672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win-b-title"/>
          <p:cNvSpPr/>
          <p:nvPr/>
        </p:nvSpPr>
        <p:spPr>
          <a:xfrm>
            <a:off x="548640" y="1280160"/>
            <a:ext cx="11091672" cy="329184"/>
          </a:xfrm>
          <a:prstGeom prst="rect">
            <a:avLst/>
          </a:prstGeom>
          <a:solidFill>
            <a:srgbClr val="12263F"/>
          </a:solidFill>
          <a:ln w="6350">
            <a:solidFill>
              <a:srgbClr val="12263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28016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在留審査 補助画面(イメージ)</a:t>
            </a:r>
            <a:endParaRPr lang="en-US" sz="1200" dirty="0"/>
          </a:p>
        </p:txBody>
      </p:sp>
      <p:sp>
        <p:nvSpPr>
          <p:cNvPr id="7" name="sb"/>
          <p:cNvSpPr/>
          <p:nvPr/>
        </p:nvSpPr>
        <p:spPr>
          <a:xfrm>
            <a:off x="548640" y="1609344"/>
            <a:ext cx="2148840" cy="4654296"/>
          </a:xfrm>
          <a:prstGeom prst="rect">
            <a:avLst/>
          </a:prstGeom>
          <a:solidFill>
            <a:srgbClr val="F2F5F9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6858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案件一覧</a:t>
            </a:r>
            <a:endParaRPr lang="en-US" sz="1300" dirty="0"/>
          </a:p>
        </p:txBody>
      </p:sp>
      <p:sp>
        <p:nvSpPr>
          <p:cNvPr id="9" name="sbi-0"/>
          <p:cNvSpPr/>
          <p:nvPr/>
        </p:nvSpPr>
        <p:spPr>
          <a:xfrm>
            <a:off x="640080" y="210312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DCE8F8"/>
          </a:solidFill>
          <a:ln w="19050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731520" y="21945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000-0001 合谷 太郎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4871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技人国／変更</a:t>
            </a:r>
            <a:endParaRPr lang="en-US" sz="1100" dirty="0"/>
          </a:p>
        </p:txBody>
      </p:sp>
      <p:sp>
        <p:nvSpPr>
          <p:cNvPr id="12" name="sbi-1"/>
          <p:cNvSpPr/>
          <p:nvPr/>
        </p:nvSpPr>
        <p:spPr>
          <a:xfrm>
            <a:off x="640080" y="288036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731520" y="29718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000-0002 (架空)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2644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特定技能1号／更新</a:t>
            </a:r>
            <a:endParaRPr lang="en-US" sz="1100" dirty="0"/>
          </a:p>
        </p:txBody>
      </p:sp>
      <p:sp>
        <p:nvSpPr>
          <p:cNvPr id="15" name="sbi-2"/>
          <p:cNvSpPr/>
          <p:nvPr/>
        </p:nvSpPr>
        <p:spPr>
          <a:xfrm>
            <a:off x="640080" y="3657600"/>
            <a:ext cx="19659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1520" y="37490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tx1"/>
                </a:solidFill>
              </a:rPr>
              <a:t>000-0003 (架空)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" y="404164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留学／変更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834640" y="17373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合谷 太郎 ｜ 技術・人文知識・国際業務 への変更</a:t>
            </a:r>
            <a:endParaRPr lang="en-US" sz="1500" dirty="0"/>
          </a:p>
        </p:txBody>
      </p:sp>
      <p:sp>
        <p:nvSpPr>
          <p:cNvPr id="19" name="chip-17"/>
          <p:cNvSpPr/>
          <p:nvPr/>
        </p:nvSpPr>
        <p:spPr>
          <a:xfrm>
            <a:off x="2834640" y="2121408"/>
            <a:ext cx="1371600" cy="274320"/>
          </a:xfrm>
          <a:prstGeom prst="roundRect">
            <a:avLst>
              <a:gd name="adj" fmla="val 53333"/>
            </a:avLst>
          </a:prstGeom>
          <a:solidFill>
            <a:srgbClr val="E8ECF1"/>
          </a:solidFill>
          <a:ln w="635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28346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433"/>
                </a:solidFill>
              </a:rPr>
              <a:t>受付から 40日</a:t>
            </a:r>
            <a:endParaRPr lang="en-US" sz="1200" dirty="0"/>
          </a:p>
        </p:txBody>
      </p:sp>
      <p:sp>
        <p:nvSpPr>
          <p:cNvPr id="21" name="chip-18"/>
          <p:cNvSpPr/>
          <p:nvPr/>
        </p:nvSpPr>
        <p:spPr>
          <a:xfrm>
            <a:off x="4343400" y="2121408"/>
            <a:ext cx="1371600" cy="274320"/>
          </a:xfrm>
          <a:prstGeom prst="roundRect">
            <a:avLst>
              <a:gd name="adj" fmla="val 53333"/>
            </a:avLst>
          </a:prstGeom>
          <a:solidFill>
            <a:srgbClr val="E8ECF1"/>
          </a:solidFill>
          <a:ln w="635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 txBox="1"/>
          <p:nvPr/>
        </p:nvSpPr>
        <p:spPr>
          <a:xfrm>
            <a:off x="434340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433"/>
                </a:solidFill>
              </a:rPr>
              <a:t>オンライン申請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0" y="2560320"/>
          <a:ext cx="5166360" cy="3072384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5FBF"/>
                          </a:solidFill>
                        </a:rPr>
                        <a:t>申請(RASENS)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FEIS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8B57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氏名・生年月日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合谷 太郎／2001-04-02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一致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A100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所属機関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株式会社A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留学時：B大学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A100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職務内容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システム開発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専攻：土木工学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0A100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報酬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月額 ○○万円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E8B57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資格外活動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週28時間以内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</a:rPr>
                        <a:t>●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契約書(PDF)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雇用期間 12か月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申請書は24か月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0"/>
          <p:cNvSpPr txBox="1"/>
          <p:nvPr/>
        </p:nvSpPr>
        <p:spPr>
          <a:xfrm>
            <a:off x="2834640" y="57150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E8B57"/>
                </a:solidFill>
              </a:rPr>
              <a:t>● </a:t>
            </a:r>
            <a:r>
              <a:rPr lang="en-US" sz="1100" dirty="0">
                <a:solidFill>
                  <a:srgbClr val="5F6773"/>
                </a:solidFill>
              </a:rPr>
              <a:t>一致　</a:t>
            </a:r>
            <a:r>
              <a:rPr lang="en-US" sz="1100" dirty="0">
                <a:solidFill>
                  <a:srgbClr val="E0A100"/>
                </a:solidFill>
              </a:rPr>
              <a:t>● </a:t>
            </a:r>
            <a:r>
              <a:rPr lang="en-US" sz="1100" dirty="0">
                <a:solidFill>
                  <a:srgbClr val="5F6773"/>
                </a:solidFill>
              </a:rPr>
              <a:t>要確認　</a:t>
            </a:r>
            <a:r>
              <a:rPr lang="en-US" sz="1100" dirty="0">
                <a:solidFill>
                  <a:srgbClr val="C0392B"/>
                </a:solidFill>
              </a:rPr>
              <a:t>● </a:t>
            </a:r>
            <a:r>
              <a:rPr lang="en-US" sz="1100" dirty="0">
                <a:solidFill>
                  <a:srgbClr val="5F6773"/>
                </a:solidFill>
              </a:rPr>
              <a:t>相違</a:t>
            </a:r>
            <a:endParaRPr lang="en-US" sz="1100" dirty="0"/>
          </a:p>
        </p:txBody>
      </p:sp>
      <p:sp>
        <p:nvSpPr>
          <p:cNvPr id="25" name="ai-panel"/>
          <p:cNvSpPr/>
          <p:nvPr/>
        </p:nvSpPr>
        <p:spPr>
          <a:xfrm>
            <a:off x="8138160" y="1737360"/>
            <a:ext cx="3364992" cy="4389120"/>
          </a:xfrm>
          <a:prstGeom prst="roundRect">
            <a:avLst>
              <a:gd name="adj" fmla="val 1630"/>
            </a:avLst>
          </a:prstGeom>
          <a:solidFill>
            <a:srgbClr val="FFF7F1"/>
          </a:solidFill>
          <a:ln w="1905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2"/>
          <p:cNvSpPr txBox="1"/>
          <p:nvPr/>
        </p:nvSpPr>
        <p:spPr>
          <a:xfrm>
            <a:off x="8275320" y="1810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AIの観点</a:t>
            </a:r>
            <a:endParaRPr lang="en-US" sz="1500" dirty="0"/>
          </a:p>
        </p:txBody>
      </p:sp>
      <p:sp>
        <p:nvSpPr>
          <p:cNvPr id="27" name="aic-0"/>
          <p:cNvSpPr/>
          <p:nvPr/>
        </p:nvSpPr>
        <p:spPr>
          <a:xfrm>
            <a:off x="8247888" y="2176272"/>
            <a:ext cx="3145536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4"/>
          <p:cNvSpPr txBox="1"/>
          <p:nvPr/>
        </p:nvSpPr>
        <p:spPr>
          <a:xfrm>
            <a:off x="8339328" y="2221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</a:rPr>
              <a:t>相違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339328" y="245059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契約書の期間が申請書と不一致。追加資料の要否を確認</a:t>
            </a:r>
            <a:endParaRPr lang="en-US" sz="1100" dirty="0"/>
          </a:p>
        </p:txBody>
      </p:sp>
      <p:sp>
        <p:nvSpPr>
          <p:cNvPr id="30" name="aic-1"/>
          <p:cNvSpPr/>
          <p:nvPr/>
        </p:nvSpPr>
        <p:spPr>
          <a:xfrm>
            <a:off x="8247888" y="2926080"/>
            <a:ext cx="3145536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7"/>
          <p:cNvSpPr txBox="1"/>
          <p:nvPr/>
        </p:nvSpPr>
        <p:spPr>
          <a:xfrm>
            <a:off x="8339328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A5B00"/>
                </a:solidFill>
              </a:rPr>
              <a:t>要確認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8339328" y="320040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専攻と職務の関連性。基準に照らして確認</a:t>
            </a:r>
            <a:endParaRPr lang="en-US" sz="1100" dirty="0"/>
          </a:p>
        </p:txBody>
      </p:sp>
      <p:sp>
        <p:nvSpPr>
          <p:cNvPr id="33" name="aic-2"/>
          <p:cNvSpPr/>
          <p:nvPr/>
        </p:nvSpPr>
        <p:spPr>
          <a:xfrm>
            <a:off x="8247888" y="3675888"/>
            <a:ext cx="3145536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0"/>
          <p:cNvSpPr txBox="1"/>
          <p:nvPr/>
        </p:nvSpPr>
        <p:spPr>
          <a:xfrm>
            <a:off x="8339328" y="3721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A5B00"/>
                </a:solidFill>
              </a:rPr>
              <a:t>要確認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8339328" y="395020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報酬は同種業務の日本人と同等以上か</a:t>
            </a:r>
            <a:endParaRPr lang="en-US" sz="1100" dirty="0"/>
          </a:p>
        </p:txBody>
      </p:sp>
      <p:sp>
        <p:nvSpPr>
          <p:cNvPr id="36" name="sim"/>
          <p:cNvSpPr/>
          <p:nvPr/>
        </p:nvSpPr>
        <p:spPr>
          <a:xfrm>
            <a:off x="8247888" y="4462272"/>
            <a:ext cx="3145536" cy="566928"/>
          </a:xfrm>
          <a:prstGeom prst="roundRect">
            <a:avLst>
              <a:gd name="adj" fmla="val 8065"/>
            </a:avLst>
          </a:prstGeom>
          <a:solidFill>
            <a:srgbClr val="DCE8F8"/>
          </a:solidFill>
          <a:ln w="9525">
            <a:solidFill>
              <a:srgbClr val="1F5FB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3"/>
          <p:cNvSpPr txBox="1"/>
          <p:nvPr/>
        </p:nvSpPr>
        <p:spPr>
          <a:xfrm>
            <a:off x="8339328" y="446227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類似案件 3件を参照 ▶ 根拠リンク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8275320" y="521208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5"/>
                </a:solidFill>
              </a:rPr>
              <a:t>可否は審査官が入力します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※氏名・金額・件数はすべて架空のイメージ。実際の画面の見え方は未確認(提案・仮説)</a:t>
            </a:r>
            <a:endParaRPr lang="en-US" sz="1100" dirty="0"/>
          </a:p>
        </p:txBody>
      </p:sp>
      <p:sp>
        <p:nvSpPr>
          <p:cNvPr id="2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サービスのイメージ(A)：表計算風の画面</a:t>
            </a:r>
            <a:endParaRPr lang="en-US" sz="3200" dirty="0"/>
          </a:p>
        </p:txBody>
      </p:sp>
      <p:sp>
        <p:nvSpPr>
          <p:cNvPr id="4" name="win-a"/>
          <p:cNvSpPr/>
          <p:nvPr/>
        </p:nvSpPr>
        <p:spPr>
          <a:xfrm>
            <a:off x="548640" y="1280160"/>
            <a:ext cx="11091672" cy="4983480"/>
          </a:xfrm>
          <a:prstGeom prst="rect">
            <a:avLst/>
          </a:prstGeom>
          <a:solidFill>
            <a:srgbClr val="FFFFFF"/>
          </a:solidFill>
          <a:ln w="15875">
            <a:solidFill>
              <a:srgbClr val="8A94A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win-a-title"/>
          <p:cNvSpPr/>
          <p:nvPr/>
        </p:nvSpPr>
        <p:spPr>
          <a:xfrm>
            <a:off x="548640" y="1280160"/>
            <a:ext cx="11091672" cy="310896"/>
          </a:xfrm>
          <a:prstGeom prst="rect">
            <a:avLst/>
          </a:prstGeom>
          <a:solidFill>
            <a:srgbClr val="3A4352"/>
          </a:solidFill>
          <a:ln w="6350">
            <a:solidFill>
              <a:srgbClr val="3A435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12801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審査補助 ｜ 在留資格変更許可 ｜ 受付番号 000-0000(架空)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725912" y="12801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—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1000232" y="12801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□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12801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×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640080" y="1737360"/>
          <a:ext cx="10908792" cy="3547872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90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A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B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C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D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E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項目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5FBF"/>
                          </a:solidFill>
                        </a:rPr>
                        <a:t>申請内容(RASENS)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FEISの情報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5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照合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</a:rPr>
                        <a:t>AIの観点・類似案件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氏名・生年月日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合谷 太郎／2001-04-02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同一人物の記録あり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7A3A"/>
                          </a:solidFill>
                        </a:rPr>
                        <a:t>一致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表記ゆれなし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所属機関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株式会社A(情報通信)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留学時：B大学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</a:rPr>
                        <a:t>要確認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転職歴・所属の経緯を確認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職務内容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システム開発(要件定義)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専攻：土木工学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</a:rPr>
                        <a:t>要確認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学歴・専攻と業務の関連性を確認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報酬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月額 ○○万円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A5B00"/>
                          </a:solidFill>
                        </a:rPr>
                        <a:t>要確認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同種業務の日本人と同等以上か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資格外活動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週28時間以内(記録)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F7A3A"/>
                          </a:solidFill>
                        </a:rPr>
                        <a:t>一致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違反歴なし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契約書(PDF)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雇用期間 12か月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91C1C"/>
                          </a:solidFill>
                        </a:rPr>
                        <a:t>相違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申請書(24か月)と不一致。追加資料の要否を確認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F6773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433"/>
                          </a:solidFill>
                        </a:rPr>
                        <a:t>類似案件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F6773"/>
                          </a:solidFill>
                        </a:rPr>
                        <a:t>初回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</a:rPr>
                        <a:t>過去の類似案件 3件を参照(根拠リンク)</a:t>
                      </a:r>
                      <a:endParaRPr lang="en-US" sz="12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win-a-status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solidFill>
            <a:srgbClr val="E8ECF1"/>
          </a:solidFill>
          <a:ln w="6350">
            <a:solidFill>
              <a:srgbClr val="E8ECF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8"/>
          <p:cNvSpPr txBox="1"/>
          <p:nvPr/>
        </p:nvSpPr>
        <p:spPr>
          <a:xfrm>
            <a:off x="68580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AI：要確認 3 ／ 相違 1 ／ 一致 2　｜　可否の判断は審査官が行う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※氏名・金額・件数はすべて架空のイメージ。実際の画面の見え方は未確認(提案・仮説)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864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AIが示すものと、守ること</a:t>
            </a:r>
            <a:endParaRPr lang="en-US" sz="3200" dirty="0"/>
          </a:p>
        </p:txBody>
      </p:sp>
      <p:sp>
        <p:nvSpPr>
          <p:cNvPr id="4" name="card-19"/>
          <p:cNvSpPr/>
          <p:nvPr/>
        </p:nvSpPr>
        <p:spPr>
          <a:xfrm>
            <a:off x="548640" y="1371600"/>
            <a:ext cx="544068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AIの出力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659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照合結果(一致・相違・情報不足)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確認ポイント(上位3つ)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判断の観点(根拠リンク付き)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注意区分(確認不要／要確認／要注意)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chemeClr val="tx1"/>
                </a:solidFill>
              </a:rPr>
              <a:t>追加資料の候補と通知文の案</a:t>
            </a:r>
            <a:endParaRPr lang="en-US" sz="1700" dirty="0"/>
          </a:p>
        </p:txBody>
      </p:sp>
      <p:sp>
        <p:nvSpPr>
          <p:cNvPr id="7" name="card-20"/>
          <p:cNvSpPr/>
          <p:nvPr/>
        </p:nvSpPr>
        <p:spPr>
          <a:xfrm>
            <a:off x="6199632" y="1371600"/>
            <a:ext cx="5440680" cy="3154680"/>
          </a:xfrm>
          <a:prstGeom prst="roundRect">
            <a:avLst>
              <a:gd name="adj" fmla="val 2899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6428232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守ること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196596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許可・不許可を断定・推奨しない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人が最終判断する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根拠リンクを必ず付ける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「要注意」は人が全件確認する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採用・不採用の履歴を残して改善する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閉域環境で個人情報を扱う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作業別のAIの効き方【仮】</a:t>
            </a:r>
            <a:endParaRPr lang="en-US" sz="1600" dirty="0"/>
          </a:p>
        </p:txBody>
      </p:sp>
      <p:sp>
        <p:nvSpPr>
          <p:cNvPr id="11" name="card-21"/>
          <p:cNvSpPr/>
          <p:nvPr/>
        </p:nvSpPr>
        <p:spPr>
          <a:xfrm>
            <a:off x="548640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731520" y="5138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読み取り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効く：要約</a:t>
            </a:r>
            <a:endParaRPr lang="en-US" sz="1400" dirty="0"/>
          </a:p>
        </p:txBody>
      </p:sp>
      <p:sp>
        <p:nvSpPr>
          <p:cNvPr id="14" name="card-22"/>
          <p:cNvSpPr/>
          <p:nvPr/>
        </p:nvSpPr>
        <p:spPr>
          <a:xfrm>
            <a:off x="3346704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 txBox="1"/>
          <p:nvPr/>
        </p:nvSpPr>
        <p:spPr>
          <a:xfrm>
            <a:off x="3529584" y="5138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照合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529584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最も効く：差異抽出</a:t>
            </a:r>
            <a:endParaRPr lang="en-US" sz="1400" dirty="0"/>
          </a:p>
        </p:txBody>
      </p:sp>
      <p:sp>
        <p:nvSpPr>
          <p:cNvPr id="17" name="card-23"/>
          <p:cNvSpPr/>
          <p:nvPr/>
        </p:nvSpPr>
        <p:spPr>
          <a:xfrm>
            <a:off x="6144768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 txBox="1"/>
          <p:nvPr/>
        </p:nvSpPr>
        <p:spPr>
          <a:xfrm>
            <a:off x="6327648" y="5138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判断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327648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効きにくい：質が揃う</a:t>
            </a:r>
            <a:endParaRPr lang="en-US" sz="1400" dirty="0"/>
          </a:p>
        </p:txBody>
      </p:sp>
      <p:sp>
        <p:nvSpPr>
          <p:cNvPr id="20" name="card-24"/>
          <p:cNvSpPr/>
          <p:nvPr/>
        </p:nvSpPr>
        <p:spPr>
          <a:xfrm>
            <a:off x="8942832" y="5029200"/>
            <a:ext cx="265176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8"/>
          <p:cNvSpPr txBox="1"/>
          <p:nvPr/>
        </p:nvSpPr>
        <p:spPr>
          <a:xfrm>
            <a:off x="9125712" y="5138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記録・起案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125712" y="55321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効く：案の作成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提案(仮説)。英国の要約AI(ACS)は深刻な誤りが約9%あったとされる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効果とビジネスモデル：審査の待ち日数を減らす</a:t>
            </a:r>
            <a:endParaRPr lang="en-US" sz="3200" dirty="0"/>
          </a:p>
        </p:txBody>
      </p:sp>
      <p:sp>
        <p:nvSpPr>
          <p:cNvPr id="4" name="bm-0.6"/>
          <p:cNvSpPr/>
          <p:nvPr/>
        </p:nvSpPr>
        <p:spPr>
          <a:xfrm>
            <a:off x="548640" y="128016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NTTデータ</a:t>
            </a:r>
            <a:endParaRPr lang="en-US" sz="1600" dirty="0"/>
          </a:p>
        </p:txBody>
      </p:sp>
      <p:sp>
        <p:nvSpPr>
          <p:cNvPr id="6" name="bm-5"/>
          <p:cNvSpPr/>
          <p:nvPr/>
        </p:nvSpPr>
        <p:spPr>
          <a:xfrm>
            <a:off x="4572000" y="128016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457200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出入国在留管理庁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(審査官)</a:t>
            </a:r>
            <a:endParaRPr lang="en-US" sz="1600" dirty="0"/>
          </a:p>
        </p:txBody>
      </p:sp>
      <p:sp>
        <p:nvSpPr>
          <p:cNvPr id="8" name="bm-9.4"/>
          <p:cNvSpPr/>
          <p:nvPr/>
        </p:nvSpPr>
        <p:spPr>
          <a:xfrm>
            <a:off x="8595360" y="128016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8595360" y="1280160"/>
            <a:ext cx="3017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利用者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(申請者・受入れ機関)</a:t>
            </a:r>
            <a:endParaRPr lang="en-US" sz="1600" dirty="0"/>
          </a:p>
        </p:txBody>
      </p:sp>
      <p:sp>
        <p:nvSpPr>
          <p:cNvPr id="10" name="bm-a1"/>
          <p:cNvSpPr/>
          <p:nvPr/>
        </p:nvSpPr>
        <p:spPr>
          <a:xfrm>
            <a:off x="3611880" y="1353312"/>
            <a:ext cx="914400" cy="256032"/>
          </a:xfrm>
          <a:prstGeom prst="rightArrow">
            <a:avLst/>
          </a:prstGeom>
          <a:solidFill>
            <a:schemeClr val="accent2"/>
          </a:solidFill>
          <a:ln w="3175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bm-a2"/>
          <p:cNvSpPr/>
          <p:nvPr/>
        </p:nvSpPr>
        <p:spPr>
          <a:xfrm>
            <a:off x="3611880" y="1737360"/>
            <a:ext cx="914400" cy="256032"/>
          </a:xfrm>
          <a:prstGeom prst="leftArrow">
            <a:avLst/>
          </a:prstGeom>
          <a:solidFill>
            <a:schemeClr val="accent1"/>
          </a:solidFill>
          <a:ln w="31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bm-a3"/>
          <p:cNvSpPr/>
          <p:nvPr/>
        </p:nvSpPr>
        <p:spPr>
          <a:xfrm>
            <a:off x="7635240" y="1554480"/>
            <a:ext cx="914400" cy="256032"/>
          </a:xfrm>
          <a:prstGeom prst="rightArrow">
            <a:avLst/>
          </a:prstGeom>
          <a:solidFill>
            <a:schemeClr val="accent5"/>
          </a:solidFill>
          <a:ln w="317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338328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審査補助AIを提供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359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1"/>
                </a:solidFill>
              </a:rPr>
              <a:t>契約・予算を支払い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2103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5"/>
                </a:solidFill>
              </a:rPr>
              <a:t>待ち日数の短縮</a:t>
            </a:r>
            <a:endParaRPr lang="en-US" sz="1100" dirty="0"/>
          </a:p>
        </p:txBody>
      </p:sp>
      <p:sp>
        <p:nvSpPr>
          <p:cNvPr id="16" name="card-25"/>
          <p:cNvSpPr/>
          <p:nvPr/>
        </p:nvSpPr>
        <p:spPr>
          <a:xfrm>
            <a:off x="548640" y="2697480"/>
            <a:ext cx="11091672" cy="731520"/>
          </a:xfrm>
          <a:prstGeom prst="roundRect">
            <a:avLst>
              <a:gd name="adj" fmla="val 12500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NTTの取り分(仮説)：</a:t>
            </a:r>
            <a:r>
              <a:rPr lang="en-US" sz="1200" dirty="0">
                <a:solidFill>
                  <a:schemeClr val="tx1"/>
                </a:solidFill>
              </a:rPr>
              <a:t>予算枠 約145億円(R8「外国人材の適正かつ円滑な受入れのための体制整備等」14,540百万円。R7当初9,954、補正8,747)の 3〜8％ ＝ 約4〜12億円。内訳に「在留審査の迅速化に係るシステムの導入」あり。参考：RASENS更改(設計・開発)の受注額11.385億円は、R8の予算枠145億円の約8％。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効果：1件あたりの待ち日数(実データ)に、30%減(仮説)をあてる</a:t>
            </a:r>
            <a:endParaRPr lang="en-US" sz="1700" dirty="0"/>
          </a:p>
        </p:txBody>
      </p:sp>
      <p:sp>
        <p:nvSpPr>
          <p:cNvPr id="19" name="card-26"/>
          <p:cNvSpPr/>
          <p:nvPr/>
        </p:nvSpPr>
        <p:spPr>
          <a:xfrm>
            <a:off x="548640" y="39776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68580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現在(認定・更新・変更の平均)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315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約50日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技人国・特定技能1号、令和8年7月。件数で加重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3154680" y="4389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card-27"/>
          <p:cNvSpPr/>
          <p:nvPr/>
        </p:nvSpPr>
        <p:spPr>
          <a:xfrm>
            <a:off x="3383280" y="39776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2"/>
          <p:cNvSpPr txBox="1"/>
          <p:nvPr/>
        </p:nvSpPr>
        <p:spPr>
          <a:xfrm>
            <a:off x="352044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AI導入後(30%減・仮説)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3520440" y="4315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約35日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3520440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50日 × 0.7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43891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5"/>
                </a:solidFill>
              </a:rPr>
              <a:t>＝</a:t>
            </a:r>
            <a:endParaRPr lang="en-US" sz="1800" dirty="0"/>
          </a:p>
        </p:txBody>
      </p:sp>
      <p:sp>
        <p:nvSpPr>
          <p:cNvPr id="29" name="card-28"/>
          <p:cNvSpPr/>
          <p:nvPr/>
        </p:nvSpPr>
        <p:spPr>
          <a:xfrm>
            <a:off x="6217920" y="3977640"/>
            <a:ext cx="260604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7"/>
          <p:cNvSpPr txBox="1"/>
          <p:nvPr/>
        </p:nvSpPr>
        <p:spPr>
          <a:xfrm>
            <a:off x="6355080" y="40416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1件あたりの短縮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355080" y="4315968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約15日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355080" y="4919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＝ 約2週間</a:t>
            </a:r>
            <a:endParaRPr lang="en-US" sz="1100" dirty="0"/>
          </a:p>
        </p:txBody>
      </p:sp>
      <p:sp>
        <p:nvSpPr>
          <p:cNvPr id="33" name="card-29"/>
          <p:cNvSpPr/>
          <p:nvPr/>
        </p:nvSpPr>
        <p:spPr>
          <a:xfrm>
            <a:off x="9052560" y="3977640"/>
            <a:ext cx="2587752" cy="1325880"/>
          </a:xfrm>
          <a:prstGeom prst="roundRect">
            <a:avLst>
              <a:gd name="adj" fmla="val 6897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1"/>
          <p:cNvSpPr txBox="1"/>
          <p:nvPr/>
        </p:nvSpPr>
        <p:spPr>
          <a:xfrm>
            <a:off x="9189720" y="4041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年間では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189720" y="4315968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年約322万件 × 約15日 ＝ 延べ約4,800万日の待ちを削減。永住は別枠(約7.4万件 × 約93日 ＝ 約690万日)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54132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代表値の出し方(技人国と特定技能1号の平均を、年間件数で加重)：認定 約57日(約68.5万人)／更新 約41日(約185万件)／変更 約66日(約69万件) → 約50日。永住は約310日(約7.4万件)で別枠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89788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chemeClr val="accent5"/>
                </a:solidFill>
              </a:rPr>
              <a:t>件数：認定は2025年の交付人員、更新・変更・永住は2026年7月×12の概算。資格外活動・再入国・資格取得は、簡易な手続きで日数データもないため除く。日数は待ちを含む平均で、審査官の作業時間ではない。30%は仮説。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出典：入管庁 在留審査処理期間(R8.7)、出入国管理統計 表06(2026年7月)・認定証明書交付人員(2025年)、法務省 R8予算資料(p.7)。比率・削減率は仮説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補足：審査待ちの案件数で見る(期間更新の例)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25880"/>
          <a:ext cx="51206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943600" y="1371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考え方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783080"/>
            <a:ext cx="5669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審査待ちの件数 ≒ 月の新受 × 処理日数 ÷ 30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更新：136,910件 × 約41日 ÷ 30 ≒ 18.7万件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実際の旧受は198,026件 → ほぼ一致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待ち日数が30%減ると、待ちの件数も約30%減る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約19.8万件 → 約13.9万件(約5.9万件の減少)</a:t>
            </a:r>
            <a:endParaRPr lang="en-US" sz="1500" dirty="0"/>
          </a:p>
        </p:txBody>
      </p:sp>
      <p:sp>
        <p:nvSpPr>
          <p:cNvPr id="7" name="card-32"/>
          <p:cNvSpPr/>
          <p:nvPr/>
        </p:nvSpPr>
        <p:spPr>
          <a:xfrm>
            <a:off x="5943600" y="4434840"/>
            <a:ext cx="5696712" cy="868680"/>
          </a:xfrm>
          <a:prstGeom prst="roundRect">
            <a:avLst>
              <a:gd name="adj" fmla="val 10526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4"/>
          <p:cNvSpPr txBox="1"/>
          <p:nvPr/>
        </p:nvSpPr>
        <p:spPr>
          <a:xfrm>
            <a:off x="6126480" y="448056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注意：永住は新受が月11,314件に対し、既済が6,136件。件数が処理能力を超える手続は、日数を30%縮めても、滞留は自動では解消しない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旧受は「前月までに受理して未処理の件数」で、通常の処理中の案件を含む。滞留(遅れ)だけの数字ではない。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出典：出入国管理統計 表06(2026年7月、期間更新・全国総数)、入管庁 在留審査処理期間(R8.7)。削減率30%は仮説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補足：費用対効果の試算(感度分析)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削減額 ＝ 担当者数 × 人件費 × 削減率　　純効果 ＝ 削減額 − AIの費用</a:t>
            </a:r>
            <a:endParaRPr lang="en-US" sz="1800" dirty="0"/>
          </a:p>
        </p:txBody>
      </p:sp>
      <p:sp>
        <p:nvSpPr>
          <p:cNvPr id="5" name="card-33"/>
          <p:cNvSpPr/>
          <p:nvPr/>
        </p:nvSpPr>
        <p:spPr>
          <a:xfrm>
            <a:off x="548640" y="1828800"/>
            <a:ext cx="36118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 txBox="1"/>
          <p:nvPr/>
        </p:nvSpPr>
        <p:spPr>
          <a:xfrm>
            <a:off x="73152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担当者数(仮)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約1,200人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入国審査官3,988人 × 在留審査30%</a:t>
            </a:r>
            <a:endParaRPr lang="en-US" sz="1200" dirty="0"/>
          </a:p>
        </p:txBody>
      </p:sp>
      <p:sp>
        <p:nvSpPr>
          <p:cNvPr id="9" name="card-34"/>
          <p:cNvSpPr/>
          <p:nvPr/>
        </p:nvSpPr>
        <p:spPr>
          <a:xfrm>
            <a:off x="4297680" y="1828800"/>
            <a:ext cx="36118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448056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人件費(仮)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700万円/人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年間の概算</a:t>
            </a:r>
            <a:endParaRPr lang="en-US" sz="1200" dirty="0"/>
          </a:p>
        </p:txBody>
      </p:sp>
      <p:sp>
        <p:nvSpPr>
          <p:cNvPr id="13" name="card-35"/>
          <p:cNvSpPr/>
          <p:nvPr/>
        </p:nvSpPr>
        <p:spPr>
          <a:xfrm>
            <a:off x="8046720" y="1828800"/>
            <a:ext cx="361188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8229600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AIの費用(仮)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1671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約4〜12億円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2697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予算枠145億円の3〜8%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48640" y="3291840"/>
          <a:ext cx="11091672" cy="17830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削減率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削減額(年)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純効果：費用 4億円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純効果：費用 8億円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純効果：費用 12億円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10%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8.4億円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+4.4億円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+0.4億円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-3.6億円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20%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16.8億円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+12.8億円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+8.8億円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+4.8億円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30%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433"/>
                          </a:solidFill>
                        </a:rPr>
                        <a:t>25.2億円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+21.2億円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+17.2億円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433"/>
                          </a:solidFill>
                        </a:rPr>
                        <a:t>+13.2億円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費用が8億円なら、削減率10%付近が分岐点。20%で、削減額は費用の約2倍になる。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注意：待ち日数の短縮と、審査官の作業時間の削減は同じではない。削減率は作業時間に対するもので、現場の聞き取りで検証する。担当者数・人件費・費用は仮置き。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担当者数＝入管庁採用案内(入国審査官3,988人)×仮の割合。費用＝予算(R8)×仮の割合。すべて仮説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ネクストアクション：まず確かめ、実績を作って横へ広げる</a:t>
            </a:r>
            <a:endParaRPr lang="en-US" sz="3200" dirty="0"/>
          </a:p>
        </p:txBody>
      </p:sp>
      <p:sp>
        <p:nvSpPr>
          <p:cNvPr id="4" name="card-30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いま確かめること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4983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どの作業に最も時間がかかるかを内訳で確認(読み取り／照合／判断／記録)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年間の審査件数(統計表06)と、待ち日数の内訳(審査・資料待ち・来庁待ち)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閉域環境の要件と、FEIS・RASENSベンダーとの連携条件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1局・1資格で、過去の終了案件を使ったPoC(業務に影響なし)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効果の仮置き(30%減)を実測に置き換える</a:t>
            </a:r>
            <a:endParaRPr lang="en-US" sz="1600" dirty="0"/>
          </a:p>
        </p:txBody>
      </p:sp>
      <p:sp>
        <p:nvSpPr>
          <p:cNvPr id="7" name="card-31"/>
          <p:cNvSpPr/>
          <p:nvPr/>
        </p:nvSpPr>
        <p:spPr>
          <a:xfrm>
            <a:off x="6199632" y="1325880"/>
            <a:ext cx="5440680" cy="4846320"/>
          </a:xfrm>
          <a:prstGeom prst="roundRect">
            <a:avLst>
              <a:gd name="adj" fmla="val 1887"/>
            </a:avLst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6428232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実績ができたら：横展開(仮説)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入管庁内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28232" y="22860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他の在留資格(特定技能、永住、認定)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難民認定、退去強制手続の書類確認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28232" y="3383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他の官庁・自治体(同じ型の業務)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28232" y="3703320"/>
            <a:ext cx="4983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補助金・許認可の申請審査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福祉・社会保険などの申請の書類確認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共通点：申請書類を読み、基準と過去事例に照らして職員が判断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5486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横展開できれば「NTTデータがやる意義」の裏づけになる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横展開は仮説。各業務の実態・システム・体制は別途確認が必要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4294967295" hasCustomPrompt="1"/>
          </p:nvPr>
        </p:nvSpPr>
        <p:spPr>
          <a:xfrm>
            <a:off x="0" y="274638"/>
            <a:ext cx="11090275" cy="82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/>
              <a:t>補足資料(質疑用)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4800" y="6400800"/>
            <a:ext cx="457200" cy="2746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73152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A1 FEISとは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A2 突合と、初申請の情報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A3 総務省勧告で指摘された問題点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A4 政策・制度背景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A5 解決策の比較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A6 想定質問と答えの方向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A7 要確認リスト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accent4"/>
                </a:solidFill>
              </a:rPr>
              <a:t>A8 出典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A1 FEISとは：出入国在留管理の統合DB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7160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出入国・在留管理の各種DBを統合した統合サーバシステム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平成13年度から3か年計画で、昭和59年運用の既存システムのDBを統合・一元化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単一端末から全システムのデータを検索でき、入国から出国までの記録が一元化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連携先：事前旅客情報センター(財務省と共同)、査証発給システム(外務省)、府省共通ポータル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共通</a:t>
            </a:r>
            <a:endParaRPr lang="en-US" sz="1600" dirty="0"/>
          </a:p>
        </p:txBody>
      </p:sp>
      <p:sp>
        <p:nvSpPr>
          <p:cNvPr id="6" name="card-32"/>
          <p:cNvSpPr/>
          <p:nvPr/>
        </p:nvSpPr>
        <p:spPr>
          <a:xfrm>
            <a:off x="6400800" y="1783080"/>
            <a:ext cx="521208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4"/>
          <p:cNvSpPr txBox="1"/>
          <p:nvPr/>
        </p:nvSpPr>
        <p:spPr>
          <a:xfrm>
            <a:off x="6583680" y="1783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外国人管理情報DB</a:t>
            </a:r>
            <a:endParaRPr lang="en-US" sz="1500" dirty="0"/>
          </a:p>
        </p:txBody>
      </p:sp>
      <p:sp>
        <p:nvSpPr>
          <p:cNvPr id="8" name="card-33"/>
          <p:cNvSpPr/>
          <p:nvPr/>
        </p:nvSpPr>
        <p:spPr>
          <a:xfrm>
            <a:off x="6400800" y="2331720"/>
            <a:ext cx="521208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6583680" y="23317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所属機関情報DB</a:t>
            </a:r>
            <a:endParaRPr lang="en-US" sz="1500" dirty="0"/>
          </a:p>
        </p:txBody>
      </p:sp>
      <p:sp>
        <p:nvSpPr>
          <p:cNvPr id="10" name="card-34"/>
          <p:cNvSpPr/>
          <p:nvPr/>
        </p:nvSpPr>
        <p:spPr>
          <a:xfrm>
            <a:off x="6400800" y="2880360"/>
            <a:ext cx="5212080" cy="4572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6583680" y="2880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イメージ情報DB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個別</a:t>
            </a:r>
            <a:endParaRPr lang="en-US" sz="1600" dirty="0"/>
          </a:p>
        </p:txBody>
      </p:sp>
      <p:sp>
        <p:nvSpPr>
          <p:cNvPr id="13" name="card-35"/>
          <p:cNvSpPr/>
          <p:nvPr/>
        </p:nvSpPr>
        <p:spPr>
          <a:xfrm>
            <a:off x="6400800" y="4023360"/>
            <a:ext cx="521208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6583680" y="40233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査証情報DB</a:t>
            </a:r>
            <a:endParaRPr lang="en-US" sz="1400" dirty="0"/>
          </a:p>
        </p:txBody>
      </p:sp>
      <p:sp>
        <p:nvSpPr>
          <p:cNvPr id="15" name="card-36"/>
          <p:cNvSpPr/>
          <p:nvPr/>
        </p:nvSpPr>
        <p:spPr>
          <a:xfrm>
            <a:off x="6400800" y="4480560"/>
            <a:ext cx="521208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3"/>
          <p:cNvSpPr txBox="1"/>
          <p:nvPr/>
        </p:nvSpPr>
        <p:spPr>
          <a:xfrm>
            <a:off x="6583680" y="44805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外国人BL(ブラックリスト)基本情報DB</a:t>
            </a:r>
            <a:endParaRPr lang="en-US" sz="1400" dirty="0"/>
          </a:p>
        </p:txBody>
      </p:sp>
      <p:sp>
        <p:nvSpPr>
          <p:cNvPr id="17" name="card-37"/>
          <p:cNvSpPr/>
          <p:nvPr/>
        </p:nvSpPr>
        <p:spPr>
          <a:xfrm>
            <a:off x="6400800" y="4937760"/>
            <a:ext cx="521208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 txBox="1"/>
          <p:nvPr/>
        </p:nvSpPr>
        <p:spPr>
          <a:xfrm>
            <a:off x="6583680" y="49377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出入国記録情報DB</a:t>
            </a:r>
            <a:endParaRPr lang="en-US" sz="1400" dirty="0"/>
          </a:p>
        </p:txBody>
      </p:sp>
      <p:sp>
        <p:nvSpPr>
          <p:cNvPr id="19" name="card-38"/>
          <p:cNvSpPr/>
          <p:nvPr/>
        </p:nvSpPr>
        <p:spPr>
          <a:xfrm>
            <a:off x="6400800" y="5394960"/>
            <a:ext cx="521208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 txBox="1"/>
          <p:nvPr/>
        </p:nvSpPr>
        <p:spPr>
          <a:xfrm>
            <a:off x="6583680" y="53949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外国人登録履歴情報DB</a:t>
            </a:r>
            <a:endParaRPr lang="en-US" sz="1400" dirty="0"/>
          </a:p>
        </p:txBody>
      </p:sp>
      <p:sp>
        <p:nvSpPr>
          <p:cNvPr id="21" name="card-39"/>
          <p:cNvSpPr/>
          <p:nvPr/>
        </p:nvSpPr>
        <p:spPr>
          <a:xfrm>
            <a:off x="6400800" y="5852160"/>
            <a:ext cx="521208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 txBox="1"/>
          <p:nvPr/>
        </p:nvSpPr>
        <p:spPr>
          <a:xfrm>
            <a:off x="6583680" y="585216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在留認定審査情報DB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25780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外国人管理情報DBの項目：氏名・性別・国籍・生年月日・旅券番号・入国年月日・居住地・在留目的・在留資格期間・資格外活動・所属機関番号など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出典：総務省 行政評価・監視 結果報告書(約2013年、p.339〜340)。現行の構成は要確認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A2 突合と、初申請の情報</a:t>
            </a:r>
            <a:endParaRPr lang="en-US" sz="3200" dirty="0"/>
          </a:p>
        </p:txBody>
      </p:sp>
      <p:sp>
        <p:nvSpPr>
          <p:cNvPr id="4" name="card-40"/>
          <p:cNvSpPr/>
          <p:nvPr/>
        </p:nvSpPr>
        <p:spPr>
          <a:xfrm>
            <a:off x="548640" y="1371600"/>
            <a:ext cx="54406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突合とは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9659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照らし合わせて、一致・矛盾・該当の有無を確認すること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申請書の本人情報を、FEISのBL基本情報DBなどと照合する【事】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上陸拒否事由や違反歴に該当しないかを確認する(照合キーは推定)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突合は審査の一部。基準適合性・相当性の判断は別</a:t>
            </a:r>
            <a:endParaRPr lang="en-US" sz="1600" dirty="0"/>
          </a:p>
        </p:txBody>
      </p:sp>
      <p:sp>
        <p:nvSpPr>
          <p:cNvPr id="7" name="card-41"/>
          <p:cNvSpPr/>
          <p:nvPr/>
        </p:nvSpPr>
        <p:spPr>
          <a:xfrm>
            <a:off x="6199632" y="1371600"/>
            <a:ext cx="54406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6428232" y="1508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初申請の人の情報【仮】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28232" y="19659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海外在住の初申請</a:t>
            </a:r>
            <a:r>
              <a:rPr lang="en-US" sz="1600" dirty="0">
                <a:solidFill>
                  <a:schemeClr val="tx1"/>
                </a:solidFill>
              </a:rPr>
              <a:t>：本人の履歴はほぼ無く、BLに該当しないかと所属機関情報が中心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日本在住の変更申請</a:t>
            </a:r>
            <a:r>
              <a:rPr lang="en-US" sz="1600" dirty="0">
                <a:solidFill>
                  <a:schemeClr val="tx1"/>
                </a:solidFill>
              </a:rPr>
              <a:t>：出入国記録・管理情報などの履歴がある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→ 履歴が薄い初申請ほど、書類の読み取り・照合の負担が大きい</a:t>
            </a:r>
            <a:endParaRPr lang="en-US" sz="1600" dirty="0"/>
          </a:p>
        </p:txBody>
      </p:sp>
      <p:sp>
        <p:nvSpPr>
          <p:cNvPr id="10" name="card-42"/>
          <p:cNvSpPr/>
          <p:nvPr/>
        </p:nvSpPr>
        <p:spPr>
          <a:xfrm>
            <a:off x="548640" y="4892040"/>
            <a:ext cx="11091672" cy="1280160"/>
          </a:xfrm>
          <a:prstGeom prst="roundRect">
            <a:avLst>
              <a:gd name="adj" fmla="val 7143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822960" y="48920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突合はFEIS側で自動化済みの可能性が高い。AIの領域は、その先の「基準適合性・相当性」を判断する人の補助。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出典：総務省報告書(約2013年)、一般的な制度構造からの推定。【要】現行の運用は社員さんに確認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A3 総務省勧告で指摘された問題点</a:t>
            </a:r>
            <a:endParaRPr lang="en-US" sz="3200" dirty="0"/>
          </a:p>
        </p:txBody>
      </p:sp>
      <p:sp>
        <p:nvSpPr>
          <p:cNvPr id="4" name="card-43"/>
          <p:cNvSpPr/>
          <p:nvPr/>
        </p:nvSpPr>
        <p:spPr>
          <a:xfrm>
            <a:off x="54864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2"/>
          <p:cNvSpPr txBox="1"/>
          <p:nvPr/>
        </p:nvSpPr>
        <p:spPr>
          <a:xfrm>
            <a:off x="77724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FEISの把握機能の限界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現在の受入団体リストを作ると、過去の実績も履歴として全部出力される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監理団体と実習実施機関のデータが連携されていない</a:t>
            </a:r>
            <a:endParaRPr lang="en-US" sz="1600" dirty="0"/>
          </a:p>
        </p:txBody>
      </p:sp>
      <p:sp>
        <p:nvSpPr>
          <p:cNvPr id="7" name="card-44"/>
          <p:cNvSpPr/>
          <p:nvPr/>
        </p:nvSpPr>
        <p:spPr>
          <a:xfrm>
            <a:off x="429768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452628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現場の工夫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201168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地方局がFEISを網羅的把握に活用せず、担当官が</a:t>
            </a:r>
            <a:r>
              <a:rPr lang="en-US" sz="1600" b="1" dirty="0">
                <a:solidFill>
                  <a:schemeClr val="tx1"/>
                </a:solidFill>
              </a:rPr>
              <a:t>独自DB</a:t>
            </a:r>
            <a:r>
              <a:rPr lang="en-US" sz="1600" dirty="0">
                <a:solidFill>
                  <a:schemeClr val="tx1"/>
                </a:solidFill>
              </a:rPr>
              <a:t>を構築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局ごとに不統一で、最新情報が反映されず精度が不十分</a:t>
            </a:r>
            <a:endParaRPr lang="en-US" sz="1600" dirty="0"/>
          </a:p>
        </p:txBody>
      </p:sp>
      <p:sp>
        <p:nvSpPr>
          <p:cNvPr id="10" name="card-45"/>
          <p:cNvSpPr/>
          <p:nvPr/>
        </p:nvSpPr>
        <p:spPr>
          <a:xfrm>
            <a:off x="8046720" y="1371600"/>
            <a:ext cx="3611880" cy="3840480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 txBox="1"/>
          <p:nvPr/>
        </p:nvSpPr>
        <p:spPr>
          <a:xfrm>
            <a:off x="82753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法務省の見解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01168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FEISは個人基準で、団体・機関単位の最新データは把握できない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新機能の付与は、時間と費用がかかり、必要性が相当高くない限り難しい</a:t>
            </a:r>
            <a:endParaRPr lang="en-US" sz="1600" dirty="0"/>
          </a:p>
        </p:txBody>
      </p:sp>
      <p:sp>
        <p:nvSpPr>
          <p:cNvPr id="13" name="card-46"/>
          <p:cNvSpPr/>
          <p:nvPr/>
        </p:nvSpPr>
        <p:spPr>
          <a:xfrm>
            <a:off x="548640" y="539496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777240" y="53949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【要】約2013年の資料。主題は技能実習・留学の受入機関の把握で、審査判断の記述は薄い(その節の範囲)。引用時は原文でページを確認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出典：総務省 行政評価・監視 結果報告書(p.341〜344)。要約ツール経由の抽出のため要確認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A4 政策・制度背景</a:t>
            </a:r>
            <a:endParaRPr lang="en-US" sz="3200" dirty="0"/>
          </a:p>
        </p:txBody>
      </p:sp>
      <p:graphicFrame>
        <p:nvGraphicFramePr>
          <p:cNvPr id="19" name="polic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690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項目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内容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第2次出入国在留管理基本計画(2026/7/31)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「在留審査業務の効率化」を明記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懇談会報告書(R7.12)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AIの明示は難民審査(p.25–26)のみ。高度専門職の審査期間の大幅長期化を指摘(p.14。全資格ではない)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総合的対応策の進捗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原則オンライン化R9年度。公共サービスメッシュR8.1。入管分野の情報連携は2027年3月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入管庁のAI関連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SNS自動巡回AIを検討(2026/5、取締側)。審査側へのAI本格導入は公開情報では確認できず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ガバメントAI「源内」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約10万人が利用可、約18万人を目標。本格利用はR9年度【要】利用可否は確認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経団連の提言(2026/7)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「適正者は迅速化・自動化、高リスク者は重点審査」とAI活用を提言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出典：入管庁、内閣官房、デジタル庁、経団連の公表資料。数値・ページは原文で要確認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A5 解決策の比較</a:t>
            </a:r>
            <a:endParaRPr lang="en-US" sz="3200" dirty="0"/>
          </a:p>
        </p:txBody>
      </p:sp>
      <p:graphicFrame>
        <p:nvGraphicFramePr>
          <p:cNvPr id="20" name="al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747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案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長所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短所・不足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増員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確実に処理能力が増える(226人増員を実施)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採用・育成に時間とコスト。人手依存の構造は変わらない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 申請側の改善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不備・追完を減らせる可能性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受付は楽になるが、審査そのものは軽くならない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 ルールベースの自動チェック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定型項目に有効。説明しやすい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裁量的な判断(相当性)には届かない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 生成AI支援(採用)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非定型の長い文書の読み取り・照合・要約・起案が得意。判断は人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誤出力リスク。根拠表示・人の確認・閉域環境が必須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 第三者・自治体の事前確認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審査前に不備を減らせる可能性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制度変更が大きく、責任分界が難しい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card-47"/>
          <p:cNvSpPr/>
          <p:nvPr/>
        </p:nvSpPr>
        <p:spPr>
          <a:xfrm>
            <a:off x="548640" y="5074920"/>
            <a:ext cx="11091672" cy="1143000"/>
          </a:xfrm>
          <a:prstGeom prst="roundRect">
            <a:avLst>
              <a:gd name="adj" fmla="val 8000"/>
            </a:avLst>
          </a:prstGeom>
          <a:solidFill>
            <a:schemeClr val="accent6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2"/>
          <p:cNvSpPr txBox="1"/>
          <p:nvPr/>
        </p:nvSpPr>
        <p:spPr>
          <a:xfrm>
            <a:off x="822960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【仮】推奨：Dを中核に、BとCを組み合わせる。特に「書類間の整合性チェック」「案件のトリアージ」「基準・事例の検索と新人支援」「通知文の起案」。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提案(仮説)。NTTデータの強み(大規模・高セキュリティの実績、閉域の生成AI環境)は要確認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A6 想定質問と答えの方向</a:t>
            </a:r>
            <a:endParaRPr lang="en-US" sz="3200" dirty="0"/>
          </a:p>
        </p:txBody>
      </p:sp>
      <p:graphicFrame>
        <p:nvGraphicFramePr>
          <p:cNvPr id="21" name="q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2976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質問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答えの方向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誤判断のリスクは？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人が最終判断。AIは断定せず根拠リンクを付ける。「要注意」は全件確認。英国の約9%の事例を理解したうえでの設計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公平性・説明責任は？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AIは可否を出さず、根拠付きの情報提示にとどめる。判断の根拠は審査官が説明できる形で残る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なぜNTTデータか？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行政の大規模システムの実績、閉域の生成AI環境、データ連携との一体設計(仮説・要確認)。外付けのため既存ベンダーと競合しにくい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効果の数字は本当か？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時間内訳は仮置き。事実・ヒアリング値・仮置きを区別し、10/20/30%の感度分析で幅を示す。ヒアリングで実測値に差し替える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なぜ手入力(OCR)ではないのか？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手書きが読みにくくOCRは難しい(ヒアリング)。効果の大きい判断補助を優先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採算は？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類似改修は約10億円規模。外付けAIは小さい規模の可能性。回収期間は対象人数で変わる(全国の担当者数は要確認)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答えの方向は仮説。発表前に、ヒアリングで確認できた内容で更新する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A7 要確認リスト(発表前)</a:t>
            </a:r>
            <a:endParaRPr lang="en-US" sz="3200" dirty="0"/>
          </a:p>
        </p:txBody>
      </p:sp>
      <p:sp>
        <p:nvSpPr>
          <p:cNvPr id="3" name="card-48"/>
          <p:cNvSpPr/>
          <p:nvPr/>
        </p:nvSpPr>
        <p:spPr>
          <a:xfrm>
            <a:off x="548640" y="137160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1371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ベンダー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3716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RASENSの更改(設計・開発)はNTTデータが11.385億円で落札(法務省の落札者等の公示、R6.5.9)。運用保守の担当は未確認</a:t>
            </a:r>
            <a:endParaRPr lang="en-US" sz="1400" dirty="0"/>
          </a:p>
        </p:txBody>
      </p:sp>
      <p:sp>
        <p:nvSpPr>
          <p:cNvPr id="6" name="card-49"/>
          <p:cNvSpPr/>
          <p:nvPr/>
        </p:nvSpPr>
        <p:spPr>
          <a:xfrm>
            <a:off x="548640" y="2322576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32257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審査期間の表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322576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認定／更新／変更の列対応、期間の違い(令和5年は3か月、令和7・8年は単月)を原本PDFで確認</a:t>
            </a:r>
            <a:endParaRPr lang="en-US" sz="1400" dirty="0"/>
          </a:p>
        </p:txBody>
      </p:sp>
      <p:sp>
        <p:nvSpPr>
          <p:cNvPr id="9" name="card-50"/>
          <p:cNvSpPr/>
          <p:nvPr/>
        </p:nvSpPr>
        <p:spPr>
          <a:xfrm>
            <a:off x="548640" y="3273552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32735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FEISの現状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3273552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資料は約2013年。現行のDB構成、審査官の判断プロセス、端末画面(非公開のため社員さんに確認)</a:t>
            </a:r>
            <a:endParaRPr lang="en-US" sz="1400" dirty="0"/>
          </a:p>
        </p:txBody>
      </p:sp>
      <p:sp>
        <p:nvSpPr>
          <p:cNvPr id="12" name="card-51"/>
          <p:cNvSpPr/>
          <p:nvPr/>
        </p:nvSpPr>
        <p:spPr>
          <a:xfrm>
            <a:off x="548640" y="4224528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422452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予算・人数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422452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209億円が入管庁の総予算か。全国の審査担当者数、人件費単価(人事院)、年間の審査件数(e-Stat)</a:t>
            </a:r>
            <a:endParaRPr lang="en-US" sz="1400" dirty="0"/>
          </a:p>
        </p:txBody>
      </p:sp>
      <p:sp>
        <p:nvSpPr>
          <p:cNvPr id="15" name="card-52"/>
          <p:cNvSpPr/>
          <p:nvPr/>
        </p:nvSpPr>
        <p:spPr>
          <a:xfrm>
            <a:off x="548640" y="5175504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51755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引用の確かさ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5175504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報告書のページ番号は推定(要約ツール経由)。横須賀市の事例も原文未確認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A8 出典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総務省 行政評価・監視 結果報告書(FEIS)：soumu.go.jp/main_content/000219633.pdf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入管庁 新オンラインシステム(2026/1/5)：moj.go.jp/isa/11_00064.html／操作マニュアル：moj.go.jp/isa/content/001452664.pdf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令和8年度 FEIS調査・構築検討支援業務 意見招請：moj.go.jp/isa/content/001451953.pdf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行政事業レビューシート(出入国審査システムの維持・管理)：moj.go.jp/content/001380212.pdf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在留審査処理期間：moj.go.jp/isa/applications/resources/nyuukokukanri07_00140.html（令和8年7月 001470530.pdf／令和7年7月 001445631.pdf／令和5年度第1四半期 001400678.pdf）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法務大臣臨時記者会見(R7.12.23)：moj.go.jp/hisho/kouhou/hisho08_00682.html／補正予算：moj.go.jp/content/001428124.pdf、001405849.pdf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デジタル庁 R6生成AI技術検証報告書(digital.go.jp)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DLRI(二次資料)：dlri.co.jp/report/ld/534154.html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横須賀市 生成AI効果(二次・未確認)、人事院 給与(未確認)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在留審査提案">
  <a:themeElements>
    <a:clrScheme name="在留審査提案">
      <a:dk1>
        <a:srgbClr val="1A2433"/>
      </a:dk1>
      <a:lt1>
        <a:srgbClr val="FFFFFF"/>
      </a:lt1>
      <a:dk2>
        <a:srgbClr val="12263F"/>
      </a:dk2>
      <a:lt2>
        <a:srgbClr val="F2F5F9"/>
      </a:lt2>
      <a:accent1>
        <a:srgbClr val="1F5FBF"/>
      </a:accent1>
      <a:accent2>
        <a:srgbClr val="C2410C"/>
      </a:accent2>
      <a:accent3>
        <a:srgbClr val="FBE3D6"/>
      </a:accent3>
      <a:accent4>
        <a:srgbClr val="9FC2F2"/>
      </a:accent4>
      <a:accent5>
        <a:srgbClr val="5F6773"/>
      </a:accent5>
      <a:accent6>
        <a:srgbClr val="DCE8F8"/>
      </a:accent6>
      <a:hlink>
        <a:srgbClr val="1F5FBF"/>
      </a:hlink>
      <a:folHlink>
        <a:srgbClr val="5F6773"/>
      </a:folHlink>
    </a:clrScheme>
    <a:fontScheme name="在留審査提案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3952</Words>
  <Application>Microsoft Office PowerPoint</Application>
  <PresentationFormat>ワイド画面</PresentationFormat>
  <Paragraphs>565</Paragraphs>
  <Slides>25</Slides>
  <Notes>25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28" baseType="lpstr">
      <vt:lpstr>Yu Gothic</vt:lpstr>
      <vt:lpstr>Arial</vt:lpstr>
      <vt:lpstr>在留審査提案</vt:lpstr>
      <vt:lpstr>在留審査の判断を支える 審査補助AIの提案</vt:lpstr>
      <vt:lpstr>案件が増え、増員で対応している</vt:lpstr>
      <vt:lpstr>変更申請で審査期間が長くなっている</vt:lpstr>
      <vt:lpstr>現状と提案：判断の前段をAIが支える</vt:lpstr>
      <vt:lpstr>3つの課題から、審査の判断補助を選んだ</vt:lpstr>
      <vt:lpstr>なぜ審査の判断補助を選んだか</vt:lpstr>
      <vt:lpstr>なぜ私はこの課題を解きたいのか</vt:lpstr>
      <vt:lpstr>NTTデータがやる意義：入管庁のシステムと同じ型の実績</vt:lpstr>
      <vt:lpstr>導入：入管庁に導入し、横展開を探る</vt:lpstr>
      <vt:lpstr>サービスのイメージ(B)：業務アプリ風の画面</vt:lpstr>
      <vt:lpstr>サービスのイメージ(A)：表計算風の画面</vt:lpstr>
      <vt:lpstr>AIが示すものと、守ること</vt:lpstr>
      <vt:lpstr>効果とビジネスモデル：審査の待ち日数を減らす</vt:lpstr>
      <vt:lpstr>補足：審査待ちの案件数で見る(期間更新の例)</vt:lpstr>
      <vt:lpstr>補足：費用対効果の試算(感度分析)</vt:lpstr>
      <vt:lpstr>ネクストアクション：まず確かめ、実績を作って横へ広げる</vt:lpstr>
      <vt:lpstr>補足資料(質疑用)</vt:lpstr>
      <vt:lpstr>A1 FEISとは：出入国在留管理の統合DB</vt:lpstr>
      <vt:lpstr>A2 突合と、初申請の情報</vt:lpstr>
      <vt:lpstr>A3 総務省勧告で指摘された問題点</vt:lpstr>
      <vt:lpstr>A4 政策・制度背景</vt:lpstr>
      <vt:lpstr>A5 解決策の比較</vt:lpstr>
      <vt:lpstr>A6 想定質問と答えの方向</vt:lpstr>
      <vt:lpstr>A7 要確認リスト(発表前)</vt:lpstr>
      <vt:lpstr>A8 出典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在留審査 審査補助AI提案</dc:title>
  <dc:subject>PptxGenJS Presentation</dc:subject>
  <dc:creator>合谷 悠生</dc:creator>
  <cp:lastModifiedBy>悠生 合谷</cp:lastModifiedBy>
  <cp:revision>1</cp:revision>
  <dcterms:created xsi:type="dcterms:W3CDTF">2026-10-14T13:34:17Z</dcterms:created>
  <dcterms:modified xsi:type="dcterms:W3CDTF">2026-10-14T13:55:56Z</dcterms:modified>
</cp:coreProperties>
</file>