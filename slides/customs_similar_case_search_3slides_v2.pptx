
<file path=[Content_Types].xml><?xml version="1.0" encoding="utf-8"?>
<Types xmlns="http://schemas.openxmlformats.org/package/2006/content-types">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9" r:id="rId2"/>
    <p:sldId id="260" r:id="rId3"/>
    <p:sldId id="258" r:id="rId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000" autoAdjust="0"/>
    <p:restoredTop sz="76528" autoAdjust="0"/>
  </p:normalViewPr>
  <p:slideViewPr>
    <p:cSldViewPr snapToGrid="0">
      <p:cViewPr>
        <p:scale>
          <a:sx n="33" d="100"/>
          <a:sy n="33" d="100"/>
        </p:scale>
        <p:origin x="1680"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1"/>
        <c:ser>
          <c:idx val="0"/>
          <c:order val="0"/>
          <c:tx>
            <c:v>1件当たり時間</c:v>
          </c:tx>
          <c:spPr>
            <a:solidFill>
              <a:srgbClr val="007F86"/>
            </a:solidFill>
          </c:spPr>
          <c:invertIfNegative val="0"/>
          <c:dPt>
            <c:idx val="0"/>
            <c:invertIfNegative val="0"/>
            <c:bubble3D val="0"/>
            <c:spPr>
              <a:solidFill>
                <a:srgbClr val="0E2F45"/>
              </a:solidFill>
            </c:spPr>
            <c:extLst>
              <c:ext xmlns:c16="http://schemas.microsoft.com/office/drawing/2014/chart" uri="{C3380CC4-5D6E-409C-BE32-E72D297353CC}">
                <c16:uniqueId val="{00000001-1188-4B31-B3AD-6D72457FE99E}"/>
              </c:ext>
            </c:extLst>
          </c:dPt>
          <c:dPt>
            <c:idx val="1"/>
            <c:invertIfNegative val="0"/>
            <c:bubble3D val="0"/>
            <c:extLst>
              <c:ext xmlns:c16="http://schemas.microsoft.com/office/drawing/2014/chart" uri="{C3380CC4-5D6E-409C-BE32-E72D297353CC}">
                <c16:uniqueId val="{00000002-1188-4B31-B3AD-6D72457FE99E}"/>
              </c:ext>
            </c:extLst>
          </c:dPt>
          <c:dLbls>
            <c:numFmt formatCode="0&quot;分&quot;" sourceLinked="0"/>
            <c:spPr>
              <a:noFill/>
              <a:ln>
                <a:noFill/>
              </a:ln>
              <a:effectLst/>
            </c:spPr>
            <c:txPr>
              <a:bodyPr anchorCtr="1"/>
              <a:lstStyle/>
              <a:p>
                <a:pPr>
                  <a:defRPr sz="1125" b="1">
                    <a:solidFill>
                      <a:srgbClr val="172B3A"/>
                    </a:solidFill>
                    <a:latin typeface="Noto Sans JP"/>
                    <a:ea typeface="Noto Sans JP"/>
                    <a:cs typeface="Noto Sans JP"/>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現状の仮置き</c:v>
                </c:pt>
                <c:pt idx="1">
                  <c:v>60％短縮後</c:v>
                </c:pt>
              </c:strCache>
            </c:strRef>
          </c:cat>
          <c:val>
            <c:numRef>
              <c:f>'Chart Data'!$B$2:$B$3</c:f>
              <c:numCache>
                <c:formatCode>General</c:formatCode>
                <c:ptCount val="2"/>
                <c:pt idx="0">
                  <c:v>40</c:v>
                </c:pt>
                <c:pt idx="1">
                  <c:v>16</c:v>
                </c:pt>
              </c:numCache>
            </c:numRef>
          </c:val>
          <c:extLst>
            <c:ext xmlns:c16="http://schemas.microsoft.com/office/drawing/2014/chart" uri="{C3380CC4-5D6E-409C-BE32-E72D297353CC}">
              <c16:uniqueId val="{00000003-1188-4B31-B3AD-6D72457FE99E}"/>
            </c:ext>
          </c:extLst>
        </c:ser>
        <c:dLbls>
          <c:dLblPos val="outEnd"/>
          <c:showLegendKey val="0"/>
          <c:showVal val="1"/>
          <c:showCatName val="0"/>
          <c:showSerName val="0"/>
          <c:showPercent val="0"/>
          <c:showBubbleSize val="0"/>
        </c:dLbls>
        <c:gapWidth val="64"/>
        <c:axId val="48650112"/>
        <c:axId val="48672768"/>
      </c:barChart>
      <c:catAx>
        <c:axId val="48650112"/>
        <c:scaling>
          <c:orientation val="minMax"/>
        </c:scaling>
        <c:delete val="1"/>
        <c:axPos val="l"/>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max val="45"/>
          <c:min val="0"/>
        </c:scaling>
        <c:delete val="1"/>
        <c:axPos val="b"/>
        <c:numFmt formatCode="General" sourceLinked="1"/>
        <c:majorTickMark val="none"/>
        <c:minorTickMark val="none"/>
        <c:tickLblPos val="nextTo"/>
        <c:crossAx val="48650112"/>
        <c:crosses val="autoZero"/>
        <c:crossBetween val="between"/>
      </c:valAx>
      <c:spPr>
        <a:solidFill>
          <a:srgbClr val="FFFFFF"/>
        </a:solidFill>
        <a:ln w="0">
          <a:noFill/>
          <a:prstDash val="solid"/>
        </a:ln>
      </c:spPr>
    </c:plotArea>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5次CISの設計・開発落札は公開事実。公開資料から、今回想定する過去案件データの所在、検索可否、参照権限までは確認できない。ランキング学習のnDCG@20改善は類似文書を上位表示する技術の参考実績であり、税関データで同じ精度や時間短縮を保証しない。SimGateは民間事業者側のNACCS接続製品で、税関内部に直接採用できるとは限らない。ロードマップ、30～50件、40%以上は提案上の仮説または検証目標。限定本番以降はPoCで品質非劣化、権限制御、費用対効果を確認した場合のみ進める。</a:t>
            </a:r>
          </a:p>
          <a:p>
            <a:endParaRPr/>
          </a:p>
          <a:p>
            <a:r>
              <a:t>[1] 税関『第5次CISの設計・開発 落札結果情報』落札者NTT DATA、落札価格2,382,858,500円 https://www.customs.go.jp/kyotsu/chotatsu/seifu/s_tokyo/rac0320(kaihatsu).pdf</a:t>
            </a:r>
          </a:p>
          <a:p>
            <a:r>
              <a:t>[2] NTT DATA『ランキング学習によるナレッジシェアの効率化』2019-09-09 https://www.nttdata.com/jp/ja/trends/data-insight/2019/0909/</a:t>
            </a:r>
          </a:p>
          <a:p>
            <a:r>
              <a:t>[3] NTT DATA『SimGate』 https://www.nttdata.com/jp/ja/lineup/simgate/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B64E20E-EEEF-4F07-9D79-25497F965CC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7EBB222E-679C-4B13-9C1E-928670CFA3F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3890338-8F65-4499-B245-71FE6C3E4FD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D7AE09C-ABD0-42E9-BD66-47C1B2F18F6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9BE0F127-CA5D-488B-A09A-41DBA3A0161F}"/>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1919282-3BF5-40FB-A290-069C35E9D32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2514F96-FECB-4E3C-BCD4-75EDD97171E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544CE47E-CC45-44EB-8BEB-7B56D4EAA23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1FAFA0D-B7CF-496E-8340-5B01E1188AB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AB291E06-782C-4306-98AF-4B0656E309C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84B6E2A-0527-72E8-1440-C9EC6C0A6E4E}"/>
              </a:ext>
            </a:extLst>
          </p:cNvPr>
          <p:cNvSpPr txBox="1"/>
          <p:nvPr/>
        </p:nvSpPr>
        <p:spPr>
          <a:xfrm>
            <a:off x="279133" y="96252"/>
            <a:ext cx="5032147" cy="369332"/>
          </a:xfrm>
          <a:prstGeom prst="rect">
            <a:avLst/>
          </a:prstGeom>
          <a:noFill/>
        </p:spPr>
        <p:txBody>
          <a:bodyPr wrap="none" rtlCol="0">
            <a:spAutoFit/>
          </a:bodyPr>
          <a:lstStyle/>
          <a:p>
            <a:r>
              <a:rPr kumimoji="1" lang="ja-JP" altLang="en-US" dirty="0"/>
              <a:t>実際に導入したらどのくらい業務改善される？</a:t>
            </a:r>
          </a:p>
        </p:txBody>
      </p:sp>
      <p:sp>
        <p:nvSpPr>
          <p:cNvPr id="4" name="テキスト ボックス 3">
            <a:extLst>
              <a:ext uri="{FF2B5EF4-FFF2-40B4-BE49-F238E27FC236}">
                <a16:creationId xmlns:a16="http://schemas.microsoft.com/office/drawing/2014/main" id="{B80B7512-73D6-A0D4-F71E-036727C25F60}"/>
              </a:ext>
            </a:extLst>
          </p:cNvPr>
          <p:cNvSpPr txBox="1"/>
          <p:nvPr/>
        </p:nvSpPr>
        <p:spPr>
          <a:xfrm>
            <a:off x="544796" y="1512219"/>
            <a:ext cx="3518912" cy="492443"/>
          </a:xfrm>
          <a:prstGeom prst="rect">
            <a:avLst/>
          </a:prstGeom>
          <a:noFill/>
        </p:spPr>
        <p:txBody>
          <a:bodyPr wrap="none" rtlCol="0">
            <a:spAutoFit/>
          </a:bodyPr>
          <a:lstStyle/>
          <a:p>
            <a:r>
              <a:rPr kumimoji="1" lang="ja-JP" altLang="en-US" sz="2600" b="1" dirty="0"/>
              <a:t>公開情報から推測する</a:t>
            </a:r>
          </a:p>
        </p:txBody>
      </p:sp>
      <p:cxnSp>
        <p:nvCxnSpPr>
          <p:cNvPr id="13" name="直線コネクタ 12">
            <a:extLst>
              <a:ext uri="{FF2B5EF4-FFF2-40B4-BE49-F238E27FC236}">
                <a16:creationId xmlns:a16="http://schemas.microsoft.com/office/drawing/2014/main" id="{2004F795-81F8-CC7D-6C2D-B3DF69CFD84D}"/>
              </a:ext>
            </a:extLst>
          </p:cNvPr>
          <p:cNvCxnSpPr/>
          <p:nvPr/>
        </p:nvCxnSpPr>
        <p:spPr>
          <a:xfrm>
            <a:off x="579585" y="2128573"/>
            <a:ext cx="381160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F5D5A054-EA8C-ED0C-9EF8-5FB75873F604}"/>
              </a:ext>
            </a:extLst>
          </p:cNvPr>
          <p:cNvSpPr txBox="1"/>
          <p:nvPr/>
        </p:nvSpPr>
        <p:spPr>
          <a:xfrm>
            <a:off x="285869" y="747618"/>
            <a:ext cx="7803510" cy="369332"/>
          </a:xfrm>
          <a:prstGeom prst="rect">
            <a:avLst/>
          </a:prstGeom>
          <a:noFill/>
        </p:spPr>
        <p:txBody>
          <a:bodyPr wrap="square" rtlCol="0">
            <a:spAutoFit/>
          </a:bodyPr>
          <a:lstStyle/>
          <a:p>
            <a:r>
              <a:rPr kumimoji="1" lang="ja-JP" altLang="en-US" dirty="0">
                <a:solidFill>
                  <a:srgbClr val="FF0000"/>
                </a:solidFill>
              </a:rPr>
              <a:t>税関の審査の公開情報がないため公開された類似業務を基準に推定する</a:t>
            </a:r>
          </a:p>
        </p:txBody>
      </p:sp>
      <p:sp>
        <p:nvSpPr>
          <p:cNvPr id="17" name="テキスト ボックス 16">
            <a:extLst>
              <a:ext uri="{FF2B5EF4-FFF2-40B4-BE49-F238E27FC236}">
                <a16:creationId xmlns:a16="http://schemas.microsoft.com/office/drawing/2014/main" id="{54A0800D-5A5B-F7FC-53E5-CFAAE1FAC39E}"/>
              </a:ext>
            </a:extLst>
          </p:cNvPr>
          <p:cNvSpPr txBox="1"/>
          <p:nvPr/>
        </p:nvSpPr>
        <p:spPr>
          <a:xfrm>
            <a:off x="538852" y="2397080"/>
            <a:ext cx="3852337" cy="430887"/>
          </a:xfrm>
          <a:prstGeom prst="rect">
            <a:avLst/>
          </a:prstGeom>
          <a:noFill/>
        </p:spPr>
        <p:txBody>
          <a:bodyPr wrap="none" rtlCol="0">
            <a:spAutoFit/>
          </a:bodyPr>
          <a:lstStyle/>
          <a:p>
            <a:r>
              <a:rPr kumimoji="1" lang="ja-JP" altLang="en-US" sz="2200" dirty="0"/>
              <a:t>日立建機の過去事例検索業務</a:t>
            </a:r>
          </a:p>
        </p:txBody>
      </p:sp>
      <p:sp>
        <p:nvSpPr>
          <p:cNvPr id="19" name="テキスト ボックス 18">
            <a:extLst>
              <a:ext uri="{FF2B5EF4-FFF2-40B4-BE49-F238E27FC236}">
                <a16:creationId xmlns:a16="http://schemas.microsoft.com/office/drawing/2014/main" id="{9D802E6A-9FA9-DF34-E6AB-B5EF104BFCE2}"/>
              </a:ext>
            </a:extLst>
          </p:cNvPr>
          <p:cNvSpPr txBox="1"/>
          <p:nvPr/>
        </p:nvSpPr>
        <p:spPr>
          <a:xfrm>
            <a:off x="928280" y="2792154"/>
            <a:ext cx="2289409" cy="553998"/>
          </a:xfrm>
          <a:prstGeom prst="rect">
            <a:avLst/>
          </a:prstGeom>
          <a:noFill/>
        </p:spPr>
        <p:txBody>
          <a:bodyPr wrap="none" rtlCol="0">
            <a:spAutoFit/>
          </a:bodyPr>
          <a:lstStyle/>
          <a:p>
            <a:r>
              <a:rPr kumimoji="1" lang="en-US" altLang="ja-JP" sz="3000" dirty="0">
                <a:solidFill>
                  <a:schemeClr val="accent2">
                    <a:lumMod val="50000"/>
                    <a:lumOff val="50000"/>
                  </a:schemeClr>
                </a:solidFill>
              </a:rPr>
              <a:t>20</a:t>
            </a:r>
            <a:r>
              <a:rPr kumimoji="1" lang="ja-JP" altLang="en-US" sz="3000" dirty="0">
                <a:solidFill>
                  <a:schemeClr val="accent2">
                    <a:lumMod val="50000"/>
                    <a:lumOff val="50000"/>
                  </a:schemeClr>
                </a:solidFill>
              </a:rPr>
              <a:t>～</a:t>
            </a:r>
            <a:r>
              <a:rPr kumimoji="1" lang="en-US" altLang="ja-JP" sz="3000" dirty="0">
                <a:solidFill>
                  <a:schemeClr val="accent2">
                    <a:lumMod val="50000"/>
                    <a:lumOff val="50000"/>
                  </a:schemeClr>
                </a:solidFill>
              </a:rPr>
              <a:t>60</a:t>
            </a:r>
            <a:r>
              <a:rPr kumimoji="1" lang="ja-JP" altLang="en-US" sz="3000" dirty="0">
                <a:solidFill>
                  <a:schemeClr val="accent2">
                    <a:lumMod val="50000"/>
                    <a:lumOff val="50000"/>
                  </a:schemeClr>
                </a:solidFill>
              </a:rPr>
              <a:t>分</a:t>
            </a:r>
            <a:r>
              <a:rPr kumimoji="1" lang="en-US" altLang="ja-JP" sz="3000" dirty="0">
                <a:solidFill>
                  <a:schemeClr val="accent2">
                    <a:lumMod val="50000"/>
                    <a:lumOff val="50000"/>
                  </a:schemeClr>
                </a:solidFill>
              </a:rPr>
              <a:t>/</a:t>
            </a:r>
            <a:r>
              <a:rPr lang="ja-JP" altLang="en-US" sz="3000" dirty="0">
                <a:solidFill>
                  <a:schemeClr val="accent2">
                    <a:lumMod val="50000"/>
                    <a:lumOff val="50000"/>
                  </a:schemeClr>
                </a:solidFill>
              </a:rPr>
              <a:t>件</a:t>
            </a:r>
            <a:endParaRPr kumimoji="1" lang="ja-JP" altLang="en-US" sz="3000" dirty="0">
              <a:solidFill>
                <a:schemeClr val="accent2">
                  <a:lumMod val="50000"/>
                  <a:lumOff val="50000"/>
                </a:schemeClr>
              </a:solidFill>
            </a:endParaRPr>
          </a:p>
        </p:txBody>
      </p:sp>
      <p:sp>
        <p:nvSpPr>
          <p:cNvPr id="24" name="テキスト ボックス 23">
            <a:extLst>
              <a:ext uri="{FF2B5EF4-FFF2-40B4-BE49-F238E27FC236}">
                <a16:creationId xmlns:a16="http://schemas.microsoft.com/office/drawing/2014/main" id="{010D9D24-0FD2-88AD-04EF-3D35B15AB3C6}"/>
              </a:ext>
            </a:extLst>
          </p:cNvPr>
          <p:cNvSpPr txBox="1"/>
          <p:nvPr/>
        </p:nvSpPr>
        <p:spPr>
          <a:xfrm>
            <a:off x="1102369" y="3294667"/>
            <a:ext cx="2518638" cy="307777"/>
          </a:xfrm>
          <a:prstGeom prst="rect">
            <a:avLst/>
          </a:prstGeom>
          <a:noFill/>
        </p:spPr>
        <p:txBody>
          <a:bodyPr wrap="none" rtlCol="0">
            <a:spAutoFit/>
          </a:bodyPr>
          <a:lstStyle/>
          <a:p>
            <a:r>
              <a:rPr kumimoji="1" lang="en-US" altLang="ja-JP" sz="1400" dirty="0">
                <a:solidFill>
                  <a:schemeClr val="bg2">
                    <a:lumMod val="50000"/>
                  </a:schemeClr>
                </a:solidFill>
              </a:rPr>
              <a:t>※</a:t>
            </a:r>
            <a:r>
              <a:rPr kumimoji="1" lang="ja-JP" altLang="en-US" sz="1400" dirty="0">
                <a:solidFill>
                  <a:schemeClr val="bg2">
                    <a:lumMod val="50000"/>
                  </a:schemeClr>
                </a:solidFill>
              </a:rPr>
              <a:t>若手の検索・情報抽出時間</a:t>
            </a:r>
          </a:p>
        </p:txBody>
      </p:sp>
      <p:cxnSp>
        <p:nvCxnSpPr>
          <p:cNvPr id="25" name="直線コネクタ 24">
            <a:extLst>
              <a:ext uri="{FF2B5EF4-FFF2-40B4-BE49-F238E27FC236}">
                <a16:creationId xmlns:a16="http://schemas.microsoft.com/office/drawing/2014/main" id="{3F7C72A7-776D-C633-2D54-F537949E2321}"/>
              </a:ext>
            </a:extLst>
          </p:cNvPr>
          <p:cNvCxnSpPr/>
          <p:nvPr/>
        </p:nvCxnSpPr>
        <p:spPr>
          <a:xfrm>
            <a:off x="635739" y="3772473"/>
            <a:ext cx="3811604"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17C7653F-6B4D-CEC2-5FE4-E6809776F6B6}"/>
              </a:ext>
            </a:extLst>
          </p:cNvPr>
          <p:cNvSpPr txBox="1"/>
          <p:nvPr/>
        </p:nvSpPr>
        <p:spPr>
          <a:xfrm>
            <a:off x="570010" y="4071119"/>
            <a:ext cx="2723823" cy="430887"/>
          </a:xfrm>
          <a:prstGeom prst="rect">
            <a:avLst/>
          </a:prstGeom>
          <a:noFill/>
        </p:spPr>
        <p:txBody>
          <a:bodyPr wrap="none" rtlCol="0">
            <a:spAutoFit/>
          </a:bodyPr>
          <a:lstStyle/>
          <a:p>
            <a:r>
              <a:rPr kumimoji="1" lang="ja-JP" altLang="en-US" sz="2200" dirty="0"/>
              <a:t>同社の後年の報告書</a:t>
            </a:r>
          </a:p>
        </p:txBody>
      </p:sp>
      <p:sp>
        <p:nvSpPr>
          <p:cNvPr id="29" name="テキスト ボックス 28">
            <a:extLst>
              <a:ext uri="{FF2B5EF4-FFF2-40B4-BE49-F238E27FC236}">
                <a16:creationId xmlns:a16="http://schemas.microsoft.com/office/drawing/2014/main" id="{C7782D08-ABA6-570A-36FB-CEE3E2933BE4}"/>
              </a:ext>
            </a:extLst>
          </p:cNvPr>
          <p:cNvSpPr txBox="1"/>
          <p:nvPr/>
        </p:nvSpPr>
        <p:spPr>
          <a:xfrm>
            <a:off x="928280" y="4574296"/>
            <a:ext cx="3220753" cy="553998"/>
          </a:xfrm>
          <a:prstGeom prst="rect">
            <a:avLst/>
          </a:prstGeom>
          <a:noFill/>
        </p:spPr>
        <p:txBody>
          <a:bodyPr wrap="none" rtlCol="0">
            <a:spAutoFit/>
          </a:bodyPr>
          <a:lstStyle/>
          <a:p>
            <a:r>
              <a:rPr kumimoji="1" lang="ja-JP" altLang="en-US" sz="3000" dirty="0">
                <a:solidFill>
                  <a:schemeClr val="accent2">
                    <a:lumMod val="50000"/>
                    <a:lumOff val="50000"/>
                  </a:schemeClr>
                </a:solidFill>
              </a:rPr>
              <a:t>約</a:t>
            </a:r>
            <a:r>
              <a:rPr lang="en-US" altLang="ja-JP" sz="3000" dirty="0">
                <a:solidFill>
                  <a:schemeClr val="accent2">
                    <a:lumMod val="50000"/>
                    <a:lumOff val="50000"/>
                  </a:schemeClr>
                </a:solidFill>
              </a:rPr>
              <a:t>60</a:t>
            </a:r>
            <a:r>
              <a:rPr kumimoji="1" lang="en-US" altLang="ja-JP" sz="3000" dirty="0">
                <a:solidFill>
                  <a:schemeClr val="accent2">
                    <a:lumMod val="50000"/>
                    <a:lumOff val="50000"/>
                  </a:schemeClr>
                </a:solidFill>
              </a:rPr>
              <a:t>%</a:t>
            </a:r>
            <a:r>
              <a:rPr kumimoji="1" lang="ja-JP" altLang="en-US" sz="3000" dirty="0">
                <a:solidFill>
                  <a:schemeClr val="accent2">
                    <a:lumMod val="50000"/>
                    <a:lumOff val="50000"/>
                  </a:schemeClr>
                </a:solidFill>
              </a:rPr>
              <a:t>の時間短縮</a:t>
            </a:r>
          </a:p>
        </p:txBody>
      </p:sp>
      <p:sp>
        <p:nvSpPr>
          <p:cNvPr id="34" name="テキスト ボックス 33">
            <a:extLst>
              <a:ext uri="{FF2B5EF4-FFF2-40B4-BE49-F238E27FC236}">
                <a16:creationId xmlns:a16="http://schemas.microsoft.com/office/drawing/2014/main" id="{FE0EC2E7-6B36-32AB-D808-A03F0363EF5C}"/>
              </a:ext>
            </a:extLst>
          </p:cNvPr>
          <p:cNvSpPr txBox="1"/>
          <p:nvPr/>
        </p:nvSpPr>
        <p:spPr>
          <a:xfrm>
            <a:off x="538852" y="5267642"/>
            <a:ext cx="4273614" cy="523220"/>
          </a:xfrm>
          <a:prstGeom prst="rect">
            <a:avLst/>
          </a:prstGeom>
          <a:noFill/>
        </p:spPr>
        <p:txBody>
          <a:bodyPr wrap="square" rtlCol="0">
            <a:spAutoFit/>
          </a:bodyPr>
          <a:lstStyle/>
          <a:p>
            <a:r>
              <a:rPr kumimoji="1" lang="ja-JP" altLang="en-US" sz="1400" dirty="0">
                <a:solidFill>
                  <a:schemeClr val="bg2">
                    <a:lumMod val="50000"/>
                  </a:schemeClr>
                </a:solidFill>
              </a:rPr>
              <a:t>引用：</a:t>
            </a:r>
            <a:r>
              <a:rPr kumimoji="1" lang="en-US" altLang="ja-JP" sz="1400" dirty="0" err="1">
                <a:solidFill>
                  <a:schemeClr val="bg2">
                    <a:lumMod val="50000"/>
                  </a:schemeClr>
                </a:solidFill>
              </a:rPr>
              <a:t>Lightblue</a:t>
            </a:r>
            <a:r>
              <a:rPr kumimoji="1" lang="en-US" altLang="ja-JP" sz="1400" dirty="0">
                <a:solidFill>
                  <a:schemeClr val="bg2">
                    <a:lumMod val="50000"/>
                  </a:schemeClr>
                </a:solidFill>
              </a:rPr>
              <a:t> </a:t>
            </a:r>
            <a:r>
              <a:rPr kumimoji="1" lang="ja-JP" altLang="en-US" sz="1400" dirty="0">
                <a:solidFill>
                  <a:schemeClr val="bg2">
                    <a:lumMod val="50000"/>
                  </a:schemeClr>
                </a:solidFill>
              </a:rPr>
              <a:t>日立建機支援事例</a:t>
            </a:r>
            <a:endParaRPr kumimoji="1" lang="en-US" altLang="ja-JP" sz="1400" dirty="0">
              <a:solidFill>
                <a:schemeClr val="bg2">
                  <a:lumMod val="50000"/>
                </a:schemeClr>
              </a:solidFill>
            </a:endParaRPr>
          </a:p>
          <a:p>
            <a:r>
              <a:rPr kumimoji="1" lang="ja-JP" altLang="en-US" sz="1400" dirty="0">
                <a:solidFill>
                  <a:schemeClr val="bg2">
                    <a:lumMod val="50000"/>
                  </a:schemeClr>
                </a:solidFill>
              </a:rPr>
              <a:t> </a:t>
            </a:r>
            <a:r>
              <a:rPr lang="en-US" altLang="ja-JP" sz="1400" dirty="0">
                <a:solidFill>
                  <a:schemeClr val="bg2">
                    <a:lumMod val="50000"/>
                  </a:schemeClr>
                </a:solidFill>
              </a:rPr>
              <a:t>https://www.lightblue-tech.com/project/hitachicm/</a:t>
            </a:r>
            <a:endParaRPr kumimoji="1" lang="ja-JP" altLang="en-US" sz="1400" dirty="0">
              <a:solidFill>
                <a:schemeClr val="bg2">
                  <a:lumMod val="50000"/>
                </a:schemeClr>
              </a:solidFill>
            </a:endParaRPr>
          </a:p>
        </p:txBody>
      </p:sp>
      <p:cxnSp>
        <p:nvCxnSpPr>
          <p:cNvPr id="37" name="直線コネクタ 36">
            <a:extLst>
              <a:ext uri="{FF2B5EF4-FFF2-40B4-BE49-F238E27FC236}">
                <a16:creationId xmlns:a16="http://schemas.microsoft.com/office/drawing/2014/main" id="{C7593CD6-3988-9354-72BB-F999FCE09AF0}"/>
              </a:ext>
            </a:extLst>
          </p:cNvPr>
          <p:cNvCxnSpPr>
            <a:cxnSpLocks/>
          </p:cNvCxnSpPr>
          <p:nvPr/>
        </p:nvCxnSpPr>
        <p:spPr>
          <a:xfrm>
            <a:off x="5118217" y="2112171"/>
            <a:ext cx="6246469" cy="16402"/>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48BE5C0B-0377-4A45-7EA0-E2328700E969}"/>
              </a:ext>
            </a:extLst>
          </p:cNvPr>
          <p:cNvSpPr txBox="1"/>
          <p:nvPr/>
        </p:nvSpPr>
        <p:spPr>
          <a:xfrm>
            <a:off x="5077484" y="2380679"/>
            <a:ext cx="6575664" cy="430887"/>
          </a:xfrm>
          <a:prstGeom prst="rect">
            <a:avLst/>
          </a:prstGeom>
          <a:noFill/>
        </p:spPr>
        <p:txBody>
          <a:bodyPr wrap="square" rtlCol="0">
            <a:spAutoFit/>
          </a:bodyPr>
          <a:lstStyle/>
          <a:p>
            <a:r>
              <a:rPr kumimoji="1" lang="en-US" altLang="ja-JP" sz="2200" dirty="0"/>
              <a:t>1</a:t>
            </a:r>
            <a:r>
              <a:rPr kumimoji="1" lang="ja-JP" altLang="en-US" sz="2200" dirty="0"/>
              <a:t>件当たりの平均の</a:t>
            </a:r>
            <a:r>
              <a:rPr lang="en-US" altLang="ja-JP" sz="2200" dirty="0"/>
              <a:t>40</a:t>
            </a:r>
            <a:r>
              <a:rPr lang="ja-JP" altLang="en-US" sz="2200" dirty="0"/>
              <a:t>分を試算値として使用する</a:t>
            </a:r>
            <a:endParaRPr kumimoji="1" lang="ja-JP" altLang="en-US" sz="2200" dirty="0"/>
          </a:p>
        </p:txBody>
      </p:sp>
      <p:cxnSp>
        <p:nvCxnSpPr>
          <p:cNvPr id="50" name="直線コネクタ 49">
            <a:extLst>
              <a:ext uri="{FF2B5EF4-FFF2-40B4-BE49-F238E27FC236}">
                <a16:creationId xmlns:a16="http://schemas.microsoft.com/office/drawing/2014/main" id="{9106F349-BAA9-6806-55CE-D8AE6568CBC2}"/>
              </a:ext>
            </a:extLst>
          </p:cNvPr>
          <p:cNvCxnSpPr>
            <a:cxnSpLocks/>
          </p:cNvCxnSpPr>
          <p:nvPr/>
        </p:nvCxnSpPr>
        <p:spPr>
          <a:xfrm>
            <a:off x="310291" y="582789"/>
            <a:ext cx="11054395" cy="0"/>
          </a:xfrm>
          <a:prstGeom prst="line">
            <a:avLst/>
          </a:prstGeom>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D9742A4A-06CF-CD81-1F00-71C0C43707E8}"/>
              </a:ext>
            </a:extLst>
          </p:cNvPr>
          <p:cNvSpPr txBox="1"/>
          <p:nvPr/>
        </p:nvSpPr>
        <p:spPr>
          <a:xfrm>
            <a:off x="5045787" y="1512219"/>
            <a:ext cx="3534942" cy="492443"/>
          </a:xfrm>
          <a:prstGeom prst="rect">
            <a:avLst/>
          </a:prstGeom>
          <a:noFill/>
        </p:spPr>
        <p:txBody>
          <a:bodyPr wrap="none" rtlCol="0">
            <a:spAutoFit/>
          </a:bodyPr>
          <a:lstStyle/>
          <a:p>
            <a:r>
              <a:rPr lang="ja-JP" altLang="en-US" sz="2600" b="1" dirty="0"/>
              <a:t>情報をもとにした仮定</a:t>
            </a:r>
            <a:endParaRPr kumimoji="1" lang="ja-JP" altLang="en-US" sz="2600" b="1" dirty="0"/>
          </a:p>
        </p:txBody>
      </p:sp>
      <p:sp>
        <p:nvSpPr>
          <p:cNvPr id="62" name="正方形/長方形 61">
            <a:extLst>
              <a:ext uri="{FF2B5EF4-FFF2-40B4-BE49-F238E27FC236}">
                <a16:creationId xmlns:a16="http://schemas.microsoft.com/office/drawing/2014/main" id="{69B63FAC-D86D-A2F6-51B4-A3AEF2EFBF04}"/>
              </a:ext>
            </a:extLst>
          </p:cNvPr>
          <p:cNvSpPr>
            <a:spLocks noGrp="1"/>
          </p:cNvSpPr>
          <p:nvPr/>
        </p:nvSpPr>
        <p:spPr>
          <a:xfrm>
            <a:off x="5486400" y="2705100"/>
            <a:ext cx="1447800" cy="514350"/>
          </a:xfrm>
          <a:prstGeom prst="rect">
            <a:avLst/>
          </a:prstGeom>
          <a:noFill/>
          <a:ln w="0">
            <a:noFill/>
            <a:prstDash val="solid"/>
          </a:ln>
        </p:spPr>
        <p:txBody>
          <a:bodyPr wrap="square" lIns="0" tIns="0" rIns="0" bIns="0" anchor="t">
            <a:normAutofit/>
          </a:bodyPr>
          <a:lstStyle>
            <a:defPPr algn="ctr">
              <a:defRPr sz="2850" b="1">
                <a:solidFill>
                  <a:srgbClr val="0E2F45"/>
                </a:solidFill>
                <a:latin typeface="Noto Sans JP"/>
                <a:ea typeface="Noto Sans JP"/>
                <a:cs typeface="Noto Sans JP"/>
              </a:defRPr>
            </a:defPPr>
          </a:lstStyle>
          <a:p>
            <a:pPr algn="ctr">
              <a:lnSpc>
                <a:spcPct val="105000"/>
              </a:lnSpc>
              <a:buNone/>
              <a:defRPr sz="2850" b="1">
                <a:solidFill>
                  <a:srgbClr val="0E2F45"/>
                </a:solidFill>
                <a:latin typeface="Noto Sans JP"/>
                <a:ea typeface="Noto Sans JP"/>
                <a:cs typeface="Noto Sans JP"/>
              </a:defRPr>
            </a:pPr>
            <a:r>
              <a:rPr sz="2850" b="1">
                <a:solidFill>
                  <a:srgbClr val="0E2F45"/>
                </a:solidFill>
                <a:latin typeface="Noto Sans JP"/>
                <a:ea typeface="Noto Sans JP"/>
                <a:cs typeface="Noto Sans JP"/>
              </a:rPr>
              <a:t>40分</a:t>
            </a:r>
          </a:p>
        </p:txBody>
      </p:sp>
      <p:sp>
        <p:nvSpPr>
          <p:cNvPr id="64" name="正方形/長方形 63">
            <a:extLst>
              <a:ext uri="{FF2B5EF4-FFF2-40B4-BE49-F238E27FC236}">
                <a16:creationId xmlns:a16="http://schemas.microsoft.com/office/drawing/2014/main" id="{1A57FABA-655A-16A7-1D4F-A8D3829F9C32}"/>
              </a:ext>
            </a:extLst>
          </p:cNvPr>
          <p:cNvSpPr>
            <a:spLocks noGrp="1"/>
          </p:cNvSpPr>
          <p:nvPr/>
        </p:nvSpPr>
        <p:spPr>
          <a:xfrm>
            <a:off x="6962775" y="2790825"/>
            <a:ext cx="514350" cy="361950"/>
          </a:xfrm>
          <a:prstGeom prst="rect">
            <a:avLst/>
          </a:prstGeom>
          <a:noFill/>
          <a:ln w="0">
            <a:noFill/>
            <a:prstDash val="solid"/>
          </a:ln>
        </p:spPr>
        <p:txBody>
          <a:bodyPr wrap="square" lIns="0" tIns="0" rIns="0" bIns="0" anchor="t">
            <a:normAutofit/>
          </a:bodyPr>
          <a:lstStyle>
            <a:defPPr algn="ctr">
              <a:defRPr sz="2025" b="1">
                <a:solidFill>
                  <a:srgbClr val="526773"/>
                </a:solidFill>
                <a:latin typeface="Noto Sans JP"/>
                <a:ea typeface="Noto Sans JP"/>
                <a:cs typeface="Noto Sans JP"/>
              </a:defRPr>
            </a:defPPr>
          </a:lstStyle>
          <a:p>
            <a:pPr algn="ctr">
              <a:lnSpc>
                <a:spcPct val="105000"/>
              </a:lnSpc>
              <a:buNone/>
              <a:defRPr sz="2025" b="1">
                <a:solidFill>
                  <a:srgbClr val="526773"/>
                </a:solidFill>
                <a:latin typeface="Noto Sans JP"/>
                <a:ea typeface="Noto Sans JP"/>
                <a:cs typeface="Noto Sans JP"/>
              </a:defRPr>
            </a:pPr>
            <a:r>
              <a:rPr sz="2025" b="1">
                <a:solidFill>
                  <a:srgbClr val="526773"/>
                </a:solidFill>
                <a:latin typeface="Noto Sans JP"/>
                <a:ea typeface="Noto Sans JP"/>
                <a:cs typeface="Noto Sans JP"/>
              </a:rPr>
              <a:t>×</a:t>
            </a:r>
          </a:p>
        </p:txBody>
      </p:sp>
      <p:sp>
        <p:nvSpPr>
          <p:cNvPr id="66" name="正方形/長方形 65">
            <a:extLst>
              <a:ext uri="{FF2B5EF4-FFF2-40B4-BE49-F238E27FC236}">
                <a16:creationId xmlns:a16="http://schemas.microsoft.com/office/drawing/2014/main" id="{3720F1D7-5806-26A3-DA83-DB382FA59FD3}"/>
              </a:ext>
            </a:extLst>
          </p:cNvPr>
          <p:cNvSpPr>
            <a:spLocks noGrp="1"/>
          </p:cNvSpPr>
          <p:nvPr/>
        </p:nvSpPr>
        <p:spPr>
          <a:xfrm>
            <a:off x="7467600" y="2705100"/>
            <a:ext cx="1447800" cy="514350"/>
          </a:xfrm>
          <a:prstGeom prst="rect">
            <a:avLst/>
          </a:prstGeom>
          <a:noFill/>
          <a:ln w="0">
            <a:noFill/>
            <a:prstDash val="solid"/>
          </a:ln>
        </p:spPr>
        <p:txBody>
          <a:bodyPr wrap="square" lIns="0" tIns="0" rIns="0" bIns="0" anchor="t">
            <a:normAutofit/>
          </a:bodyPr>
          <a:lstStyle>
            <a:defPPr algn="ctr">
              <a:defRPr sz="2850" b="1">
                <a:solidFill>
                  <a:srgbClr val="007F86"/>
                </a:solidFill>
                <a:latin typeface="Noto Sans JP"/>
                <a:ea typeface="Noto Sans JP"/>
                <a:cs typeface="Noto Sans JP"/>
              </a:defRPr>
            </a:defPPr>
          </a:lstStyle>
          <a:p>
            <a:pPr algn="ctr">
              <a:lnSpc>
                <a:spcPct val="105000"/>
              </a:lnSpc>
              <a:buNone/>
              <a:defRPr sz="2850" b="1">
                <a:solidFill>
                  <a:srgbClr val="007F86"/>
                </a:solidFill>
                <a:latin typeface="Noto Sans JP"/>
                <a:ea typeface="Noto Sans JP"/>
                <a:cs typeface="Noto Sans JP"/>
              </a:defRPr>
            </a:pPr>
            <a:r>
              <a:rPr sz="2850" b="1">
                <a:solidFill>
                  <a:srgbClr val="007F86"/>
                </a:solidFill>
                <a:latin typeface="Noto Sans JP"/>
                <a:ea typeface="Noto Sans JP"/>
                <a:cs typeface="Noto Sans JP"/>
              </a:rPr>
              <a:t>40％</a:t>
            </a:r>
          </a:p>
        </p:txBody>
      </p:sp>
      <p:sp>
        <p:nvSpPr>
          <p:cNvPr id="68" name="正方形/長方形 67">
            <a:extLst>
              <a:ext uri="{FF2B5EF4-FFF2-40B4-BE49-F238E27FC236}">
                <a16:creationId xmlns:a16="http://schemas.microsoft.com/office/drawing/2014/main" id="{0947FB4F-A743-91F4-1F5C-4A25DC4D6E53}"/>
              </a:ext>
            </a:extLst>
          </p:cNvPr>
          <p:cNvSpPr>
            <a:spLocks noGrp="1"/>
          </p:cNvSpPr>
          <p:nvPr/>
        </p:nvSpPr>
        <p:spPr>
          <a:xfrm>
            <a:off x="8915400" y="2790825"/>
            <a:ext cx="514350" cy="361950"/>
          </a:xfrm>
          <a:prstGeom prst="rect">
            <a:avLst/>
          </a:prstGeom>
          <a:noFill/>
          <a:ln w="0">
            <a:noFill/>
            <a:prstDash val="solid"/>
          </a:ln>
        </p:spPr>
        <p:txBody>
          <a:bodyPr wrap="square" lIns="0" tIns="0" rIns="0" bIns="0" anchor="t">
            <a:normAutofit/>
          </a:bodyPr>
          <a:lstStyle>
            <a:defPPr algn="ctr">
              <a:defRPr sz="2025" b="1">
                <a:solidFill>
                  <a:srgbClr val="526773"/>
                </a:solidFill>
                <a:latin typeface="Noto Sans JP"/>
                <a:ea typeface="Noto Sans JP"/>
                <a:cs typeface="Noto Sans JP"/>
              </a:defRPr>
            </a:defPPr>
          </a:lstStyle>
          <a:p>
            <a:pPr algn="ctr">
              <a:lnSpc>
                <a:spcPct val="105000"/>
              </a:lnSpc>
              <a:buNone/>
              <a:defRPr sz="2025" b="1">
                <a:solidFill>
                  <a:srgbClr val="526773"/>
                </a:solidFill>
                <a:latin typeface="Noto Sans JP"/>
                <a:ea typeface="Noto Sans JP"/>
                <a:cs typeface="Noto Sans JP"/>
              </a:defRPr>
            </a:pPr>
            <a:r>
              <a:rPr sz="2025" b="1">
                <a:solidFill>
                  <a:srgbClr val="526773"/>
                </a:solidFill>
                <a:latin typeface="Noto Sans JP"/>
                <a:ea typeface="Noto Sans JP"/>
                <a:cs typeface="Noto Sans JP"/>
              </a:rPr>
              <a:t>=</a:t>
            </a:r>
          </a:p>
        </p:txBody>
      </p:sp>
      <p:sp>
        <p:nvSpPr>
          <p:cNvPr id="70" name="正方形/長方形 69">
            <a:extLst>
              <a:ext uri="{FF2B5EF4-FFF2-40B4-BE49-F238E27FC236}">
                <a16:creationId xmlns:a16="http://schemas.microsoft.com/office/drawing/2014/main" id="{2D9D61E3-0737-F961-B3BC-B10B369CF6D7}"/>
              </a:ext>
            </a:extLst>
          </p:cNvPr>
          <p:cNvSpPr>
            <a:spLocks noGrp="1"/>
          </p:cNvSpPr>
          <p:nvPr/>
        </p:nvSpPr>
        <p:spPr>
          <a:xfrm>
            <a:off x="9401175" y="2705100"/>
            <a:ext cx="1657350" cy="514350"/>
          </a:xfrm>
          <a:prstGeom prst="rect">
            <a:avLst/>
          </a:prstGeom>
          <a:noFill/>
          <a:ln w="0">
            <a:noFill/>
            <a:prstDash val="solid"/>
          </a:ln>
        </p:spPr>
        <p:txBody>
          <a:bodyPr wrap="square" lIns="0" tIns="0" rIns="0" bIns="0" anchor="t">
            <a:normAutofit/>
          </a:bodyPr>
          <a:lstStyle>
            <a:defPPr algn="ctr">
              <a:defRPr sz="2850" b="1">
                <a:solidFill>
                  <a:srgbClr val="007F86"/>
                </a:solidFill>
                <a:latin typeface="Noto Sans JP"/>
                <a:ea typeface="Noto Sans JP"/>
                <a:cs typeface="Noto Sans JP"/>
              </a:defRPr>
            </a:defPPr>
          </a:lstStyle>
          <a:p>
            <a:pPr algn="ctr">
              <a:lnSpc>
                <a:spcPct val="105000"/>
              </a:lnSpc>
              <a:buNone/>
              <a:defRPr sz="2850" b="1">
                <a:solidFill>
                  <a:srgbClr val="007F86"/>
                </a:solidFill>
                <a:latin typeface="Noto Sans JP"/>
                <a:ea typeface="Noto Sans JP"/>
                <a:cs typeface="Noto Sans JP"/>
              </a:defRPr>
            </a:pPr>
            <a:r>
              <a:rPr sz="2850" b="1">
                <a:solidFill>
                  <a:srgbClr val="007F86"/>
                </a:solidFill>
                <a:latin typeface="Noto Sans JP"/>
                <a:ea typeface="Noto Sans JP"/>
                <a:cs typeface="Noto Sans JP"/>
              </a:rPr>
              <a:t>16分</a:t>
            </a:r>
          </a:p>
        </p:txBody>
      </p:sp>
      <p:sp>
        <p:nvSpPr>
          <p:cNvPr id="72" name="正方形/長方形 71">
            <a:extLst>
              <a:ext uri="{FF2B5EF4-FFF2-40B4-BE49-F238E27FC236}">
                <a16:creationId xmlns:a16="http://schemas.microsoft.com/office/drawing/2014/main" id="{588F5588-E202-6E2B-4A74-C1C8F043A22F}"/>
              </a:ext>
            </a:extLst>
          </p:cNvPr>
          <p:cNvSpPr>
            <a:spLocks noGrp="1"/>
          </p:cNvSpPr>
          <p:nvPr/>
        </p:nvSpPr>
        <p:spPr>
          <a:xfrm>
            <a:off x="5486400" y="3219450"/>
            <a:ext cx="1447800" cy="190500"/>
          </a:xfrm>
          <a:prstGeom prst="rect">
            <a:avLst/>
          </a:prstGeom>
          <a:noFill/>
          <a:ln w="0">
            <a:noFill/>
            <a:prstDash val="solid"/>
          </a:ln>
        </p:spPr>
        <p:txBody>
          <a:bodyPr wrap="square" lIns="0" tIns="0" rIns="0" bIns="0" anchor="t">
            <a:normAutofit/>
          </a:bodyPr>
          <a:lstStyle>
            <a:defPPr algn="ctr">
              <a:defRPr sz="938" b="0">
                <a:solidFill>
                  <a:srgbClr val="526773"/>
                </a:solidFill>
                <a:latin typeface="Noto Sans JP"/>
                <a:ea typeface="Noto Sans JP"/>
                <a:cs typeface="Noto Sans JP"/>
              </a:defRPr>
            </a:defPPr>
          </a:lstStyle>
          <a:p>
            <a:pPr algn="ctr">
              <a:lnSpc>
                <a:spcPct val="105000"/>
              </a:lnSpc>
              <a:buNone/>
              <a:defRPr sz="938" b="0">
                <a:solidFill>
                  <a:srgbClr val="526773"/>
                </a:solidFill>
                <a:latin typeface="Noto Sans JP"/>
                <a:ea typeface="Noto Sans JP"/>
                <a:cs typeface="Noto Sans JP"/>
              </a:defRPr>
            </a:pPr>
            <a:r>
              <a:rPr sz="938" b="0">
                <a:solidFill>
                  <a:srgbClr val="526773"/>
                </a:solidFill>
                <a:latin typeface="Noto Sans JP"/>
                <a:ea typeface="Noto Sans JP"/>
                <a:cs typeface="Noto Sans JP"/>
              </a:rPr>
              <a:t>現状の仮置き</a:t>
            </a:r>
          </a:p>
        </p:txBody>
      </p:sp>
      <p:sp>
        <p:nvSpPr>
          <p:cNvPr id="74" name="正方形/長方形 73">
            <a:extLst>
              <a:ext uri="{FF2B5EF4-FFF2-40B4-BE49-F238E27FC236}">
                <a16:creationId xmlns:a16="http://schemas.microsoft.com/office/drawing/2014/main" id="{EB8B778A-EA92-5970-7CDC-17C63F5AD176}"/>
              </a:ext>
            </a:extLst>
          </p:cNvPr>
          <p:cNvSpPr>
            <a:spLocks noGrp="1"/>
          </p:cNvSpPr>
          <p:nvPr/>
        </p:nvSpPr>
        <p:spPr>
          <a:xfrm>
            <a:off x="7467600" y="3219450"/>
            <a:ext cx="1447800" cy="190500"/>
          </a:xfrm>
          <a:prstGeom prst="rect">
            <a:avLst/>
          </a:prstGeom>
          <a:noFill/>
          <a:ln w="0">
            <a:noFill/>
            <a:prstDash val="solid"/>
          </a:ln>
        </p:spPr>
        <p:txBody>
          <a:bodyPr wrap="square" lIns="0" tIns="0" rIns="0" bIns="0" anchor="t">
            <a:normAutofit/>
          </a:bodyPr>
          <a:lstStyle>
            <a:defPPr algn="ctr">
              <a:defRPr sz="938" b="0">
                <a:solidFill>
                  <a:srgbClr val="526773"/>
                </a:solidFill>
                <a:latin typeface="Noto Sans JP"/>
                <a:ea typeface="Noto Sans JP"/>
                <a:cs typeface="Noto Sans JP"/>
              </a:defRPr>
            </a:defPPr>
          </a:lstStyle>
          <a:p>
            <a:pPr algn="ctr">
              <a:lnSpc>
                <a:spcPct val="105000"/>
              </a:lnSpc>
              <a:buNone/>
              <a:defRPr sz="938" b="0">
                <a:solidFill>
                  <a:srgbClr val="526773"/>
                </a:solidFill>
                <a:latin typeface="Noto Sans JP"/>
                <a:ea typeface="Noto Sans JP"/>
                <a:cs typeface="Noto Sans JP"/>
              </a:defRPr>
            </a:pPr>
            <a:r>
              <a:rPr sz="938" b="0">
                <a:solidFill>
                  <a:srgbClr val="526773"/>
                </a:solidFill>
                <a:latin typeface="Noto Sans JP"/>
                <a:ea typeface="Noto Sans JP"/>
                <a:cs typeface="Noto Sans JP"/>
              </a:rPr>
              <a:t>60％短縮後の残り</a:t>
            </a:r>
          </a:p>
        </p:txBody>
      </p:sp>
      <p:sp>
        <p:nvSpPr>
          <p:cNvPr id="76" name="正方形/長方形 75">
            <a:extLst>
              <a:ext uri="{FF2B5EF4-FFF2-40B4-BE49-F238E27FC236}">
                <a16:creationId xmlns:a16="http://schemas.microsoft.com/office/drawing/2014/main" id="{74FA9A28-31EC-2DB7-D4A7-C89FA25FE6C4}"/>
              </a:ext>
            </a:extLst>
          </p:cNvPr>
          <p:cNvSpPr>
            <a:spLocks noGrp="1"/>
          </p:cNvSpPr>
          <p:nvPr/>
        </p:nvSpPr>
        <p:spPr>
          <a:xfrm>
            <a:off x="9401175" y="3219450"/>
            <a:ext cx="1657350" cy="190500"/>
          </a:xfrm>
          <a:prstGeom prst="rect">
            <a:avLst/>
          </a:prstGeom>
          <a:noFill/>
          <a:ln w="0">
            <a:noFill/>
            <a:prstDash val="solid"/>
          </a:ln>
        </p:spPr>
        <p:txBody>
          <a:bodyPr wrap="square" lIns="0" tIns="0" rIns="0" bIns="0" anchor="t">
            <a:normAutofit/>
          </a:bodyPr>
          <a:lstStyle>
            <a:defPPr algn="ctr">
              <a:defRPr sz="938" b="0">
                <a:solidFill>
                  <a:srgbClr val="526773"/>
                </a:solidFill>
                <a:latin typeface="Noto Sans JP"/>
                <a:ea typeface="Noto Sans JP"/>
                <a:cs typeface="Noto Sans JP"/>
              </a:defRPr>
            </a:defPPr>
          </a:lstStyle>
          <a:p>
            <a:pPr algn="ctr">
              <a:lnSpc>
                <a:spcPct val="105000"/>
              </a:lnSpc>
              <a:buNone/>
              <a:defRPr sz="938" b="0">
                <a:solidFill>
                  <a:srgbClr val="526773"/>
                </a:solidFill>
                <a:latin typeface="Noto Sans JP"/>
                <a:ea typeface="Noto Sans JP"/>
                <a:cs typeface="Noto Sans JP"/>
              </a:defRPr>
            </a:pPr>
            <a:r>
              <a:rPr sz="938" b="0">
                <a:solidFill>
                  <a:srgbClr val="526773"/>
                </a:solidFill>
                <a:latin typeface="Noto Sans JP"/>
                <a:ea typeface="Noto Sans JP"/>
                <a:cs typeface="Noto Sans JP"/>
              </a:rPr>
              <a:t>導入後の試算</a:t>
            </a:r>
          </a:p>
        </p:txBody>
      </p:sp>
      <p:graphicFrame>
        <p:nvGraphicFramePr>
          <p:cNvPr id="78" name="Chart">
            <a:extLst>
              <a:ext uri="{FF2B5EF4-FFF2-40B4-BE49-F238E27FC236}">
                <a16:creationId xmlns:a16="http://schemas.microsoft.com/office/drawing/2014/main" id="{00EC1AF3-4AA4-1C9B-EC98-17591AB1F643}"/>
              </a:ext>
            </a:extLst>
          </p:cNvPr>
          <p:cNvGraphicFramePr/>
          <p:nvPr/>
        </p:nvGraphicFramePr>
        <p:xfrm>
          <a:off x="6381750" y="3533775"/>
          <a:ext cx="2886075" cy="1657350"/>
        </p:xfrm>
        <a:graphic>
          <a:graphicData uri="http://schemas.openxmlformats.org/drawingml/2006/chart">
            <c:chart xmlns:c="http://schemas.openxmlformats.org/drawingml/2006/chart" xmlns:r="http://schemas.openxmlformats.org/officeDocument/2006/relationships" r:id="rId2"/>
          </a:graphicData>
        </a:graphic>
      </p:graphicFrame>
      <p:sp>
        <p:nvSpPr>
          <p:cNvPr id="80" name="正方形/長方形 79">
            <a:extLst>
              <a:ext uri="{FF2B5EF4-FFF2-40B4-BE49-F238E27FC236}">
                <a16:creationId xmlns:a16="http://schemas.microsoft.com/office/drawing/2014/main" id="{734E4484-A426-F660-9F56-8F42F06451E3}"/>
              </a:ext>
            </a:extLst>
          </p:cNvPr>
          <p:cNvSpPr>
            <a:spLocks noGrp="1"/>
          </p:cNvSpPr>
          <p:nvPr/>
        </p:nvSpPr>
        <p:spPr>
          <a:xfrm>
            <a:off x="5391150" y="3781425"/>
            <a:ext cx="914400" cy="228600"/>
          </a:xfrm>
          <a:prstGeom prst="rect">
            <a:avLst/>
          </a:prstGeom>
          <a:noFill/>
          <a:ln w="0">
            <a:noFill/>
            <a:prstDash val="solid"/>
          </a:ln>
        </p:spPr>
        <p:txBody>
          <a:bodyPr wrap="square" lIns="0" tIns="0" rIns="0" bIns="0" anchor="ctr">
            <a:normAutofit/>
          </a:bodyPr>
          <a:lstStyle>
            <a:defPPr algn="r">
              <a:defRPr sz="1013" b="1">
                <a:solidFill>
                  <a:srgbClr val="007F86"/>
                </a:solidFill>
                <a:latin typeface="Noto Sans JP"/>
                <a:ea typeface="Noto Sans JP"/>
                <a:cs typeface="Noto Sans JP"/>
              </a:defRPr>
            </a:defPPr>
          </a:lstStyle>
          <a:p>
            <a:pPr algn="r">
              <a:lnSpc>
                <a:spcPct val="105000"/>
              </a:lnSpc>
              <a:buNone/>
              <a:defRPr sz="1013" b="1">
                <a:solidFill>
                  <a:srgbClr val="007F86"/>
                </a:solidFill>
                <a:latin typeface="Noto Sans JP"/>
                <a:ea typeface="Noto Sans JP"/>
                <a:cs typeface="Noto Sans JP"/>
              </a:defRPr>
            </a:pPr>
            <a:r>
              <a:rPr sz="1013" b="1" dirty="0">
                <a:solidFill>
                  <a:srgbClr val="007F86"/>
                </a:solidFill>
                <a:latin typeface="Noto Sans JP"/>
                <a:ea typeface="Noto Sans JP"/>
                <a:cs typeface="Noto Sans JP"/>
              </a:rPr>
              <a:t>60％短縮後</a:t>
            </a:r>
          </a:p>
        </p:txBody>
      </p:sp>
      <p:sp>
        <p:nvSpPr>
          <p:cNvPr id="82" name="正方形/長方形 81">
            <a:extLst>
              <a:ext uri="{FF2B5EF4-FFF2-40B4-BE49-F238E27FC236}">
                <a16:creationId xmlns:a16="http://schemas.microsoft.com/office/drawing/2014/main" id="{62749B23-A520-3EC9-3E9D-2462547817FA}"/>
              </a:ext>
            </a:extLst>
          </p:cNvPr>
          <p:cNvSpPr>
            <a:spLocks noGrp="1"/>
          </p:cNvSpPr>
          <p:nvPr/>
        </p:nvSpPr>
        <p:spPr>
          <a:xfrm>
            <a:off x="5391150" y="4362450"/>
            <a:ext cx="914400" cy="228600"/>
          </a:xfrm>
          <a:prstGeom prst="rect">
            <a:avLst/>
          </a:prstGeom>
          <a:noFill/>
          <a:ln w="0">
            <a:noFill/>
            <a:prstDash val="solid"/>
          </a:ln>
        </p:spPr>
        <p:txBody>
          <a:bodyPr wrap="square" lIns="0" tIns="0" rIns="0" bIns="0" anchor="ctr">
            <a:normAutofit/>
          </a:bodyPr>
          <a:lstStyle>
            <a:defPPr algn="r">
              <a:defRPr sz="1013" b="1">
                <a:solidFill>
                  <a:srgbClr val="0E2F45"/>
                </a:solidFill>
                <a:latin typeface="Noto Sans JP"/>
                <a:ea typeface="Noto Sans JP"/>
                <a:cs typeface="Noto Sans JP"/>
              </a:defRPr>
            </a:defPPr>
          </a:lstStyle>
          <a:p>
            <a:pPr algn="r">
              <a:lnSpc>
                <a:spcPct val="105000"/>
              </a:lnSpc>
              <a:buNone/>
              <a:defRPr sz="1013" b="1">
                <a:solidFill>
                  <a:srgbClr val="0E2F45"/>
                </a:solidFill>
                <a:latin typeface="Noto Sans JP"/>
                <a:ea typeface="Noto Sans JP"/>
                <a:cs typeface="Noto Sans JP"/>
              </a:defRPr>
            </a:pPr>
            <a:r>
              <a:rPr sz="1013" b="1">
                <a:solidFill>
                  <a:srgbClr val="0E2F45"/>
                </a:solidFill>
                <a:latin typeface="Noto Sans JP"/>
                <a:ea typeface="Noto Sans JP"/>
                <a:cs typeface="Noto Sans JP"/>
              </a:rPr>
              <a:t>現状の仮置き</a:t>
            </a:r>
          </a:p>
        </p:txBody>
      </p:sp>
      <p:sp>
        <p:nvSpPr>
          <p:cNvPr id="84" name="四角形: 角を丸くする 83">
            <a:extLst>
              <a:ext uri="{FF2B5EF4-FFF2-40B4-BE49-F238E27FC236}">
                <a16:creationId xmlns:a16="http://schemas.microsoft.com/office/drawing/2014/main" id="{C46DE4B2-FBD1-67B2-521F-45158D95B688}"/>
              </a:ext>
            </a:extLst>
          </p:cNvPr>
          <p:cNvSpPr>
            <a:spLocks noGrp="1"/>
          </p:cNvSpPr>
          <p:nvPr/>
        </p:nvSpPr>
        <p:spPr>
          <a:xfrm>
            <a:off x="9486900" y="3638550"/>
            <a:ext cx="1809750" cy="1438275"/>
          </a:xfrm>
          <a:prstGeom prst="roundRect">
            <a:avLst>
              <a:gd name="adj" fmla="val 7947"/>
            </a:avLst>
          </a:prstGeom>
          <a:solidFill>
            <a:srgbClr val="0E2F45"/>
          </a:solidFill>
          <a:ln w="9525">
            <a:solidFill>
              <a:srgbClr val="0E2F45"/>
            </a:solidFill>
            <a:prstDash val="solid"/>
          </a:ln>
        </p:spPr>
        <p:txBody>
          <a:bodyPr/>
          <a:lstStyle/>
          <a:p>
            <a:endParaRPr lang="ja-JP" altLang="en-US"/>
          </a:p>
        </p:txBody>
      </p:sp>
      <p:sp>
        <p:nvSpPr>
          <p:cNvPr id="86" name="正方形/長方形 85">
            <a:extLst>
              <a:ext uri="{FF2B5EF4-FFF2-40B4-BE49-F238E27FC236}">
                <a16:creationId xmlns:a16="http://schemas.microsoft.com/office/drawing/2014/main" id="{83AEA5EB-5A50-B33A-A80E-18A0F17632D5}"/>
              </a:ext>
            </a:extLst>
          </p:cNvPr>
          <p:cNvSpPr>
            <a:spLocks noGrp="1"/>
          </p:cNvSpPr>
          <p:nvPr/>
        </p:nvSpPr>
        <p:spPr>
          <a:xfrm>
            <a:off x="9677400" y="3829050"/>
            <a:ext cx="1428750" cy="228600"/>
          </a:xfrm>
          <a:prstGeom prst="rect">
            <a:avLst/>
          </a:prstGeom>
          <a:noFill/>
          <a:ln w="0">
            <a:noFill/>
            <a:prstDash val="solid"/>
          </a:ln>
        </p:spPr>
        <p:txBody>
          <a:bodyPr wrap="square" lIns="0" tIns="0" rIns="0" bIns="0" anchor="t">
            <a:normAutofit/>
          </a:bodyPr>
          <a:lstStyle>
            <a:defPPr algn="ctr">
              <a:defRPr sz="1050" b="1">
                <a:solidFill>
                  <a:srgbClr val="C9E4E5"/>
                </a:solidFill>
                <a:latin typeface="Noto Sans JP"/>
                <a:ea typeface="Noto Sans JP"/>
                <a:cs typeface="Noto Sans JP"/>
              </a:defRPr>
            </a:defPPr>
          </a:lstStyle>
          <a:p>
            <a:pPr algn="ctr">
              <a:lnSpc>
                <a:spcPct val="105000"/>
              </a:lnSpc>
              <a:buNone/>
              <a:defRPr sz="1050" b="1">
                <a:solidFill>
                  <a:srgbClr val="C9E4E5"/>
                </a:solidFill>
                <a:latin typeface="Noto Sans JP"/>
                <a:ea typeface="Noto Sans JP"/>
                <a:cs typeface="Noto Sans JP"/>
              </a:defRPr>
            </a:pPr>
            <a:r>
              <a:rPr sz="1050" b="1">
                <a:solidFill>
                  <a:srgbClr val="C9E4E5"/>
                </a:solidFill>
                <a:latin typeface="Noto Sans JP"/>
                <a:ea typeface="Noto Sans JP"/>
                <a:cs typeface="Noto Sans JP"/>
              </a:rPr>
              <a:t>1件当たり</a:t>
            </a:r>
          </a:p>
        </p:txBody>
      </p:sp>
      <p:sp>
        <p:nvSpPr>
          <p:cNvPr id="88" name="正方形/長方形 87">
            <a:extLst>
              <a:ext uri="{FF2B5EF4-FFF2-40B4-BE49-F238E27FC236}">
                <a16:creationId xmlns:a16="http://schemas.microsoft.com/office/drawing/2014/main" id="{B11721C1-32B9-91BC-99D4-2013865D4786}"/>
              </a:ext>
            </a:extLst>
          </p:cNvPr>
          <p:cNvSpPr>
            <a:spLocks noGrp="1"/>
          </p:cNvSpPr>
          <p:nvPr/>
        </p:nvSpPr>
        <p:spPr>
          <a:xfrm>
            <a:off x="9677400" y="4105275"/>
            <a:ext cx="1428750" cy="514350"/>
          </a:xfrm>
          <a:prstGeom prst="rect">
            <a:avLst/>
          </a:prstGeom>
          <a:noFill/>
          <a:ln w="0">
            <a:noFill/>
            <a:prstDash val="solid"/>
          </a:ln>
        </p:spPr>
        <p:txBody>
          <a:bodyPr wrap="square" lIns="0" tIns="0" rIns="0" bIns="0" anchor="t">
            <a:normAutofit/>
          </a:bodyPr>
          <a:lstStyle>
            <a:defPPr algn="ctr">
              <a:defRPr sz="2925" b="1">
                <a:solidFill>
                  <a:srgbClr val="FFFFFF"/>
                </a:solidFill>
                <a:latin typeface="Noto Sans JP"/>
                <a:ea typeface="Noto Sans JP"/>
                <a:cs typeface="Noto Sans JP"/>
              </a:defRPr>
            </a:defPPr>
          </a:lstStyle>
          <a:p>
            <a:pPr algn="ctr">
              <a:lnSpc>
                <a:spcPct val="105000"/>
              </a:lnSpc>
              <a:buNone/>
              <a:defRPr sz="2925" b="1">
                <a:solidFill>
                  <a:srgbClr val="FFFFFF"/>
                </a:solidFill>
                <a:latin typeface="Noto Sans JP"/>
                <a:ea typeface="Noto Sans JP"/>
                <a:cs typeface="Noto Sans JP"/>
              </a:defRPr>
            </a:pPr>
            <a:r>
              <a:rPr sz="2925" b="1">
                <a:solidFill>
                  <a:srgbClr val="FFFFFF"/>
                </a:solidFill>
                <a:latin typeface="Noto Sans JP"/>
                <a:ea typeface="Noto Sans JP"/>
                <a:cs typeface="Noto Sans JP"/>
              </a:rPr>
              <a:t>24分</a:t>
            </a:r>
          </a:p>
        </p:txBody>
      </p:sp>
      <p:sp>
        <p:nvSpPr>
          <p:cNvPr id="90" name="正方形/長方形 89">
            <a:extLst>
              <a:ext uri="{FF2B5EF4-FFF2-40B4-BE49-F238E27FC236}">
                <a16:creationId xmlns:a16="http://schemas.microsoft.com/office/drawing/2014/main" id="{C188279D-F83B-ADCA-FD90-D38D4F602770}"/>
              </a:ext>
            </a:extLst>
          </p:cNvPr>
          <p:cNvSpPr>
            <a:spLocks noGrp="1"/>
          </p:cNvSpPr>
          <p:nvPr/>
        </p:nvSpPr>
        <p:spPr>
          <a:xfrm>
            <a:off x="9677400" y="4638675"/>
            <a:ext cx="1428750" cy="285750"/>
          </a:xfrm>
          <a:prstGeom prst="rect">
            <a:avLst/>
          </a:prstGeom>
          <a:noFill/>
          <a:ln w="0">
            <a:noFill/>
            <a:prstDash val="solid"/>
          </a:ln>
        </p:spPr>
        <p:txBody>
          <a:bodyPr wrap="square" lIns="0" tIns="0" rIns="0" bIns="0" anchor="t">
            <a:normAutofit/>
          </a:bodyPr>
          <a:lstStyle>
            <a:defPPr algn="ctr">
              <a:defRPr sz="1350" b="1">
                <a:solidFill>
                  <a:srgbClr val="FFFFFF"/>
                </a:solidFill>
                <a:latin typeface="Noto Sans JP"/>
                <a:ea typeface="Noto Sans JP"/>
                <a:cs typeface="Noto Sans JP"/>
              </a:defRPr>
            </a:defPPr>
          </a:lstStyle>
          <a:p>
            <a:pPr algn="ctr">
              <a:lnSpc>
                <a:spcPct val="105000"/>
              </a:lnSpc>
              <a:buNone/>
              <a:defRPr sz="1350" b="1">
                <a:solidFill>
                  <a:srgbClr val="FFFFFF"/>
                </a:solidFill>
                <a:latin typeface="Noto Sans JP"/>
                <a:ea typeface="Noto Sans JP"/>
                <a:cs typeface="Noto Sans JP"/>
              </a:defRPr>
            </a:pPr>
            <a:r>
              <a:rPr sz="1350" b="1">
                <a:solidFill>
                  <a:srgbClr val="FFFFFF"/>
                </a:solidFill>
                <a:latin typeface="Noto Sans JP"/>
                <a:ea typeface="Noto Sans JP"/>
                <a:cs typeface="Noto Sans JP"/>
              </a:rPr>
              <a:t>削減</a:t>
            </a:r>
          </a:p>
        </p:txBody>
      </p:sp>
      <p:sp>
        <p:nvSpPr>
          <p:cNvPr id="92" name="正方形/長方形 91">
            <a:extLst>
              <a:ext uri="{FF2B5EF4-FFF2-40B4-BE49-F238E27FC236}">
                <a16:creationId xmlns:a16="http://schemas.microsoft.com/office/drawing/2014/main" id="{C97A66C3-0EE6-A1CB-0439-234199E89372}"/>
              </a:ext>
            </a:extLst>
          </p:cNvPr>
          <p:cNvSpPr>
            <a:spLocks noGrp="1"/>
          </p:cNvSpPr>
          <p:nvPr/>
        </p:nvSpPr>
        <p:spPr>
          <a:xfrm>
            <a:off x="5391150" y="5353050"/>
            <a:ext cx="5905500" cy="219075"/>
          </a:xfrm>
          <a:prstGeom prst="rect">
            <a:avLst/>
          </a:prstGeom>
          <a:noFill/>
          <a:ln w="0">
            <a:noFill/>
            <a:prstDash val="solid"/>
          </a:ln>
        </p:spPr>
        <p:txBody>
          <a:bodyPr wrap="square" lIns="0" tIns="0" rIns="0" bIns="0" anchor="t">
            <a:normAutofit/>
          </a:bodyPr>
          <a:lstStyle>
            <a:defPPr algn="l">
              <a:defRPr sz="1125" b="1">
                <a:solidFill>
                  <a:srgbClr val="0E2F45"/>
                </a:solidFill>
                <a:latin typeface="Noto Sans JP"/>
                <a:ea typeface="Noto Sans JP"/>
                <a:cs typeface="Noto Sans JP"/>
              </a:defRPr>
            </a:defPPr>
          </a:lstStyle>
          <a:p>
            <a:pPr algn="l">
              <a:lnSpc>
                <a:spcPct val="105000"/>
              </a:lnSpc>
              <a:buNone/>
              <a:defRPr sz="1125" b="1">
                <a:solidFill>
                  <a:srgbClr val="0E2F45"/>
                </a:solidFill>
                <a:latin typeface="Noto Sans JP"/>
                <a:ea typeface="Noto Sans JP"/>
                <a:cs typeface="Noto Sans JP"/>
              </a:defRPr>
            </a:pPr>
            <a:r>
              <a:rPr sz="1125" b="1" dirty="0" err="1">
                <a:solidFill>
                  <a:srgbClr val="0E2F45"/>
                </a:solidFill>
                <a:latin typeface="Noto Sans JP"/>
                <a:ea typeface="Noto Sans JP"/>
                <a:cs typeface="Noto Sans JP"/>
              </a:rPr>
              <a:t>年間の検索件数</a:t>
            </a:r>
            <a:r>
              <a:rPr lang="ja-JP" altLang="en-US" sz="1125" b="1" dirty="0">
                <a:solidFill>
                  <a:srgbClr val="0E2F45"/>
                </a:solidFill>
                <a:latin typeface="Noto Sans JP"/>
                <a:ea typeface="Noto Sans JP"/>
                <a:cs typeface="Noto Sans JP"/>
              </a:rPr>
              <a:t>別の削減時間</a:t>
            </a:r>
            <a:endParaRPr sz="1125" b="1" dirty="0">
              <a:solidFill>
                <a:srgbClr val="0E2F45"/>
              </a:solidFill>
              <a:latin typeface="Noto Sans JP"/>
              <a:ea typeface="Noto Sans JP"/>
              <a:cs typeface="Noto Sans JP"/>
            </a:endParaRPr>
          </a:p>
        </p:txBody>
      </p:sp>
      <p:sp>
        <p:nvSpPr>
          <p:cNvPr id="94" name="直線コネクタ 93">
            <a:extLst>
              <a:ext uri="{FF2B5EF4-FFF2-40B4-BE49-F238E27FC236}">
                <a16:creationId xmlns:a16="http://schemas.microsoft.com/office/drawing/2014/main" id="{A4416B43-806B-324D-6F91-794E51B81122}"/>
              </a:ext>
            </a:extLst>
          </p:cNvPr>
          <p:cNvSpPr>
            <a:spLocks noGrp="1"/>
          </p:cNvSpPr>
          <p:nvPr/>
        </p:nvSpPr>
        <p:spPr>
          <a:xfrm>
            <a:off x="5391150" y="5629275"/>
            <a:ext cx="5905500" cy="0"/>
          </a:xfrm>
          <a:prstGeom prst="line">
            <a:avLst/>
          </a:prstGeom>
          <a:noFill/>
          <a:ln w="9525">
            <a:solidFill>
              <a:srgbClr val="C7D4DA"/>
            </a:solidFill>
            <a:prstDash val="solid"/>
          </a:ln>
        </p:spPr>
        <p:txBody>
          <a:bodyPr/>
          <a:lstStyle/>
          <a:p>
            <a:endParaRPr lang="ja-JP" altLang="en-US"/>
          </a:p>
        </p:txBody>
      </p:sp>
      <p:sp>
        <p:nvSpPr>
          <p:cNvPr id="96" name="正方形/長方形 95">
            <a:extLst>
              <a:ext uri="{FF2B5EF4-FFF2-40B4-BE49-F238E27FC236}">
                <a16:creationId xmlns:a16="http://schemas.microsoft.com/office/drawing/2014/main" id="{89FFF08F-9D1F-B1BC-ED60-BA33CEC1E6DD}"/>
              </a:ext>
            </a:extLst>
          </p:cNvPr>
          <p:cNvSpPr>
            <a:spLocks noGrp="1"/>
          </p:cNvSpPr>
          <p:nvPr/>
        </p:nvSpPr>
        <p:spPr>
          <a:xfrm>
            <a:off x="5391150" y="5715000"/>
            <a:ext cx="1866900" cy="190500"/>
          </a:xfrm>
          <a:prstGeom prst="rect">
            <a:avLst/>
          </a:prstGeom>
          <a:noFill/>
          <a:ln w="0">
            <a:noFill/>
            <a:prstDash val="solid"/>
          </a:ln>
        </p:spPr>
        <p:txBody>
          <a:bodyPr wrap="square" lIns="0" tIns="0" rIns="0" bIns="0" anchor="t">
            <a:normAutofit/>
          </a:bodyPr>
          <a:lstStyle>
            <a:defPPr algn="ctr">
              <a:defRPr sz="975" b="1">
                <a:solidFill>
                  <a:srgbClr val="526773"/>
                </a:solidFill>
                <a:latin typeface="Noto Sans JP"/>
                <a:ea typeface="Noto Sans JP"/>
                <a:cs typeface="Noto Sans JP"/>
              </a:defRPr>
            </a:defPPr>
          </a:lstStyle>
          <a:p>
            <a:pPr algn="ctr">
              <a:lnSpc>
                <a:spcPct val="105000"/>
              </a:lnSpc>
              <a:buNone/>
              <a:defRPr sz="975" b="1">
                <a:solidFill>
                  <a:srgbClr val="526773"/>
                </a:solidFill>
                <a:latin typeface="Noto Sans JP"/>
                <a:ea typeface="Noto Sans JP"/>
                <a:cs typeface="Noto Sans JP"/>
              </a:defRPr>
            </a:pPr>
            <a:r>
              <a:rPr sz="975" b="1">
                <a:solidFill>
                  <a:srgbClr val="526773"/>
                </a:solidFill>
                <a:latin typeface="Noto Sans JP"/>
                <a:ea typeface="Noto Sans JP"/>
                <a:cs typeface="Noto Sans JP"/>
              </a:rPr>
              <a:t>1,000件</a:t>
            </a:r>
          </a:p>
        </p:txBody>
      </p:sp>
      <p:sp>
        <p:nvSpPr>
          <p:cNvPr id="98" name="正方形/長方形 97">
            <a:extLst>
              <a:ext uri="{FF2B5EF4-FFF2-40B4-BE49-F238E27FC236}">
                <a16:creationId xmlns:a16="http://schemas.microsoft.com/office/drawing/2014/main" id="{80D8068A-553A-4DB9-6DD9-5121E004D14B}"/>
              </a:ext>
            </a:extLst>
          </p:cNvPr>
          <p:cNvSpPr>
            <a:spLocks noGrp="1"/>
          </p:cNvSpPr>
          <p:nvPr/>
        </p:nvSpPr>
        <p:spPr>
          <a:xfrm>
            <a:off x="5391150" y="5943600"/>
            <a:ext cx="1866900" cy="266700"/>
          </a:xfrm>
          <a:prstGeom prst="rect">
            <a:avLst/>
          </a:prstGeom>
          <a:noFill/>
          <a:ln w="0">
            <a:noFill/>
            <a:prstDash val="solid"/>
          </a:ln>
        </p:spPr>
        <p:txBody>
          <a:bodyPr wrap="square" lIns="0" tIns="0" rIns="0" bIns="0" anchor="t">
            <a:normAutofit/>
          </a:bodyPr>
          <a:lstStyle>
            <a:defPPr algn="ctr">
              <a:defRPr sz="1350" b="1">
                <a:solidFill>
                  <a:srgbClr val="007F86"/>
                </a:solidFill>
                <a:latin typeface="Noto Sans JP"/>
                <a:ea typeface="Noto Sans JP"/>
                <a:cs typeface="Noto Sans JP"/>
              </a:defRPr>
            </a:defPPr>
          </a:lstStyle>
          <a:p>
            <a:pPr algn="ctr">
              <a:lnSpc>
                <a:spcPct val="105000"/>
              </a:lnSpc>
              <a:buNone/>
              <a:defRPr sz="1350" b="1">
                <a:solidFill>
                  <a:srgbClr val="007F86"/>
                </a:solidFill>
                <a:latin typeface="Noto Sans JP"/>
                <a:ea typeface="Noto Sans JP"/>
                <a:cs typeface="Noto Sans JP"/>
              </a:defRPr>
            </a:pPr>
            <a:r>
              <a:rPr sz="1350" b="1">
                <a:solidFill>
                  <a:srgbClr val="007F86"/>
                </a:solidFill>
                <a:latin typeface="Noto Sans JP"/>
                <a:ea typeface="Noto Sans JP"/>
                <a:cs typeface="Noto Sans JP"/>
              </a:rPr>
              <a:t>400時間／年</a:t>
            </a:r>
          </a:p>
        </p:txBody>
      </p:sp>
      <p:sp>
        <p:nvSpPr>
          <p:cNvPr id="100" name="直線コネクタ 99">
            <a:extLst>
              <a:ext uri="{FF2B5EF4-FFF2-40B4-BE49-F238E27FC236}">
                <a16:creationId xmlns:a16="http://schemas.microsoft.com/office/drawing/2014/main" id="{56F9550F-E182-B2CC-09D5-F80B9CB1FB40}"/>
              </a:ext>
            </a:extLst>
          </p:cNvPr>
          <p:cNvSpPr>
            <a:spLocks noGrp="1"/>
          </p:cNvSpPr>
          <p:nvPr/>
        </p:nvSpPr>
        <p:spPr>
          <a:xfrm>
            <a:off x="7305675" y="5715000"/>
            <a:ext cx="0" cy="0"/>
          </a:xfrm>
          <a:prstGeom prst="line">
            <a:avLst/>
          </a:prstGeom>
          <a:noFill/>
          <a:ln w="9525">
            <a:solidFill>
              <a:srgbClr val="C7D4DA"/>
            </a:solidFill>
            <a:prstDash val="solid"/>
          </a:ln>
        </p:spPr>
        <p:txBody>
          <a:bodyPr/>
          <a:lstStyle/>
          <a:p>
            <a:endParaRPr lang="ja-JP" altLang="en-US"/>
          </a:p>
        </p:txBody>
      </p:sp>
      <p:sp>
        <p:nvSpPr>
          <p:cNvPr id="102" name="正方形/長方形 101">
            <a:extLst>
              <a:ext uri="{FF2B5EF4-FFF2-40B4-BE49-F238E27FC236}">
                <a16:creationId xmlns:a16="http://schemas.microsoft.com/office/drawing/2014/main" id="{03266679-DB03-1475-5F8E-006786006F98}"/>
              </a:ext>
            </a:extLst>
          </p:cNvPr>
          <p:cNvSpPr>
            <a:spLocks noGrp="1"/>
          </p:cNvSpPr>
          <p:nvPr/>
        </p:nvSpPr>
        <p:spPr>
          <a:xfrm>
            <a:off x="7358063" y="5715000"/>
            <a:ext cx="1866900" cy="190500"/>
          </a:xfrm>
          <a:prstGeom prst="rect">
            <a:avLst/>
          </a:prstGeom>
          <a:noFill/>
          <a:ln w="0">
            <a:noFill/>
            <a:prstDash val="solid"/>
          </a:ln>
        </p:spPr>
        <p:txBody>
          <a:bodyPr wrap="square" lIns="0" tIns="0" rIns="0" bIns="0" anchor="t">
            <a:normAutofit/>
          </a:bodyPr>
          <a:lstStyle>
            <a:defPPr algn="ctr">
              <a:defRPr sz="975" b="1">
                <a:solidFill>
                  <a:srgbClr val="526773"/>
                </a:solidFill>
                <a:latin typeface="Noto Sans JP"/>
                <a:ea typeface="Noto Sans JP"/>
                <a:cs typeface="Noto Sans JP"/>
              </a:defRPr>
            </a:defPPr>
          </a:lstStyle>
          <a:p>
            <a:pPr algn="ctr">
              <a:lnSpc>
                <a:spcPct val="105000"/>
              </a:lnSpc>
              <a:buNone/>
              <a:defRPr sz="975" b="1">
                <a:solidFill>
                  <a:srgbClr val="526773"/>
                </a:solidFill>
                <a:latin typeface="Noto Sans JP"/>
                <a:ea typeface="Noto Sans JP"/>
                <a:cs typeface="Noto Sans JP"/>
              </a:defRPr>
            </a:pPr>
            <a:r>
              <a:rPr sz="975" b="1">
                <a:solidFill>
                  <a:srgbClr val="526773"/>
                </a:solidFill>
                <a:latin typeface="Noto Sans JP"/>
                <a:ea typeface="Noto Sans JP"/>
                <a:cs typeface="Noto Sans JP"/>
              </a:rPr>
              <a:t>5,000件</a:t>
            </a:r>
          </a:p>
        </p:txBody>
      </p:sp>
      <p:sp>
        <p:nvSpPr>
          <p:cNvPr id="104" name="正方形/長方形 103">
            <a:extLst>
              <a:ext uri="{FF2B5EF4-FFF2-40B4-BE49-F238E27FC236}">
                <a16:creationId xmlns:a16="http://schemas.microsoft.com/office/drawing/2014/main" id="{CD45CAE5-8C4D-3537-9511-DD971B429CEA}"/>
              </a:ext>
            </a:extLst>
          </p:cNvPr>
          <p:cNvSpPr>
            <a:spLocks noGrp="1"/>
          </p:cNvSpPr>
          <p:nvPr/>
        </p:nvSpPr>
        <p:spPr>
          <a:xfrm>
            <a:off x="7358063" y="5943600"/>
            <a:ext cx="1866900" cy="266700"/>
          </a:xfrm>
          <a:prstGeom prst="rect">
            <a:avLst/>
          </a:prstGeom>
          <a:noFill/>
          <a:ln w="0">
            <a:noFill/>
            <a:prstDash val="solid"/>
          </a:ln>
        </p:spPr>
        <p:txBody>
          <a:bodyPr wrap="square" lIns="0" tIns="0" rIns="0" bIns="0" anchor="t">
            <a:normAutofit/>
          </a:bodyPr>
          <a:lstStyle>
            <a:defPPr algn="ctr">
              <a:defRPr sz="1350" b="1">
                <a:solidFill>
                  <a:srgbClr val="007F86"/>
                </a:solidFill>
                <a:latin typeface="Noto Sans JP"/>
                <a:ea typeface="Noto Sans JP"/>
                <a:cs typeface="Noto Sans JP"/>
              </a:defRPr>
            </a:defPPr>
          </a:lstStyle>
          <a:p>
            <a:pPr algn="ctr">
              <a:lnSpc>
                <a:spcPct val="105000"/>
              </a:lnSpc>
              <a:buNone/>
              <a:defRPr sz="1350" b="1">
                <a:solidFill>
                  <a:srgbClr val="007F86"/>
                </a:solidFill>
                <a:latin typeface="Noto Sans JP"/>
                <a:ea typeface="Noto Sans JP"/>
                <a:cs typeface="Noto Sans JP"/>
              </a:defRPr>
            </a:pPr>
            <a:r>
              <a:rPr sz="1350" b="1">
                <a:solidFill>
                  <a:srgbClr val="007F86"/>
                </a:solidFill>
                <a:latin typeface="Noto Sans JP"/>
                <a:ea typeface="Noto Sans JP"/>
                <a:cs typeface="Noto Sans JP"/>
              </a:rPr>
              <a:t>2,000時間／年</a:t>
            </a:r>
          </a:p>
        </p:txBody>
      </p:sp>
      <p:sp>
        <p:nvSpPr>
          <p:cNvPr id="106" name="直線コネクタ 105">
            <a:extLst>
              <a:ext uri="{FF2B5EF4-FFF2-40B4-BE49-F238E27FC236}">
                <a16:creationId xmlns:a16="http://schemas.microsoft.com/office/drawing/2014/main" id="{E943C23A-278B-01CF-789F-ECFC786B06F8}"/>
              </a:ext>
            </a:extLst>
          </p:cNvPr>
          <p:cNvSpPr>
            <a:spLocks noGrp="1"/>
          </p:cNvSpPr>
          <p:nvPr/>
        </p:nvSpPr>
        <p:spPr>
          <a:xfrm>
            <a:off x="9272588" y="5715000"/>
            <a:ext cx="0" cy="0"/>
          </a:xfrm>
          <a:prstGeom prst="line">
            <a:avLst/>
          </a:prstGeom>
          <a:noFill/>
          <a:ln w="9525">
            <a:solidFill>
              <a:srgbClr val="C7D4DA"/>
            </a:solidFill>
            <a:prstDash val="solid"/>
          </a:ln>
        </p:spPr>
        <p:txBody>
          <a:bodyPr/>
          <a:lstStyle/>
          <a:p>
            <a:endParaRPr lang="ja-JP" altLang="en-US"/>
          </a:p>
        </p:txBody>
      </p:sp>
      <p:sp>
        <p:nvSpPr>
          <p:cNvPr id="108" name="正方形/長方形 107">
            <a:extLst>
              <a:ext uri="{FF2B5EF4-FFF2-40B4-BE49-F238E27FC236}">
                <a16:creationId xmlns:a16="http://schemas.microsoft.com/office/drawing/2014/main" id="{2ED0F103-24A7-86E4-B6B1-D58A1048B15B}"/>
              </a:ext>
            </a:extLst>
          </p:cNvPr>
          <p:cNvSpPr>
            <a:spLocks noGrp="1"/>
          </p:cNvSpPr>
          <p:nvPr/>
        </p:nvSpPr>
        <p:spPr>
          <a:xfrm>
            <a:off x="9324975" y="5715000"/>
            <a:ext cx="1866900" cy="190500"/>
          </a:xfrm>
          <a:prstGeom prst="rect">
            <a:avLst/>
          </a:prstGeom>
          <a:noFill/>
          <a:ln w="0">
            <a:noFill/>
            <a:prstDash val="solid"/>
          </a:ln>
        </p:spPr>
        <p:txBody>
          <a:bodyPr wrap="square" lIns="0" tIns="0" rIns="0" bIns="0" anchor="t">
            <a:normAutofit/>
          </a:bodyPr>
          <a:lstStyle>
            <a:defPPr algn="ctr">
              <a:defRPr sz="975" b="1">
                <a:solidFill>
                  <a:srgbClr val="526773"/>
                </a:solidFill>
                <a:latin typeface="Noto Sans JP"/>
                <a:ea typeface="Noto Sans JP"/>
                <a:cs typeface="Noto Sans JP"/>
              </a:defRPr>
            </a:defPPr>
          </a:lstStyle>
          <a:p>
            <a:pPr algn="ctr">
              <a:lnSpc>
                <a:spcPct val="105000"/>
              </a:lnSpc>
              <a:buNone/>
              <a:defRPr sz="975" b="1">
                <a:solidFill>
                  <a:srgbClr val="526773"/>
                </a:solidFill>
                <a:latin typeface="Noto Sans JP"/>
                <a:ea typeface="Noto Sans JP"/>
                <a:cs typeface="Noto Sans JP"/>
              </a:defRPr>
            </a:pPr>
            <a:r>
              <a:rPr sz="975" b="1">
                <a:solidFill>
                  <a:srgbClr val="526773"/>
                </a:solidFill>
                <a:latin typeface="Noto Sans JP"/>
                <a:ea typeface="Noto Sans JP"/>
                <a:cs typeface="Noto Sans JP"/>
              </a:rPr>
              <a:t>10,000件</a:t>
            </a:r>
          </a:p>
        </p:txBody>
      </p:sp>
      <p:sp>
        <p:nvSpPr>
          <p:cNvPr id="110" name="正方形/長方形 109">
            <a:extLst>
              <a:ext uri="{FF2B5EF4-FFF2-40B4-BE49-F238E27FC236}">
                <a16:creationId xmlns:a16="http://schemas.microsoft.com/office/drawing/2014/main" id="{4B779F60-F554-7F10-6070-33BBA5083D74}"/>
              </a:ext>
            </a:extLst>
          </p:cNvPr>
          <p:cNvSpPr>
            <a:spLocks noGrp="1"/>
          </p:cNvSpPr>
          <p:nvPr/>
        </p:nvSpPr>
        <p:spPr>
          <a:xfrm>
            <a:off x="9324975" y="5943600"/>
            <a:ext cx="1866900" cy="266700"/>
          </a:xfrm>
          <a:prstGeom prst="rect">
            <a:avLst/>
          </a:prstGeom>
          <a:noFill/>
          <a:ln w="0">
            <a:noFill/>
            <a:prstDash val="solid"/>
          </a:ln>
        </p:spPr>
        <p:txBody>
          <a:bodyPr wrap="square" lIns="0" tIns="0" rIns="0" bIns="0" anchor="t">
            <a:normAutofit/>
          </a:bodyPr>
          <a:lstStyle>
            <a:defPPr algn="ctr">
              <a:defRPr sz="1350" b="1">
                <a:solidFill>
                  <a:srgbClr val="007F86"/>
                </a:solidFill>
                <a:latin typeface="Noto Sans JP"/>
                <a:ea typeface="Noto Sans JP"/>
                <a:cs typeface="Noto Sans JP"/>
              </a:defRPr>
            </a:defPPr>
          </a:lstStyle>
          <a:p>
            <a:pPr algn="ctr">
              <a:lnSpc>
                <a:spcPct val="105000"/>
              </a:lnSpc>
              <a:buNone/>
              <a:defRPr sz="1350" b="1">
                <a:solidFill>
                  <a:srgbClr val="007F86"/>
                </a:solidFill>
                <a:latin typeface="Noto Sans JP"/>
                <a:ea typeface="Noto Sans JP"/>
                <a:cs typeface="Noto Sans JP"/>
              </a:defRPr>
            </a:pPr>
            <a:r>
              <a:rPr sz="1350" b="1">
                <a:solidFill>
                  <a:srgbClr val="007F86"/>
                </a:solidFill>
                <a:latin typeface="Noto Sans JP"/>
                <a:ea typeface="Noto Sans JP"/>
                <a:cs typeface="Noto Sans JP"/>
              </a:rPr>
              <a:t>4,000時間／年</a:t>
            </a:r>
          </a:p>
        </p:txBody>
      </p:sp>
    </p:spTree>
    <p:extLst>
      <p:ext uri="{BB962C8B-B14F-4D97-AF65-F5344CB8AC3E}">
        <p14:creationId xmlns:p14="http://schemas.microsoft.com/office/powerpoint/2010/main" val="2250407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E4C78-5C15-0AE6-500C-F89B2F83A34D}"/>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ACA981D-AF6D-BA84-B6FA-717C5208A3BB}"/>
              </a:ext>
            </a:extLst>
          </p:cNvPr>
          <p:cNvSpPr txBox="1"/>
          <p:nvPr/>
        </p:nvSpPr>
        <p:spPr>
          <a:xfrm>
            <a:off x="279133" y="96252"/>
            <a:ext cx="2492990" cy="369332"/>
          </a:xfrm>
          <a:prstGeom prst="rect">
            <a:avLst/>
          </a:prstGeom>
          <a:noFill/>
        </p:spPr>
        <p:txBody>
          <a:bodyPr wrap="none" rtlCol="0">
            <a:spAutoFit/>
          </a:bodyPr>
          <a:lstStyle/>
          <a:p>
            <a:r>
              <a:rPr kumimoji="1" lang="ja-JP" altLang="en-US" dirty="0"/>
              <a:t>公開情報から費用推定</a:t>
            </a:r>
          </a:p>
        </p:txBody>
      </p:sp>
      <p:sp>
        <p:nvSpPr>
          <p:cNvPr id="4" name="テキスト ボックス 3">
            <a:extLst>
              <a:ext uri="{FF2B5EF4-FFF2-40B4-BE49-F238E27FC236}">
                <a16:creationId xmlns:a16="http://schemas.microsoft.com/office/drawing/2014/main" id="{7B5885E7-F34E-EBB3-6D2F-42778205A365}"/>
              </a:ext>
            </a:extLst>
          </p:cNvPr>
          <p:cNvSpPr txBox="1"/>
          <p:nvPr/>
        </p:nvSpPr>
        <p:spPr>
          <a:xfrm>
            <a:off x="285869" y="1560978"/>
            <a:ext cx="10984097" cy="461665"/>
          </a:xfrm>
          <a:prstGeom prst="rect">
            <a:avLst/>
          </a:prstGeom>
          <a:noFill/>
        </p:spPr>
        <p:txBody>
          <a:bodyPr wrap="none" rtlCol="0">
            <a:spAutoFit/>
          </a:bodyPr>
          <a:lstStyle/>
          <a:p>
            <a:r>
              <a:rPr kumimoji="1" lang="ja-JP" altLang="en-US" sz="2400" b="1" dirty="0"/>
              <a:t>デジタル庁・厚生労働省による「生成</a:t>
            </a:r>
            <a:r>
              <a:rPr kumimoji="1" lang="en-US" altLang="ja-JP" sz="2400" b="1" dirty="0"/>
              <a:t>AI</a:t>
            </a:r>
            <a:r>
              <a:rPr kumimoji="1" lang="ja-JP" altLang="en-US" sz="2400" b="1" dirty="0"/>
              <a:t>を活用した開示請求等事務の効率化」</a:t>
            </a:r>
          </a:p>
        </p:txBody>
      </p:sp>
      <p:cxnSp>
        <p:nvCxnSpPr>
          <p:cNvPr id="13" name="直線コネクタ 12">
            <a:extLst>
              <a:ext uri="{FF2B5EF4-FFF2-40B4-BE49-F238E27FC236}">
                <a16:creationId xmlns:a16="http://schemas.microsoft.com/office/drawing/2014/main" id="{BD8278FF-C429-59A2-AFA8-0C8F1AFEAFFA}"/>
              </a:ext>
            </a:extLst>
          </p:cNvPr>
          <p:cNvCxnSpPr>
            <a:cxnSpLocks/>
          </p:cNvCxnSpPr>
          <p:nvPr/>
        </p:nvCxnSpPr>
        <p:spPr>
          <a:xfrm>
            <a:off x="375139" y="2481476"/>
            <a:ext cx="548028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2557B302-A572-0DEC-2DCE-DD8407E05BC1}"/>
              </a:ext>
            </a:extLst>
          </p:cNvPr>
          <p:cNvSpPr txBox="1"/>
          <p:nvPr/>
        </p:nvSpPr>
        <p:spPr>
          <a:xfrm>
            <a:off x="285869" y="873738"/>
            <a:ext cx="10327702" cy="369332"/>
          </a:xfrm>
          <a:prstGeom prst="rect">
            <a:avLst/>
          </a:prstGeom>
          <a:noFill/>
        </p:spPr>
        <p:txBody>
          <a:bodyPr wrap="square" rtlCol="0">
            <a:spAutoFit/>
          </a:bodyPr>
          <a:lstStyle/>
          <a:p>
            <a:r>
              <a:rPr kumimoji="1" lang="ja-JP" altLang="en-US" dirty="0">
                <a:solidFill>
                  <a:srgbClr val="FF0000"/>
                </a:solidFill>
              </a:rPr>
              <a:t>税関の審査の公開情報がないため公開された</a:t>
            </a:r>
            <a:r>
              <a:rPr kumimoji="1" lang="en-US" altLang="ja-JP" dirty="0">
                <a:solidFill>
                  <a:srgbClr val="FF0000"/>
                </a:solidFill>
              </a:rPr>
              <a:t>Ai</a:t>
            </a:r>
            <a:r>
              <a:rPr kumimoji="1" lang="ja-JP" altLang="en-US" dirty="0">
                <a:solidFill>
                  <a:srgbClr val="FF0000"/>
                </a:solidFill>
              </a:rPr>
              <a:t>を活用した行政の業務支援案件を基準に推定する</a:t>
            </a:r>
          </a:p>
        </p:txBody>
      </p:sp>
      <p:sp>
        <p:nvSpPr>
          <p:cNvPr id="17" name="テキスト ボックス 16">
            <a:extLst>
              <a:ext uri="{FF2B5EF4-FFF2-40B4-BE49-F238E27FC236}">
                <a16:creationId xmlns:a16="http://schemas.microsoft.com/office/drawing/2014/main" id="{C9FDA149-1ED1-380A-DF56-E329BB060074}"/>
              </a:ext>
            </a:extLst>
          </p:cNvPr>
          <p:cNvSpPr txBox="1"/>
          <p:nvPr/>
        </p:nvSpPr>
        <p:spPr>
          <a:xfrm>
            <a:off x="334406" y="2629405"/>
            <a:ext cx="1877437" cy="430887"/>
          </a:xfrm>
          <a:prstGeom prst="rect">
            <a:avLst/>
          </a:prstGeom>
          <a:noFill/>
        </p:spPr>
        <p:txBody>
          <a:bodyPr wrap="none" rtlCol="0">
            <a:spAutoFit/>
          </a:bodyPr>
          <a:lstStyle/>
          <a:p>
            <a:r>
              <a:rPr lang="ja-JP" altLang="en-US" sz="2200" dirty="0"/>
              <a:t>年間対象件数</a:t>
            </a:r>
            <a:endParaRPr kumimoji="1" lang="ja-JP" altLang="en-US" sz="2200" dirty="0"/>
          </a:p>
        </p:txBody>
      </p:sp>
      <p:sp>
        <p:nvSpPr>
          <p:cNvPr id="19" name="テキスト ボックス 18">
            <a:extLst>
              <a:ext uri="{FF2B5EF4-FFF2-40B4-BE49-F238E27FC236}">
                <a16:creationId xmlns:a16="http://schemas.microsoft.com/office/drawing/2014/main" id="{0F48A93B-B469-D734-E891-05C0DE6FA3A7}"/>
              </a:ext>
            </a:extLst>
          </p:cNvPr>
          <p:cNvSpPr txBox="1"/>
          <p:nvPr/>
        </p:nvSpPr>
        <p:spPr>
          <a:xfrm>
            <a:off x="3340357" y="2589786"/>
            <a:ext cx="1859805" cy="553998"/>
          </a:xfrm>
          <a:prstGeom prst="rect">
            <a:avLst/>
          </a:prstGeom>
          <a:noFill/>
        </p:spPr>
        <p:txBody>
          <a:bodyPr wrap="none" rtlCol="0">
            <a:spAutoFit/>
          </a:bodyPr>
          <a:lstStyle/>
          <a:p>
            <a:r>
              <a:rPr lang="ja-JP" altLang="en-US" sz="3000" dirty="0">
                <a:solidFill>
                  <a:schemeClr val="accent2">
                    <a:lumMod val="50000"/>
                    <a:lumOff val="50000"/>
                  </a:schemeClr>
                </a:solidFill>
              </a:rPr>
              <a:t>約</a:t>
            </a:r>
            <a:r>
              <a:rPr lang="en-US" altLang="ja-JP" sz="3000" dirty="0">
                <a:solidFill>
                  <a:schemeClr val="accent2">
                    <a:lumMod val="50000"/>
                    <a:lumOff val="50000"/>
                  </a:schemeClr>
                </a:solidFill>
              </a:rPr>
              <a:t>2.6</a:t>
            </a:r>
            <a:r>
              <a:rPr lang="ja-JP" altLang="en-US" sz="3000" dirty="0">
                <a:solidFill>
                  <a:schemeClr val="accent2">
                    <a:lumMod val="50000"/>
                    <a:lumOff val="50000"/>
                  </a:schemeClr>
                </a:solidFill>
              </a:rPr>
              <a:t>万件</a:t>
            </a:r>
            <a:endParaRPr kumimoji="1" lang="ja-JP" altLang="en-US" sz="3000" dirty="0">
              <a:solidFill>
                <a:schemeClr val="accent2">
                  <a:lumMod val="50000"/>
                  <a:lumOff val="50000"/>
                </a:schemeClr>
              </a:solidFill>
            </a:endParaRPr>
          </a:p>
        </p:txBody>
      </p:sp>
      <p:cxnSp>
        <p:nvCxnSpPr>
          <p:cNvPr id="50" name="直線コネクタ 49">
            <a:extLst>
              <a:ext uri="{FF2B5EF4-FFF2-40B4-BE49-F238E27FC236}">
                <a16:creationId xmlns:a16="http://schemas.microsoft.com/office/drawing/2014/main" id="{E19818C3-A736-5974-798B-F522A4511E1F}"/>
              </a:ext>
            </a:extLst>
          </p:cNvPr>
          <p:cNvCxnSpPr>
            <a:cxnSpLocks/>
          </p:cNvCxnSpPr>
          <p:nvPr/>
        </p:nvCxnSpPr>
        <p:spPr>
          <a:xfrm>
            <a:off x="310291" y="582789"/>
            <a:ext cx="11054395"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13D9F3FF-6DBC-5CBF-7457-6792109D5F89}"/>
              </a:ext>
            </a:extLst>
          </p:cNvPr>
          <p:cNvSpPr txBox="1"/>
          <p:nvPr/>
        </p:nvSpPr>
        <p:spPr>
          <a:xfrm>
            <a:off x="375139" y="2062689"/>
            <a:ext cx="1313180" cy="430887"/>
          </a:xfrm>
          <a:prstGeom prst="rect">
            <a:avLst/>
          </a:prstGeom>
          <a:noFill/>
        </p:spPr>
        <p:txBody>
          <a:bodyPr wrap="none" rtlCol="0">
            <a:spAutoFit/>
          </a:bodyPr>
          <a:lstStyle/>
          <a:p>
            <a:r>
              <a:rPr lang="ja-JP" altLang="en-US" sz="2200" dirty="0"/>
              <a:t>比較指標</a:t>
            </a:r>
            <a:endParaRPr kumimoji="1" lang="ja-JP" altLang="en-US" sz="2200" dirty="0"/>
          </a:p>
        </p:txBody>
      </p:sp>
      <p:cxnSp>
        <p:nvCxnSpPr>
          <p:cNvPr id="7" name="直線コネクタ 6">
            <a:extLst>
              <a:ext uri="{FF2B5EF4-FFF2-40B4-BE49-F238E27FC236}">
                <a16:creationId xmlns:a16="http://schemas.microsoft.com/office/drawing/2014/main" id="{57D39F2D-9158-0F4B-FDB3-E158F5974378}"/>
              </a:ext>
            </a:extLst>
          </p:cNvPr>
          <p:cNvCxnSpPr>
            <a:cxnSpLocks/>
          </p:cNvCxnSpPr>
          <p:nvPr/>
        </p:nvCxnSpPr>
        <p:spPr>
          <a:xfrm flipV="1">
            <a:off x="437252" y="3921329"/>
            <a:ext cx="5350546" cy="19601"/>
          </a:xfrm>
          <a:prstGeom prst="line">
            <a:avLst/>
          </a:prstGeom>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B86C236F-FD47-82C6-8FC0-2DF37251F0B0}"/>
              </a:ext>
            </a:extLst>
          </p:cNvPr>
          <p:cNvSpPr txBox="1"/>
          <p:nvPr/>
        </p:nvSpPr>
        <p:spPr>
          <a:xfrm>
            <a:off x="344287" y="3972436"/>
            <a:ext cx="3005951" cy="430887"/>
          </a:xfrm>
          <a:prstGeom prst="rect">
            <a:avLst/>
          </a:prstGeom>
          <a:noFill/>
        </p:spPr>
        <p:txBody>
          <a:bodyPr wrap="none" rtlCol="0">
            <a:spAutoFit/>
          </a:bodyPr>
          <a:lstStyle/>
          <a:p>
            <a:r>
              <a:rPr kumimoji="1" lang="ja-JP" altLang="en-US" sz="2200" dirty="0"/>
              <a:t>平均処理時間の削減率</a:t>
            </a:r>
          </a:p>
        </p:txBody>
      </p:sp>
      <p:sp>
        <p:nvSpPr>
          <p:cNvPr id="12" name="テキスト ボックス 11">
            <a:extLst>
              <a:ext uri="{FF2B5EF4-FFF2-40B4-BE49-F238E27FC236}">
                <a16:creationId xmlns:a16="http://schemas.microsoft.com/office/drawing/2014/main" id="{6281D924-054B-882E-208C-55C94C8246DA}"/>
              </a:ext>
            </a:extLst>
          </p:cNvPr>
          <p:cNvSpPr txBox="1"/>
          <p:nvPr/>
        </p:nvSpPr>
        <p:spPr>
          <a:xfrm>
            <a:off x="3350238" y="3932817"/>
            <a:ext cx="2518638" cy="553998"/>
          </a:xfrm>
          <a:prstGeom prst="rect">
            <a:avLst/>
          </a:prstGeom>
          <a:noFill/>
        </p:spPr>
        <p:txBody>
          <a:bodyPr wrap="none" rtlCol="0">
            <a:spAutoFit/>
          </a:bodyPr>
          <a:lstStyle/>
          <a:p>
            <a:r>
              <a:rPr lang="en-US" altLang="ja-JP" sz="3000" dirty="0">
                <a:solidFill>
                  <a:schemeClr val="accent2">
                    <a:lumMod val="50000"/>
                    <a:lumOff val="50000"/>
                  </a:schemeClr>
                </a:solidFill>
              </a:rPr>
              <a:t>10</a:t>
            </a:r>
            <a:r>
              <a:rPr lang="ja-JP" altLang="en-US" sz="3000" dirty="0">
                <a:solidFill>
                  <a:schemeClr val="accent2">
                    <a:lumMod val="50000"/>
                    <a:lumOff val="50000"/>
                  </a:schemeClr>
                </a:solidFill>
              </a:rPr>
              <a:t>％短縮目標</a:t>
            </a:r>
            <a:endParaRPr kumimoji="1" lang="ja-JP" altLang="en-US" sz="3000" dirty="0">
              <a:solidFill>
                <a:schemeClr val="accent2">
                  <a:lumMod val="50000"/>
                  <a:lumOff val="50000"/>
                </a:schemeClr>
              </a:solidFill>
            </a:endParaRPr>
          </a:p>
        </p:txBody>
      </p:sp>
      <p:sp>
        <p:nvSpPr>
          <p:cNvPr id="16" name="テキスト ボックス 15">
            <a:extLst>
              <a:ext uri="{FF2B5EF4-FFF2-40B4-BE49-F238E27FC236}">
                <a16:creationId xmlns:a16="http://schemas.microsoft.com/office/drawing/2014/main" id="{7D429CA9-1429-968C-B2A2-5A9B5B5990CB}"/>
              </a:ext>
            </a:extLst>
          </p:cNvPr>
          <p:cNvSpPr txBox="1"/>
          <p:nvPr/>
        </p:nvSpPr>
        <p:spPr>
          <a:xfrm>
            <a:off x="388655" y="4968809"/>
            <a:ext cx="1877437" cy="430887"/>
          </a:xfrm>
          <a:prstGeom prst="rect">
            <a:avLst/>
          </a:prstGeom>
          <a:noFill/>
        </p:spPr>
        <p:txBody>
          <a:bodyPr wrap="none" rtlCol="0">
            <a:spAutoFit/>
          </a:bodyPr>
          <a:lstStyle/>
          <a:p>
            <a:r>
              <a:rPr kumimoji="1" lang="ja-JP" altLang="en-US" sz="2200" dirty="0"/>
              <a:t>開発・整備費</a:t>
            </a:r>
          </a:p>
        </p:txBody>
      </p:sp>
      <p:sp>
        <p:nvSpPr>
          <p:cNvPr id="18" name="テキスト ボックス 17">
            <a:extLst>
              <a:ext uri="{FF2B5EF4-FFF2-40B4-BE49-F238E27FC236}">
                <a16:creationId xmlns:a16="http://schemas.microsoft.com/office/drawing/2014/main" id="{45D82B2B-5E2D-7FF5-F6C1-3EFDB5D6A26C}"/>
              </a:ext>
            </a:extLst>
          </p:cNvPr>
          <p:cNvSpPr txBox="1"/>
          <p:nvPr/>
        </p:nvSpPr>
        <p:spPr>
          <a:xfrm>
            <a:off x="3394606" y="4929190"/>
            <a:ext cx="1774845" cy="553998"/>
          </a:xfrm>
          <a:prstGeom prst="rect">
            <a:avLst/>
          </a:prstGeom>
          <a:noFill/>
        </p:spPr>
        <p:txBody>
          <a:bodyPr wrap="none" rtlCol="0">
            <a:spAutoFit/>
          </a:bodyPr>
          <a:lstStyle/>
          <a:p>
            <a:r>
              <a:rPr lang="en-US" altLang="ja-JP" sz="3000" dirty="0">
                <a:solidFill>
                  <a:schemeClr val="accent2">
                    <a:lumMod val="50000"/>
                    <a:lumOff val="50000"/>
                  </a:schemeClr>
                </a:solidFill>
              </a:rPr>
              <a:t>4338</a:t>
            </a:r>
            <a:r>
              <a:rPr lang="ja-JP" altLang="en-US" sz="3000" dirty="0">
                <a:solidFill>
                  <a:schemeClr val="accent2">
                    <a:lumMod val="50000"/>
                    <a:lumOff val="50000"/>
                  </a:schemeClr>
                </a:solidFill>
              </a:rPr>
              <a:t>万円</a:t>
            </a:r>
            <a:endParaRPr kumimoji="1" lang="ja-JP" altLang="en-US" sz="3000" dirty="0">
              <a:solidFill>
                <a:schemeClr val="accent2">
                  <a:lumMod val="50000"/>
                  <a:lumOff val="50000"/>
                </a:schemeClr>
              </a:solidFill>
            </a:endParaRPr>
          </a:p>
        </p:txBody>
      </p:sp>
      <p:cxnSp>
        <p:nvCxnSpPr>
          <p:cNvPr id="26" name="直線コネクタ 25">
            <a:extLst>
              <a:ext uri="{FF2B5EF4-FFF2-40B4-BE49-F238E27FC236}">
                <a16:creationId xmlns:a16="http://schemas.microsoft.com/office/drawing/2014/main" id="{246993F0-1184-145C-9ECD-70A1BBD437EC}"/>
              </a:ext>
            </a:extLst>
          </p:cNvPr>
          <p:cNvCxnSpPr>
            <a:cxnSpLocks/>
          </p:cNvCxnSpPr>
          <p:nvPr/>
        </p:nvCxnSpPr>
        <p:spPr>
          <a:xfrm flipV="1">
            <a:off x="392617" y="4922805"/>
            <a:ext cx="5350546" cy="196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67D01D8-9015-DAF7-7C71-EE4711625915}"/>
              </a:ext>
            </a:extLst>
          </p:cNvPr>
          <p:cNvCxnSpPr>
            <a:cxnSpLocks/>
          </p:cNvCxnSpPr>
          <p:nvPr/>
        </p:nvCxnSpPr>
        <p:spPr>
          <a:xfrm>
            <a:off x="6280133" y="2481476"/>
            <a:ext cx="548028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960D5421-5BB8-8DDB-5B0B-7885DDECDA37}"/>
              </a:ext>
            </a:extLst>
          </p:cNvPr>
          <p:cNvSpPr txBox="1"/>
          <p:nvPr/>
        </p:nvSpPr>
        <p:spPr>
          <a:xfrm>
            <a:off x="6239400" y="2629405"/>
            <a:ext cx="1877437" cy="430887"/>
          </a:xfrm>
          <a:prstGeom prst="rect">
            <a:avLst/>
          </a:prstGeom>
          <a:noFill/>
        </p:spPr>
        <p:txBody>
          <a:bodyPr wrap="none" rtlCol="0">
            <a:spAutoFit/>
          </a:bodyPr>
          <a:lstStyle/>
          <a:p>
            <a:r>
              <a:rPr lang="ja-JP" altLang="en-US" sz="2200" dirty="0"/>
              <a:t>年間対象件数</a:t>
            </a:r>
            <a:endParaRPr kumimoji="1" lang="ja-JP" altLang="en-US" sz="2200" dirty="0"/>
          </a:p>
        </p:txBody>
      </p:sp>
      <p:sp>
        <p:nvSpPr>
          <p:cNvPr id="31" name="テキスト ボックス 30">
            <a:extLst>
              <a:ext uri="{FF2B5EF4-FFF2-40B4-BE49-F238E27FC236}">
                <a16:creationId xmlns:a16="http://schemas.microsoft.com/office/drawing/2014/main" id="{248F2913-9AD9-4EF5-C1FF-BC36F5B25D25}"/>
              </a:ext>
            </a:extLst>
          </p:cNvPr>
          <p:cNvSpPr txBox="1"/>
          <p:nvPr/>
        </p:nvSpPr>
        <p:spPr>
          <a:xfrm>
            <a:off x="9245351" y="2589786"/>
            <a:ext cx="2064989" cy="553998"/>
          </a:xfrm>
          <a:prstGeom prst="rect">
            <a:avLst/>
          </a:prstGeom>
          <a:noFill/>
        </p:spPr>
        <p:txBody>
          <a:bodyPr wrap="none" rtlCol="0">
            <a:spAutoFit/>
          </a:bodyPr>
          <a:lstStyle/>
          <a:p>
            <a:r>
              <a:rPr lang="ja-JP" altLang="en-US" sz="3000" dirty="0">
                <a:solidFill>
                  <a:schemeClr val="accent2">
                    <a:lumMod val="50000"/>
                    <a:lumOff val="50000"/>
                  </a:schemeClr>
                </a:solidFill>
              </a:rPr>
              <a:t>約</a:t>
            </a:r>
            <a:r>
              <a:rPr lang="en-US" altLang="ja-JP" sz="3000" dirty="0">
                <a:solidFill>
                  <a:schemeClr val="accent2">
                    <a:lumMod val="50000"/>
                    <a:lumOff val="50000"/>
                  </a:schemeClr>
                </a:solidFill>
              </a:rPr>
              <a:t>22.7</a:t>
            </a:r>
            <a:r>
              <a:rPr lang="ja-JP" altLang="en-US" sz="3000" dirty="0">
                <a:solidFill>
                  <a:schemeClr val="accent2">
                    <a:lumMod val="50000"/>
                    <a:lumOff val="50000"/>
                  </a:schemeClr>
                </a:solidFill>
              </a:rPr>
              <a:t>万件</a:t>
            </a:r>
            <a:endParaRPr kumimoji="1" lang="ja-JP" altLang="en-US" sz="3000" dirty="0">
              <a:solidFill>
                <a:schemeClr val="accent2">
                  <a:lumMod val="50000"/>
                  <a:lumOff val="50000"/>
                </a:schemeClr>
              </a:solidFill>
            </a:endParaRPr>
          </a:p>
        </p:txBody>
      </p:sp>
      <p:sp>
        <p:nvSpPr>
          <p:cNvPr id="32" name="テキスト ボックス 31">
            <a:extLst>
              <a:ext uri="{FF2B5EF4-FFF2-40B4-BE49-F238E27FC236}">
                <a16:creationId xmlns:a16="http://schemas.microsoft.com/office/drawing/2014/main" id="{BFB1C177-F3D8-F257-56DD-07FD8078C5CD}"/>
              </a:ext>
            </a:extLst>
          </p:cNvPr>
          <p:cNvSpPr txBox="1"/>
          <p:nvPr/>
        </p:nvSpPr>
        <p:spPr>
          <a:xfrm>
            <a:off x="6280133" y="2062689"/>
            <a:ext cx="2723823" cy="430887"/>
          </a:xfrm>
          <a:prstGeom prst="rect">
            <a:avLst/>
          </a:prstGeom>
          <a:noFill/>
        </p:spPr>
        <p:txBody>
          <a:bodyPr wrap="none" rtlCol="0">
            <a:spAutoFit/>
          </a:bodyPr>
          <a:lstStyle/>
          <a:p>
            <a:r>
              <a:rPr kumimoji="1" lang="ja-JP" altLang="en-US" sz="2200" dirty="0"/>
              <a:t>税関の類似検索支援</a:t>
            </a:r>
          </a:p>
        </p:txBody>
      </p:sp>
      <p:cxnSp>
        <p:nvCxnSpPr>
          <p:cNvPr id="33" name="直線コネクタ 32">
            <a:extLst>
              <a:ext uri="{FF2B5EF4-FFF2-40B4-BE49-F238E27FC236}">
                <a16:creationId xmlns:a16="http://schemas.microsoft.com/office/drawing/2014/main" id="{D85680A0-AC77-2CCA-2D98-CF03757390F9}"/>
              </a:ext>
            </a:extLst>
          </p:cNvPr>
          <p:cNvCxnSpPr>
            <a:cxnSpLocks/>
          </p:cNvCxnSpPr>
          <p:nvPr/>
        </p:nvCxnSpPr>
        <p:spPr>
          <a:xfrm flipV="1">
            <a:off x="6342246" y="3921329"/>
            <a:ext cx="5350546" cy="19601"/>
          </a:xfrm>
          <a:prstGeom prst="line">
            <a:avLst/>
          </a:prstGeom>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46667AE6-F54E-9827-6829-808EDA9AF71B}"/>
              </a:ext>
            </a:extLst>
          </p:cNvPr>
          <p:cNvSpPr txBox="1"/>
          <p:nvPr/>
        </p:nvSpPr>
        <p:spPr>
          <a:xfrm>
            <a:off x="6249281" y="3972436"/>
            <a:ext cx="3005951" cy="430887"/>
          </a:xfrm>
          <a:prstGeom prst="rect">
            <a:avLst/>
          </a:prstGeom>
          <a:noFill/>
        </p:spPr>
        <p:txBody>
          <a:bodyPr wrap="none" rtlCol="0">
            <a:spAutoFit/>
          </a:bodyPr>
          <a:lstStyle/>
          <a:p>
            <a:r>
              <a:rPr kumimoji="1" lang="ja-JP" altLang="en-US" sz="2200" dirty="0"/>
              <a:t>平均処理時間の削減率</a:t>
            </a:r>
          </a:p>
        </p:txBody>
      </p:sp>
      <p:sp>
        <p:nvSpPr>
          <p:cNvPr id="36" name="テキスト ボックス 35">
            <a:extLst>
              <a:ext uri="{FF2B5EF4-FFF2-40B4-BE49-F238E27FC236}">
                <a16:creationId xmlns:a16="http://schemas.microsoft.com/office/drawing/2014/main" id="{BC83EF33-23A3-D94E-0490-ECCF1EEAB381}"/>
              </a:ext>
            </a:extLst>
          </p:cNvPr>
          <p:cNvSpPr txBox="1"/>
          <p:nvPr/>
        </p:nvSpPr>
        <p:spPr>
          <a:xfrm>
            <a:off x="9255232" y="3932817"/>
            <a:ext cx="2518638" cy="553998"/>
          </a:xfrm>
          <a:prstGeom prst="rect">
            <a:avLst/>
          </a:prstGeom>
          <a:noFill/>
        </p:spPr>
        <p:txBody>
          <a:bodyPr wrap="none" rtlCol="0">
            <a:spAutoFit/>
          </a:bodyPr>
          <a:lstStyle/>
          <a:p>
            <a:r>
              <a:rPr lang="en-US" altLang="ja-JP" sz="3000" dirty="0">
                <a:solidFill>
                  <a:schemeClr val="accent2">
                    <a:lumMod val="50000"/>
                    <a:lumOff val="50000"/>
                  </a:schemeClr>
                </a:solidFill>
              </a:rPr>
              <a:t>60</a:t>
            </a:r>
            <a:r>
              <a:rPr lang="ja-JP" altLang="en-US" sz="3000" dirty="0">
                <a:solidFill>
                  <a:schemeClr val="accent2">
                    <a:lumMod val="50000"/>
                    <a:lumOff val="50000"/>
                  </a:schemeClr>
                </a:solidFill>
              </a:rPr>
              <a:t>％短縮目標</a:t>
            </a:r>
            <a:endParaRPr kumimoji="1" lang="ja-JP" altLang="en-US" sz="3000" dirty="0">
              <a:solidFill>
                <a:schemeClr val="accent2">
                  <a:lumMod val="50000"/>
                  <a:lumOff val="50000"/>
                </a:schemeClr>
              </a:solidFill>
            </a:endParaRPr>
          </a:p>
        </p:txBody>
      </p:sp>
      <p:sp>
        <p:nvSpPr>
          <p:cNvPr id="39" name="テキスト ボックス 38">
            <a:extLst>
              <a:ext uri="{FF2B5EF4-FFF2-40B4-BE49-F238E27FC236}">
                <a16:creationId xmlns:a16="http://schemas.microsoft.com/office/drawing/2014/main" id="{57B31294-A53E-0D67-15CF-96CEE32E5E60}"/>
              </a:ext>
            </a:extLst>
          </p:cNvPr>
          <p:cNvSpPr txBox="1"/>
          <p:nvPr/>
        </p:nvSpPr>
        <p:spPr>
          <a:xfrm>
            <a:off x="6293649" y="4968809"/>
            <a:ext cx="1877437" cy="430887"/>
          </a:xfrm>
          <a:prstGeom prst="rect">
            <a:avLst/>
          </a:prstGeom>
          <a:noFill/>
        </p:spPr>
        <p:txBody>
          <a:bodyPr wrap="none" rtlCol="0">
            <a:spAutoFit/>
          </a:bodyPr>
          <a:lstStyle/>
          <a:p>
            <a:r>
              <a:rPr kumimoji="1" lang="ja-JP" altLang="en-US" sz="2200" dirty="0"/>
              <a:t>開発・整備費</a:t>
            </a:r>
          </a:p>
        </p:txBody>
      </p:sp>
      <p:sp>
        <p:nvSpPr>
          <p:cNvPr id="40" name="テキスト ボックス 39">
            <a:extLst>
              <a:ext uri="{FF2B5EF4-FFF2-40B4-BE49-F238E27FC236}">
                <a16:creationId xmlns:a16="http://schemas.microsoft.com/office/drawing/2014/main" id="{68BCF45C-F00F-331C-6EFE-A0C9F967398F}"/>
              </a:ext>
            </a:extLst>
          </p:cNvPr>
          <p:cNvSpPr txBox="1"/>
          <p:nvPr/>
        </p:nvSpPr>
        <p:spPr>
          <a:xfrm>
            <a:off x="9299600" y="4929190"/>
            <a:ext cx="1544012" cy="553998"/>
          </a:xfrm>
          <a:prstGeom prst="rect">
            <a:avLst/>
          </a:prstGeom>
          <a:noFill/>
        </p:spPr>
        <p:txBody>
          <a:bodyPr wrap="none" rtlCol="0">
            <a:spAutoFit/>
          </a:bodyPr>
          <a:lstStyle/>
          <a:p>
            <a:r>
              <a:rPr lang="ja-JP" altLang="en-US" sz="3000" dirty="0">
                <a:solidFill>
                  <a:schemeClr val="accent2">
                    <a:lumMod val="50000"/>
                    <a:lumOff val="50000"/>
                  </a:schemeClr>
                </a:solidFill>
              </a:rPr>
              <a:t>約</a:t>
            </a:r>
            <a:r>
              <a:rPr lang="en-US" altLang="ja-JP" sz="3000" dirty="0">
                <a:solidFill>
                  <a:schemeClr val="accent2">
                    <a:lumMod val="50000"/>
                    <a:lumOff val="50000"/>
                  </a:schemeClr>
                </a:solidFill>
              </a:rPr>
              <a:t>1</a:t>
            </a:r>
            <a:r>
              <a:rPr lang="ja-JP" altLang="en-US" sz="3000" dirty="0">
                <a:solidFill>
                  <a:schemeClr val="accent2">
                    <a:lumMod val="50000"/>
                    <a:lumOff val="50000"/>
                  </a:schemeClr>
                </a:solidFill>
              </a:rPr>
              <a:t>億円</a:t>
            </a:r>
            <a:endParaRPr kumimoji="1" lang="ja-JP" altLang="en-US" sz="3000" dirty="0">
              <a:solidFill>
                <a:schemeClr val="accent2">
                  <a:lumMod val="50000"/>
                  <a:lumOff val="50000"/>
                </a:schemeClr>
              </a:solidFill>
            </a:endParaRPr>
          </a:p>
        </p:txBody>
      </p:sp>
      <p:cxnSp>
        <p:nvCxnSpPr>
          <p:cNvPr id="41" name="直線コネクタ 40">
            <a:extLst>
              <a:ext uri="{FF2B5EF4-FFF2-40B4-BE49-F238E27FC236}">
                <a16:creationId xmlns:a16="http://schemas.microsoft.com/office/drawing/2014/main" id="{9A3B10CD-EAA8-E7D7-67AE-EAF53C47242F}"/>
              </a:ext>
            </a:extLst>
          </p:cNvPr>
          <p:cNvCxnSpPr>
            <a:cxnSpLocks/>
          </p:cNvCxnSpPr>
          <p:nvPr/>
        </p:nvCxnSpPr>
        <p:spPr>
          <a:xfrm flipV="1">
            <a:off x="6297611" y="4922805"/>
            <a:ext cx="5350546" cy="19601"/>
          </a:xfrm>
          <a:prstGeom prst="line">
            <a:avLst/>
          </a:prstGeom>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96AC3F20-2331-B55F-2989-74AF90ED7178}"/>
              </a:ext>
            </a:extLst>
          </p:cNvPr>
          <p:cNvSpPr txBox="1"/>
          <p:nvPr/>
        </p:nvSpPr>
        <p:spPr>
          <a:xfrm>
            <a:off x="8194328" y="3150169"/>
            <a:ext cx="3636626" cy="738664"/>
          </a:xfrm>
          <a:prstGeom prst="rect">
            <a:avLst/>
          </a:prstGeom>
          <a:noFill/>
        </p:spPr>
        <p:txBody>
          <a:bodyPr wrap="square" rtlCol="0">
            <a:spAutoFit/>
          </a:bodyPr>
          <a:lstStyle/>
          <a:p>
            <a:r>
              <a:rPr lang="ja-JP" altLang="ja-JP" sz="1400" dirty="0">
                <a:solidFill>
                  <a:schemeClr val="tx1">
                    <a:lumMod val="50000"/>
                    <a:lumOff val="50000"/>
                  </a:schemeClr>
                </a:solidFill>
              </a:rPr>
              <a:t>輸入許可件数2億2,680万件のうち</a:t>
            </a:r>
            <a:r>
              <a:rPr lang="ja-JP" altLang="en-US" sz="1400" dirty="0">
                <a:solidFill>
                  <a:schemeClr val="tx1">
                    <a:lumMod val="50000"/>
                    <a:lumOff val="50000"/>
                  </a:schemeClr>
                </a:solidFill>
              </a:rPr>
              <a:t>人が過去事例が必要な案件率を</a:t>
            </a:r>
            <a:r>
              <a:rPr lang="ja-JP" altLang="ja-JP" sz="1400" dirty="0">
                <a:solidFill>
                  <a:schemeClr val="tx1">
                    <a:lumMod val="50000"/>
                    <a:lumOff val="50000"/>
                  </a:schemeClr>
                </a:solidFill>
              </a:rPr>
              <a:t>0.1%と仮定</a:t>
            </a:r>
            <a:br>
              <a:rPr lang="ja-JP" altLang="ja-JP" sz="1400" dirty="0">
                <a:solidFill>
                  <a:schemeClr val="tx1">
                    <a:lumMod val="50000"/>
                    <a:lumOff val="50000"/>
                  </a:schemeClr>
                </a:solidFill>
              </a:rPr>
            </a:br>
            <a:r>
              <a:rPr lang="ja-JP" altLang="ja-JP" sz="1400" dirty="0">
                <a:solidFill>
                  <a:schemeClr val="tx1">
                    <a:lumMod val="50000"/>
                    <a:lumOff val="50000"/>
                  </a:schemeClr>
                </a:solidFill>
              </a:rPr>
              <a:t>2億2,680万件 × 0.1% ＝ 約22.7万件／年</a:t>
            </a:r>
            <a:endParaRPr kumimoji="1" lang="en-US" altLang="ja-JP" sz="1400" dirty="0">
              <a:solidFill>
                <a:schemeClr val="tx1">
                  <a:lumMod val="50000"/>
                  <a:lumOff val="50000"/>
                </a:schemeClr>
              </a:solidFill>
            </a:endParaRPr>
          </a:p>
        </p:txBody>
      </p:sp>
      <p:sp>
        <p:nvSpPr>
          <p:cNvPr id="52" name="テキスト ボックス 51">
            <a:extLst>
              <a:ext uri="{FF2B5EF4-FFF2-40B4-BE49-F238E27FC236}">
                <a16:creationId xmlns:a16="http://schemas.microsoft.com/office/drawing/2014/main" id="{D9D8F062-B371-F379-D1F7-CA85726A6CB3}"/>
              </a:ext>
            </a:extLst>
          </p:cNvPr>
          <p:cNvSpPr txBox="1"/>
          <p:nvPr/>
        </p:nvSpPr>
        <p:spPr>
          <a:xfrm>
            <a:off x="8194328" y="5368683"/>
            <a:ext cx="3944254" cy="307777"/>
          </a:xfrm>
          <a:prstGeom prst="rect">
            <a:avLst/>
          </a:prstGeom>
          <a:noFill/>
        </p:spPr>
        <p:txBody>
          <a:bodyPr wrap="square" rtlCol="0">
            <a:spAutoFit/>
          </a:bodyPr>
          <a:lstStyle/>
          <a:p>
            <a:r>
              <a:rPr lang="ja-JP" altLang="ja-JP" sz="1400" dirty="0">
                <a:solidFill>
                  <a:schemeClr val="tx1">
                    <a:lumMod val="50000"/>
                    <a:lumOff val="50000"/>
                  </a:schemeClr>
                </a:solidFill>
              </a:rPr>
              <a:t>対象件数が前例の約8.7倍であること</a:t>
            </a:r>
            <a:r>
              <a:rPr lang="ja-JP" altLang="en-US" sz="1400" dirty="0">
                <a:solidFill>
                  <a:schemeClr val="tx1">
                    <a:lumMod val="50000"/>
                    <a:lumOff val="50000"/>
                  </a:schemeClr>
                </a:solidFill>
              </a:rPr>
              <a:t>を考慮</a:t>
            </a:r>
            <a:endParaRPr lang="en-US" altLang="ja-JP" sz="1400" dirty="0">
              <a:solidFill>
                <a:schemeClr val="tx1">
                  <a:lumMod val="50000"/>
                  <a:lumOff val="50000"/>
                </a:schemeClr>
              </a:solidFill>
            </a:endParaRPr>
          </a:p>
        </p:txBody>
      </p:sp>
      <p:sp>
        <p:nvSpPr>
          <p:cNvPr id="55" name="テキスト ボックス 54">
            <a:extLst>
              <a:ext uri="{FF2B5EF4-FFF2-40B4-BE49-F238E27FC236}">
                <a16:creationId xmlns:a16="http://schemas.microsoft.com/office/drawing/2014/main" id="{35AF47B1-B5C8-0DBE-443A-F590D397F7D8}"/>
              </a:ext>
            </a:extLst>
          </p:cNvPr>
          <p:cNvSpPr txBox="1"/>
          <p:nvPr/>
        </p:nvSpPr>
        <p:spPr>
          <a:xfrm>
            <a:off x="8194328" y="4588625"/>
            <a:ext cx="3944254" cy="307777"/>
          </a:xfrm>
          <a:prstGeom prst="rect">
            <a:avLst/>
          </a:prstGeom>
          <a:noFill/>
        </p:spPr>
        <p:txBody>
          <a:bodyPr wrap="square" rtlCol="0">
            <a:spAutoFit/>
          </a:bodyPr>
          <a:lstStyle/>
          <a:p>
            <a:r>
              <a:rPr lang="ja-JP" altLang="en-US" sz="1400" dirty="0">
                <a:solidFill>
                  <a:srgbClr val="FF0000"/>
                </a:solidFill>
              </a:rPr>
              <a:t>類似検索のみの時間短縮目標</a:t>
            </a:r>
            <a:endParaRPr lang="en-US" altLang="ja-JP" sz="1400" dirty="0">
              <a:solidFill>
                <a:srgbClr val="FF0000"/>
              </a:solidFill>
            </a:endParaRPr>
          </a:p>
        </p:txBody>
      </p:sp>
      <p:sp>
        <p:nvSpPr>
          <p:cNvPr id="57" name="テキスト ボックス 56">
            <a:extLst>
              <a:ext uri="{FF2B5EF4-FFF2-40B4-BE49-F238E27FC236}">
                <a16:creationId xmlns:a16="http://schemas.microsoft.com/office/drawing/2014/main" id="{ED9C21A8-C04B-AA0F-A9FA-55CAA5283756}"/>
              </a:ext>
            </a:extLst>
          </p:cNvPr>
          <p:cNvSpPr txBox="1"/>
          <p:nvPr/>
        </p:nvSpPr>
        <p:spPr>
          <a:xfrm>
            <a:off x="437252" y="5589494"/>
            <a:ext cx="5904994" cy="523220"/>
          </a:xfrm>
          <a:prstGeom prst="rect">
            <a:avLst/>
          </a:prstGeom>
          <a:noFill/>
        </p:spPr>
        <p:txBody>
          <a:bodyPr wrap="square" rtlCol="0">
            <a:spAutoFit/>
          </a:bodyPr>
          <a:lstStyle/>
          <a:p>
            <a:r>
              <a:rPr kumimoji="1" lang="ja-JP" altLang="en-US" sz="1400" dirty="0">
                <a:solidFill>
                  <a:schemeClr val="bg2">
                    <a:lumMod val="50000"/>
                  </a:schemeClr>
                </a:solidFill>
              </a:rPr>
              <a:t>引用：デジタル庁 令和</a:t>
            </a:r>
            <a:r>
              <a:rPr kumimoji="1" lang="en-US" altLang="ja-JP" sz="1400" dirty="0">
                <a:solidFill>
                  <a:schemeClr val="bg2">
                    <a:lumMod val="50000"/>
                  </a:schemeClr>
                </a:solidFill>
              </a:rPr>
              <a:t>7</a:t>
            </a:r>
            <a:r>
              <a:rPr kumimoji="1" lang="ja-JP" altLang="en-US" sz="1400" dirty="0">
                <a:solidFill>
                  <a:schemeClr val="bg2">
                    <a:lumMod val="50000"/>
                  </a:schemeClr>
                </a:solidFill>
              </a:rPr>
              <a:t>年行政事業レビュー </a:t>
            </a:r>
            <a:r>
              <a:rPr lang="en-US" altLang="ja-JP" sz="1400" dirty="0">
                <a:solidFill>
                  <a:schemeClr val="bg2">
                    <a:lumMod val="50000"/>
                  </a:schemeClr>
                </a:solidFill>
              </a:rPr>
              <a:t>https://www.digital.go.jp/policies/assessment/project-review/2025</a:t>
            </a:r>
            <a:endParaRPr kumimoji="1" lang="ja-JP" altLang="en-US" sz="1400" dirty="0">
              <a:solidFill>
                <a:schemeClr val="bg2">
                  <a:lumMod val="50000"/>
                </a:schemeClr>
              </a:solidFill>
            </a:endParaRPr>
          </a:p>
        </p:txBody>
      </p:sp>
    </p:spTree>
    <p:extLst>
      <p:ext uri="{BB962C8B-B14F-4D97-AF65-F5344CB8AC3E}">
        <p14:creationId xmlns:p14="http://schemas.microsoft.com/office/powerpoint/2010/main" val="2397343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86" name="グループ化 485">
            <a:extLst>
              <a:ext uri="{FF2B5EF4-FFF2-40B4-BE49-F238E27FC236}">
                <a16:creationId xmlns:a16="http://schemas.microsoft.com/office/drawing/2014/main" id="{120ED630-F1FC-D96D-08D9-E509C574B3AF}"/>
              </a:ext>
            </a:extLst>
          </p:cNvPr>
          <p:cNvGrpSpPr/>
          <p:nvPr/>
        </p:nvGrpSpPr>
        <p:grpSpPr>
          <a:xfrm>
            <a:off x="293863" y="13376"/>
            <a:ext cx="3755756" cy="4498155"/>
            <a:chOff x="165100" y="404045"/>
            <a:chExt cx="3755756" cy="4498155"/>
          </a:xfrm>
        </p:grpSpPr>
        <p:sp>
          <p:nvSpPr>
            <p:cNvPr id="439" name="四角形: 角を丸くする 438">
              <a:extLst>
                <a:ext uri="{FF2B5EF4-FFF2-40B4-BE49-F238E27FC236}">
                  <a16:creationId xmlns:a16="http://schemas.microsoft.com/office/drawing/2014/main" id="{6A6088AE-2600-1FD5-4D09-D1230273501C}"/>
                </a:ext>
              </a:extLst>
            </p:cNvPr>
            <p:cNvSpPr/>
            <p:nvPr/>
          </p:nvSpPr>
          <p:spPr>
            <a:xfrm>
              <a:off x="165100" y="773377"/>
              <a:ext cx="3755756" cy="4128823"/>
            </a:xfrm>
            <a:prstGeom prst="roundRect">
              <a:avLst>
                <a:gd name="adj" fmla="val 10242"/>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8" name="正方形/長方形 427">
              <a:extLst>
                <a:ext uri="{FF2B5EF4-FFF2-40B4-BE49-F238E27FC236}">
                  <a16:creationId xmlns:a16="http://schemas.microsoft.com/office/drawing/2014/main" id="{3C6313E5-D615-AC5B-1B24-3E90658FBC9B}"/>
                </a:ext>
              </a:extLst>
            </p:cNvPr>
            <p:cNvSpPr/>
            <p:nvPr/>
          </p:nvSpPr>
          <p:spPr>
            <a:xfrm>
              <a:off x="404867" y="2208137"/>
              <a:ext cx="3293533" cy="12657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0" name="正方形/長方形 429">
              <a:extLst>
                <a:ext uri="{FF2B5EF4-FFF2-40B4-BE49-F238E27FC236}">
                  <a16:creationId xmlns:a16="http://schemas.microsoft.com/office/drawing/2014/main" id="{84187403-71F6-7E1B-DB96-003E43581A72}"/>
                </a:ext>
              </a:extLst>
            </p:cNvPr>
            <p:cNvSpPr/>
            <p:nvPr/>
          </p:nvSpPr>
          <p:spPr>
            <a:xfrm>
              <a:off x="404867" y="3423873"/>
              <a:ext cx="3293533" cy="12657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1" name="正方形/長方形 420">
              <a:extLst>
                <a:ext uri="{FF2B5EF4-FFF2-40B4-BE49-F238E27FC236}">
                  <a16:creationId xmlns:a16="http://schemas.microsoft.com/office/drawing/2014/main" id="{ACF14D11-445E-3B68-ABB2-226FBEF3A612}"/>
                </a:ext>
              </a:extLst>
            </p:cNvPr>
            <p:cNvSpPr/>
            <p:nvPr/>
          </p:nvSpPr>
          <p:spPr>
            <a:xfrm>
              <a:off x="406399" y="942896"/>
              <a:ext cx="3293533" cy="12657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07" name="グループ化 406">
              <a:extLst>
                <a:ext uri="{FF2B5EF4-FFF2-40B4-BE49-F238E27FC236}">
                  <a16:creationId xmlns:a16="http://schemas.microsoft.com/office/drawing/2014/main" id="{3F31BC63-4240-46F0-7378-3DD3AA6D0F4E}"/>
                </a:ext>
              </a:extLst>
            </p:cNvPr>
            <p:cNvGrpSpPr/>
            <p:nvPr/>
          </p:nvGrpSpPr>
          <p:grpSpPr>
            <a:xfrm>
              <a:off x="660554" y="942896"/>
              <a:ext cx="914400" cy="1173665"/>
              <a:chOff x="995082" y="1027170"/>
              <a:chExt cx="914400" cy="1173665"/>
            </a:xfrm>
          </p:grpSpPr>
          <p:pic>
            <p:nvPicPr>
              <p:cNvPr id="405" name="グラフィックス 404" descr="紙 単色塗りつぶし">
                <a:extLst>
                  <a:ext uri="{FF2B5EF4-FFF2-40B4-BE49-F238E27FC236}">
                    <a16:creationId xmlns:a16="http://schemas.microsoft.com/office/drawing/2014/main" id="{F3B3B10E-F524-0988-23C2-5E0B5BF88C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5082" y="1286435"/>
                <a:ext cx="914400" cy="914400"/>
              </a:xfrm>
              <a:prstGeom prst="rect">
                <a:avLst/>
              </a:prstGeom>
            </p:spPr>
          </p:pic>
          <p:sp>
            <p:nvSpPr>
              <p:cNvPr id="406" name="テキスト ボックス 405">
                <a:extLst>
                  <a:ext uri="{FF2B5EF4-FFF2-40B4-BE49-F238E27FC236}">
                    <a16:creationId xmlns:a16="http://schemas.microsoft.com/office/drawing/2014/main" id="{24ADD73A-2BD2-C95D-E87B-C4F43D04351C}"/>
                  </a:ext>
                </a:extLst>
              </p:cNvPr>
              <p:cNvSpPr txBox="1"/>
              <p:nvPr/>
            </p:nvSpPr>
            <p:spPr>
              <a:xfrm>
                <a:off x="1013700" y="1027170"/>
                <a:ext cx="877163" cy="369332"/>
              </a:xfrm>
              <a:prstGeom prst="rect">
                <a:avLst/>
              </a:prstGeom>
              <a:noFill/>
            </p:spPr>
            <p:txBody>
              <a:bodyPr wrap="none" rtlCol="0">
                <a:spAutoFit/>
              </a:bodyPr>
              <a:lstStyle/>
              <a:p>
                <a:r>
                  <a:rPr kumimoji="1" lang="ja-JP" altLang="en-US" dirty="0"/>
                  <a:t>申告書</a:t>
                </a:r>
              </a:p>
            </p:txBody>
          </p:sp>
        </p:grpSp>
        <p:grpSp>
          <p:nvGrpSpPr>
            <p:cNvPr id="412" name="グループ化 411">
              <a:extLst>
                <a:ext uri="{FF2B5EF4-FFF2-40B4-BE49-F238E27FC236}">
                  <a16:creationId xmlns:a16="http://schemas.microsoft.com/office/drawing/2014/main" id="{5D5AE1C0-6B4F-424C-5FE3-FA57C3E7B98D}"/>
                </a:ext>
              </a:extLst>
            </p:cNvPr>
            <p:cNvGrpSpPr/>
            <p:nvPr/>
          </p:nvGrpSpPr>
          <p:grpSpPr>
            <a:xfrm>
              <a:off x="645508" y="2225188"/>
              <a:ext cx="944489" cy="1173665"/>
              <a:chOff x="2270955" y="874770"/>
              <a:chExt cx="944489" cy="1173665"/>
            </a:xfrm>
          </p:grpSpPr>
          <p:pic>
            <p:nvPicPr>
              <p:cNvPr id="409" name="グラフィックス 408" descr="データベース 単色塗りつぶし">
                <a:extLst>
                  <a:ext uri="{FF2B5EF4-FFF2-40B4-BE49-F238E27FC236}">
                    <a16:creationId xmlns:a16="http://schemas.microsoft.com/office/drawing/2014/main" id="{5C2AE123-72D1-7B8B-2866-A273394F08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6000" y="1134035"/>
                <a:ext cx="914400" cy="914400"/>
              </a:xfrm>
              <a:prstGeom prst="rect">
                <a:avLst/>
              </a:prstGeom>
            </p:spPr>
          </p:pic>
          <p:sp>
            <p:nvSpPr>
              <p:cNvPr id="411" name="テキスト ボックス 410">
                <a:extLst>
                  <a:ext uri="{FF2B5EF4-FFF2-40B4-BE49-F238E27FC236}">
                    <a16:creationId xmlns:a16="http://schemas.microsoft.com/office/drawing/2014/main" id="{C32DC043-DB4B-6A37-3F49-0392C3A0AEE1}"/>
                  </a:ext>
                </a:extLst>
              </p:cNvPr>
              <p:cNvSpPr txBox="1"/>
              <p:nvPr/>
            </p:nvSpPr>
            <p:spPr>
              <a:xfrm>
                <a:off x="2270955" y="874770"/>
                <a:ext cx="944489" cy="369332"/>
              </a:xfrm>
              <a:prstGeom prst="rect">
                <a:avLst/>
              </a:prstGeom>
              <a:noFill/>
            </p:spPr>
            <p:txBody>
              <a:bodyPr wrap="none" rtlCol="0">
                <a:spAutoFit/>
              </a:bodyPr>
              <a:lstStyle/>
              <a:p>
                <a:r>
                  <a:rPr kumimoji="1" lang="ja-JP" altLang="en-US" dirty="0"/>
                  <a:t>過去</a:t>
                </a:r>
                <a:r>
                  <a:rPr kumimoji="1" lang="en-US" altLang="ja-JP" dirty="0"/>
                  <a:t>DB</a:t>
                </a:r>
                <a:endParaRPr kumimoji="1" lang="ja-JP" altLang="en-US" dirty="0"/>
              </a:p>
            </p:txBody>
          </p:sp>
        </p:grpSp>
        <p:sp>
          <p:nvSpPr>
            <p:cNvPr id="420" name="テキスト ボックス 419">
              <a:extLst>
                <a:ext uri="{FF2B5EF4-FFF2-40B4-BE49-F238E27FC236}">
                  <a16:creationId xmlns:a16="http://schemas.microsoft.com/office/drawing/2014/main" id="{7D10CD47-D7CA-335F-F73D-974CCE59D9CB}"/>
                </a:ext>
              </a:extLst>
            </p:cNvPr>
            <p:cNvSpPr txBox="1"/>
            <p:nvPr/>
          </p:nvSpPr>
          <p:spPr>
            <a:xfrm>
              <a:off x="1556335" y="1328744"/>
              <a:ext cx="2085827" cy="523220"/>
            </a:xfrm>
            <a:prstGeom prst="rect">
              <a:avLst/>
            </a:prstGeom>
            <a:noFill/>
          </p:spPr>
          <p:txBody>
            <a:bodyPr wrap="none" rtlCol="0">
              <a:spAutoFit/>
            </a:bodyPr>
            <a:lstStyle/>
            <a:p>
              <a:r>
                <a:rPr lang="ja-JP" altLang="en-US" sz="1400" dirty="0"/>
                <a:t>構造化データ</a:t>
              </a:r>
              <a:endParaRPr lang="en-US" altLang="ja-JP" sz="1400" dirty="0"/>
            </a:p>
            <a:p>
              <a:r>
                <a:rPr kumimoji="1" lang="en-US" altLang="ja-JP" sz="1400" dirty="0"/>
                <a:t>(</a:t>
              </a:r>
              <a:r>
                <a:rPr kumimoji="1" lang="ja-JP" altLang="en-US" sz="1400" dirty="0"/>
                <a:t>品名・価格・原産国等</a:t>
              </a:r>
              <a:r>
                <a:rPr kumimoji="1" lang="en-US" altLang="ja-JP" sz="1400" dirty="0"/>
                <a:t>)</a:t>
              </a:r>
            </a:p>
          </p:txBody>
        </p:sp>
        <p:grpSp>
          <p:nvGrpSpPr>
            <p:cNvPr id="422" name="グループ化 421">
              <a:extLst>
                <a:ext uri="{FF2B5EF4-FFF2-40B4-BE49-F238E27FC236}">
                  <a16:creationId xmlns:a16="http://schemas.microsoft.com/office/drawing/2014/main" id="{3FFFDEBD-0A2D-3939-07A4-6F740A92B42B}"/>
                </a:ext>
              </a:extLst>
            </p:cNvPr>
            <p:cNvGrpSpPr/>
            <p:nvPr/>
          </p:nvGrpSpPr>
          <p:grpSpPr>
            <a:xfrm>
              <a:off x="332923" y="3473913"/>
              <a:ext cx="1569660" cy="1165696"/>
              <a:chOff x="1958370" y="882739"/>
              <a:chExt cx="1569660" cy="1165696"/>
            </a:xfrm>
          </p:grpSpPr>
          <p:pic>
            <p:nvPicPr>
              <p:cNvPr id="423" name="グラフィックス 422" descr="データベース 単色塗りつぶし">
                <a:extLst>
                  <a:ext uri="{FF2B5EF4-FFF2-40B4-BE49-F238E27FC236}">
                    <a16:creationId xmlns:a16="http://schemas.microsoft.com/office/drawing/2014/main" id="{BFC107B7-F615-695E-F20D-7286C3D76F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286000" y="1134035"/>
                <a:ext cx="914400" cy="914400"/>
              </a:xfrm>
              <a:prstGeom prst="rect">
                <a:avLst/>
              </a:prstGeom>
            </p:spPr>
          </p:pic>
          <p:sp>
            <p:nvSpPr>
              <p:cNvPr id="424" name="テキスト ボックス 423">
                <a:extLst>
                  <a:ext uri="{FF2B5EF4-FFF2-40B4-BE49-F238E27FC236}">
                    <a16:creationId xmlns:a16="http://schemas.microsoft.com/office/drawing/2014/main" id="{46362C27-C1AB-3E77-9C43-7E19209AEF80}"/>
                  </a:ext>
                </a:extLst>
              </p:cNvPr>
              <p:cNvSpPr txBox="1"/>
              <p:nvPr/>
            </p:nvSpPr>
            <p:spPr>
              <a:xfrm>
                <a:off x="1958370" y="882739"/>
                <a:ext cx="1569660" cy="369332"/>
              </a:xfrm>
              <a:prstGeom prst="rect">
                <a:avLst/>
              </a:prstGeom>
              <a:noFill/>
            </p:spPr>
            <p:txBody>
              <a:bodyPr wrap="none" rtlCol="0">
                <a:spAutoFit/>
              </a:bodyPr>
              <a:lstStyle/>
              <a:p>
                <a:r>
                  <a:rPr lang="ja-JP" altLang="en-US" dirty="0"/>
                  <a:t>審査ナレッジ</a:t>
                </a:r>
                <a:endParaRPr kumimoji="1" lang="ja-JP" altLang="en-US" dirty="0"/>
              </a:p>
            </p:txBody>
          </p:sp>
        </p:grpSp>
        <p:sp>
          <p:nvSpPr>
            <p:cNvPr id="426" name="テキスト ボックス 425">
              <a:extLst>
                <a:ext uri="{FF2B5EF4-FFF2-40B4-BE49-F238E27FC236}">
                  <a16:creationId xmlns:a16="http://schemas.microsoft.com/office/drawing/2014/main" id="{FFE52401-1BEB-2734-E739-A19AD06E588D}"/>
                </a:ext>
              </a:extLst>
            </p:cNvPr>
            <p:cNvSpPr txBox="1"/>
            <p:nvPr/>
          </p:nvSpPr>
          <p:spPr>
            <a:xfrm>
              <a:off x="1266803" y="404045"/>
              <a:ext cx="1569660" cy="369332"/>
            </a:xfrm>
            <a:prstGeom prst="rect">
              <a:avLst/>
            </a:prstGeom>
            <a:noFill/>
          </p:spPr>
          <p:txBody>
            <a:bodyPr wrap="none" rtlCol="0">
              <a:spAutoFit/>
            </a:bodyPr>
            <a:lstStyle/>
            <a:p>
              <a:r>
                <a:rPr lang="ja-JP" altLang="en-US" dirty="0"/>
                <a:t>利用する情報</a:t>
              </a:r>
              <a:endParaRPr lang="en-US" altLang="ja-JP" dirty="0"/>
            </a:p>
          </p:txBody>
        </p:sp>
        <p:sp>
          <p:nvSpPr>
            <p:cNvPr id="432" name="テキスト ボックス 431">
              <a:extLst>
                <a:ext uri="{FF2B5EF4-FFF2-40B4-BE49-F238E27FC236}">
                  <a16:creationId xmlns:a16="http://schemas.microsoft.com/office/drawing/2014/main" id="{950717AF-7CCD-A193-C125-9A4815032291}"/>
                </a:ext>
              </a:extLst>
            </p:cNvPr>
            <p:cNvSpPr txBox="1"/>
            <p:nvPr/>
          </p:nvSpPr>
          <p:spPr>
            <a:xfrm>
              <a:off x="1558773" y="2594520"/>
              <a:ext cx="2185895" cy="523220"/>
            </a:xfrm>
            <a:prstGeom prst="rect">
              <a:avLst/>
            </a:prstGeom>
            <a:noFill/>
          </p:spPr>
          <p:txBody>
            <a:bodyPr wrap="square" rtlCol="0">
              <a:spAutoFit/>
            </a:bodyPr>
            <a:lstStyle/>
            <a:p>
              <a:r>
                <a:rPr kumimoji="1" lang="ja-JP" altLang="en-US" sz="1400" dirty="0"/>
                <a:t>過去の申告書</a:t>
              </a:r>
              <a:endParaRPr kumimoji="1" lang="en-US" altLang="ja-JP" sz="1400" dirty="0"/>
            </a:p>
            <a:p>
              <a:r>
                <a:rPr kumimoji="1" lang="ja-JP" altLang="en-US" sz="1400" dirty="0"/>
                <a:t>データベース</a:t>
              </a:r>
              <a:endParaRPr kumimoji="1" lang="en-US" altLang="ja-JP" sz="1400" dirty="0"/>
            </a:p>
          </p:txBody>
        </p:sp>
        <p:sp>
          <p:nvSpPr>
            <p:cNvPr id="436" name="テキスト ボックス 435">
              <a:extLst>
                <a:ext uri="{FF2B5EF4-FFF2-40B4-BE49-F238E27FC236}">
                  <a16:creationId xmlns:a16="http://schemas.microsoft.com/office/drawing/2014/main" id="{394E41D9-109E-A7BD-83B0-731D19EC646A}"/>
                </a:ext>
              </a:extLst>
            </p:cNvPr>
            <p:cNvSpPr txBox="1"/>
            <p:nvPr/>
          </p:nvSpPr>
          <p:spPr>
            <a:xfrm>
              <a:off x="1556335" y="3854668"/>
              <a:ext cx="2085827" cy="738664"/>
            </a:xfrm>
            <a:prstGeom prst="rect">
              <a:avLst/>
            </a:prstGeom>
            <a:noFill/>
          </p:spPr>
          <p:txBody>
            <a:bodyPr wrap="square" rtlCol="0">
              <a:spAutoFit/>
            </a:bodyPr>
            <a:lstStyle/>
            <a:p>
              <a:r>
                <a:rPr lang="ja-JP" altLang="en-US" sz="1400" dirty="0"/>
                <a:t>過去案件の判定内容や照会内容 判断基準等のナレッジベース</a:t>
              </a:r>
              <a:endParaRPr lang="en-US" altLang="ja-JP" sz="1400" dirty="0"/>
            </a:p>
          </p:txBody>
        </p:sp>
      </p:grpSp>
      <p:grpSp>
        <p:nvGrpSpPr>
          <p:cNvPr id="487" name="グループ化 486">
            <a:extLst>
              <a:ext uri="{FF2B5EF4-FFF2-40B4-BE49-F238E27FC236}">
                <a16:creationId xmlns:a16="http://schemas.microsoft.com/office/drawing/2014/main" id="{A256C7AD-5258-CF43-A035-848A840B451B}"/>
              </a:ext>
            </a:extLst>
          </p:cNvPr>
          <p:cNvGrpSpPr/>
          <p:nvPr/>
        </p:nvGrpSpPr>
        <p:grpSpPr>
          <a:xfrm>
            <a:off x="4499610" y="107737"/>
            <a:ext cx="3548380" cy="3558355"/>
            <a:chOff x="4262120" y="696145"/>
            <a:chExt cx="3548380" cy="3558355"/>
          </a:xfrm>
        </p:grpSpPr>
        <p:sp>
          <p:nvSpPr>
            <p:cNvPr id="416" name="テキスト ボックス 415">
              <a:extLst>
                <a:ext uri="{FF2B5EF4-FFF2-40B4-BE49-F238E27FC236}">
                  <a16:creationId xmlns:a16="http://schemas.microsoft.com/office/drawing/2014/main" id="{416F95A8-6C6B-DCCB-B031-3F851FB8EB76}"/>
                </a:ext>
              </a:extLst>
            </p:cNvPr>
            <p:cNvSpPr txBox="1"/>
            <p:nvPr/>
          </p:nvSpPr>
          <p:spPr>
            <a:xfrm>
              <a:off x="5314776" y="696145"/>
              <a:ext cx="1303562" cy="369332"/>
            </a:xfrm>
            <a:prstGeom prst="rect">
              <a:avLst/>
            </a:prstGeom>
            <a:noFill/>
          </p:spPr>
          <p:txBody>
            <a:bodyPr wrap="none" rtlCol="0">
              <a:spAutoFit/>
            </a:bodyPr>
            <a:lstStyle/>
            <a:p>
              <a:r>
                <a:rPr lang="ja-JP" altLang="en-US" dirty="0"/>
                <a:t>オンプレ</a:t>
              </a:r>
              <a:r>
                <a:rPr lang="en-US" altLang="ja-JP" dirty="0"/>
                <a:t>AI</a:t>
              </a:r>
              <a:endParaRPr kumimoji="1" lang="ja-JP" altLang="en-US" dirty="0"/>
            </a:p>
          </p:txBody>
        </p:sp>
        <p:sp>
          <p:nvSpPr>
            <p:cNvPr id="440" name="四角形: 角を丸くする 439">
              <a:extLst>
                <a:ext uri="{FF2B5EF4-FFF2-40B4-BE49-F238E27FC236}">
                  <a16:creationId xmlns:a16="http://schemas.microsoft.com/office/drawing/2014/main" id="{171E69C9-7178-CB66-FB32-A652B2CE2B15}"/>
                </a:ext>
              </a:extLst>
            </p:cNvPr>
            <p:cNvSpPr/>
            <p:nvPr/>
          </p:nvSpPr>
          <p:spPr>
            <a:xfrm>
              <a:off x="4262120" y="1041400"/>
              <a:ext cx="3548380" cy="3213100"/>
            </a:xfrm>
            <a:prstGeom prst="roundRect">
              <a:avLst>
                <a:gd name="adj" fmla="val 5894"/>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3" name="正方形/長方形 442">
              <a:extLst>
                <a:ext uri="{FF2B5EF4-FFF2-40B4-BE49-F238E27FC236}">
                  <a16:creationId xmlns:a16="http://schemas.microsoft.com/office/drawing/2014/main" id="{EAF3A819-3E5C-E549-A686-4E0021C318A0}"/>
                </a:ext>
              </a:extLst>
            </p:cNvPr>
            <p:cNvSpPr/>
            <p:nvPr/>
          </p:nvSpPr>
          <p:spPr>
            <a:xfrm>
              <a:off x="4374617" y="1192296"/>
              <a:ext cx="3293533" cy="57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0" name="テキスト ボックス 449">
              <a:extLst>
                <a:ext uri="{FF2B5EF4-FFF2-40B4-BE49-F238E27FC236}">
                  <a16:creationId xmlns:a16="http://schemas.microsoft.com/office/drawing/2014/main" id="{498C0D3C-3F44-F3F2-8067-55E78C4A2FDB}"/>
                </a:ext>
              </a:extLst>
            </p:cNvPr>
            <p:cNvSpPr txBox="1"/>
            <p:nvPr/>
          </p:nvSpPr>
          <p:spPr>
            <a:xfrm>
              <a:off x="5024615" y="1244322"/>
              <a:ext cx="2262158" cy="523220"/>
            </a:xfrm>
            <a:prstGeom prst="rect">
              <a:avLst/>
            </a:prstGeom>
            <a:noFill/>
          </p:spPr>
          <p:txBody>
            <a:bodyPr wrap="none" rtlCol="0">
              <a:spAutoFit/>
            </a:bodyPr>
            <a:lstStyle/>
            <a:p>
              <a:r>
                <a:rPr lang="ja-JP" altLang="en-US" dirty="0"/>
                <a:t>検索条件の自動生成</a:t>
              </a:r>
              <a:endParaRPr lang="en-US" altLang="ja-JP" dirty="0"/>
            </a:p>
            <a:p>
              <a:r>
                <a:rPr kumimoji="1" lang="ja-JP" altLang="en-US" sz="1000" dirty="0">
                  <a:solidFill>
                    <a:schemeClr val="bg1">
                      <a:lumMod val="50000"/>
                    </a:schemeClr>
                  </a:solidFill>
                </a:rPr>
                <a:t>申告事項と審査ナレッジを使用</a:t>
              </a:r>
              <a:endParaRPr kumimoji="1" lang="en-US" altLang="ja-JP" sz="1000" dirty="0">
                <a:solidFill>
                  <a:schemeClr val="bg1">
                    <a:lumMod val="50000"/>
                  </a:schemeClr>
                </a:solidFill>
              </a:endParaRPr>
            </a:p>
          </p:txBody>
        </p:sp>
        <p:pic>
          <p:nvPicPr>
            <p:cNvPr id="461" name="グラフィックス 460" descr="チャットの吹き出し 枠線">
              <a:extLst>
                <a:ext uri="{FF2B5EF4-FFF2-40B4-BE49-F238E27FC236}">
                  <a16:creationId xmlns:a16="http://schemas.microsoft.com/office/drawing/2014/main" id="{29EE0E11-0B8D-E966-3D30-319E6B3BB0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74620" y="1133294"/>
              <a:ext cx="717832" cy="717832"/>
            </a:xfrm>
            <a:prstGeom prst="rect">
              <a:avLst/>
            </a:prstGeom>
          </p:spPr>
        </p:pic>
        <p:sp>
          <p:nvSpPr>
            <p:cNvPr id="471" name="正方形/長方形 470">
              <a:extLst>
                <a:ext uri="{FF2B5EF4-FFF2-40B4-BE49-F238E27FC236}">
                  <a16:creationId xmlns:a16="http://schemas.microsoft.com/office/drawing/2014/main" id="{0752F85D-4559-D32D-5C2F-80AF808E4F37}"/>
                </a:ext>
              </a:extLst>
            </p:cNvPr>
            <p:cNvSpPr/>
            <p:nvPr/>
          </p:nvSpPr>
          <p:spPr>
            <a:xfrm>
              <a:off x="4384876" y="1973294"/>
              <a:ext cx="3293533" cy="57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463" name="グラフィックス 462" descr="拡大鏡 枠線">
              <a:extLst>
                <a:ext uri="{FF2B5EF4-FFF2-40B4-BE49-F238E27FC236}">
                  <a16:creationId xmlns:a16="http://schemas.microsoft.com/office/drawing/2014/main" id="{B8185FD5-C7ED-26F3-947A-3A46223602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95361" y="2001126"/>
              <a:ext cx="529524" cy="529524"/>
            </a:xfrm>
            <a:prstGeom prst="rect">
              <a:avLst/>
            </a:prstGeom>
          </p:spPr>
        </p:pic>
        <p:sp>
          <p:nvSpPr>
            <p:cNvPr id="473" name="正方形/長方形 472">
              <a:extLst>
                <a:ext uri="{FF2B5EF4-FFF2-40B4-BE49-F238E27FC236}">
                  <a16:creationId xmlns:a16="http://schemas.microsoft.com/office/drawing/2014/main" id="{5EAC2A0C-E271-CFBB-938B-3D89C55999A3}"/>
                </a:ext>
              </a:extLst>
            </p:cNvPr>
            <p:cNvSpPr/>
            <p:nvPr/>
          </p:nvSpPr>
          <p:spPr>
            <a:xfrm>
              <a:off x="4374618" y="3535290"/>
              <a:ext cx="3293533" cy="57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5" name="正方形/長方形 474">
              <a:extLst>
                <a:ext uri="{FF2B5EF4-FFF2-40B4-BE49-F238E27FC236}">
                  <a16:creationId xmlns:a16="http://schemas.microsoft.com/office/drawing/2014/main" id="{F0892758-017E-6C8D-D043-441D1ABA3C86}"/>
                </a:ext>
              </a:extLst>
            </p:cNvPr>
            <p:cNvSpPr/>
            <p:nvPr/>
          </p:nvSpPr>
          <p:spPr>
            <a:xfrm>
              <a:off x="4374618" y="2754292"/>
              <a:ext cx="3293533" cy="57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59" name="グラフィックス 458" descr="信号 枠線">
              <a:extLst>
                <a:ext uri="{FF2B5EF4-FFF2-40B4-BE49-F238E27FC236}">
                  <a16:creationId xmlns:a16="http://schemas.microsoft.com/office/drawing/2014/main" id="{86F872BA-248D-67D9-5C02-E6E33951DF2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84876" y="2733328"/>
              <a:ext cx="597703" cy="597703"/>
            </a:xfrm>
            <a:prstGeom prst="rect">
              <a:avLst/>
            </a:prstGeom>
          </p:spPr>
        </p:pic>
        <p:pic>
          <p:nvPicPr>
            <p:cNvPr id="457" name="グラフィックス 456" descr="脳 枠線">
              <a:extLst>
                <a:ext uri="{FF2B5EF4-FFF2-40B4-BE49-F238E27FC236}">
                  <a16:creationId xmlns:a16="http://schemas.microsoft.com/office/drawing/2014/main" id="{2F29BD9F-6DD9-41BB-6328-D7807609C83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21947" y="3552978"/>
              <a:ext cx="560632" cy="560632"/>
            </a:xfrm>
            <a:prstGeom prst="rect">
              <a:avLst/>
            </a:prstGeom>
          </p:spPr>
        </p:pic>
        <p:sp>
          <p:nvSpPr>
            <p:cNvPr id="479" name="テキスト ボックス 478">
              <a:extLst>
                <a:ext uri="{FF2B5EF4-FFF2-40B4-BE49-F238E27FC236}">
                  <a16:creationId xmlns:a16="http://schemas.microsoft.com/office/drawing/2014/main" id="{8D90CA50-5876-AEAA-912C-2B0F225ACE44}"/>
                </a:ext>
              </a:extLst>
            </p:cNvPr>
            <p:cNvSpPr txBox="1"/>
            <p:nvPr/>
          </p:nvSpPr>
          <p:spPr>
            <a:xfrm>
              <a:off x="5024615" y="1965702"/>
              <a:ext cx="2236510" cy="523220"/>
            </a:xfrm>
            <a:prstGeom prst="rect">
              <a:avLst/>
            </a:prstGeom>
            <a:noFill/>
          </p:spPr>
          <p:txBody>
            <a:bodyPr wrap="none" rtlCol="0">
              <a:spAutoFit/>
            </a:bodyPr>
            <a:lstStyle/>
            <a:p>
              <a:r>
                <a:rPr lang="ja-JP" altLang="en-US" dirty="0"/>
                <a:t>ハイブリッド検索</a:t>
              </a:r>
              <a:endParaRPr lang="en-US" altLang="ja-JP" dirty="0"/>
            </a:p>
            <a:p>
              <a:r>
                <a:rPr lang="ja-JP" altLang="en-US" sz="1000" dirty="0">
                  <a:solidFill>
                    <a:schemeClr val="bg1">
                      <a:lumMod val="50000"/>
                    </a:schemeClr>
                  </a:solidFill>
                </a:rPr>
                <a:t>キーワード検索やベクトル検索など</a:t>
              </a:r>
              <a:endParaRPr kumimoji="1" lang="en-US" altLang="ja-JP" sz="1000" dirty="0">
                <a:solidFill>
                  <a:schemeClr val="bg1">
                    <a:lumMod val="50000"/>
                  </a:schemeClr>
                </a:solidFill>
              </a:endParaRPr>
            </a:p>
          </p:txBody>
        </p:sp>
        <p:sp>
          <p:nvSpPr>
            <p:cNvPr id="483" name="テキスト ボックス 482">
              <a:extLst>
                <a:ext uri="{FF2B5EF4-FFF2-40B4-BE49-F238E27FC236}">
                  <a16:creationId xmlns:a16="http://schemas.microsoft.com/office/drawing/2014/main" id="{9F57D05D-AB52-A785-314D-0CE8A26775DA}"/>
                </a:ext>
              </a:extLst>
            </p:cNvPr>
            <p:cNvSpPr txBox="1"/>
            <p:nvPr/>
          </p:nvSpPr>
          <p:spPr>
            <a:xfrm>
              <a:off x="5011791" y="2770569"/>
              <a:ext cx="2492990" cy="523220"/>
            </a:xfrm>
            <a:prstGeom prst="rect">
              <a:avLst/>
            </a:prstGeom>
            <a:noFill/>
          </p:spPr>
          <p:txBody>
            <a:bodyPr wrap="none" rtlCol="0">
              <a:spAutoFit/>
            </a:bodyPr>
            <a:lstStyle/>
            <a:p>
              <a:r>
                <a:rPr lang="ja-JP" altLang="en-US" dirty="0"/>
                <a:t>類似度を再ランキング</a:t>
              </a:r>
            </a:p>
            <a:p>
              <a:r>
                <a:rPr lang="en-US" altLang="ja-JP" sz="1000" dirty="0">
                  <a:solidFill>
                    <a:schemeClr val="bg1">
                      <a:lumMod val="50000"/>
                    </a:schemeClr>
                  </a:solidFill>
                </a:rPr>
                <a:t>NTT</a:t>
              </a:r>
              <a:r>
                <a:rPr lang="ja-JP" altLang="en-US" sz="1000" dirty="0">
                  <a:solidFill>
                    <a:schemeClr val="bg1">
                      <a:lumMod val="50000"/>
                    </a:schemeClr>
                  </a:solidFill>
                </a:rPr>
                <a:t>データの類似度ランキングを流用</a:t>
              </a:r>
              <a:endParaRPr kumimoji="1" lang="en-US" altLang="ja-JP" sz="1000" dirty="0">
                <a:solidFill>
                  <a:schemeClr val="bg1">
                    <a:lumMod val="50000"/>
                  </a:schemeClr>
                </a:solidFill>
              </a:endParaRPr>
            </a:p>
          </p:txBody>
        </p:sp>
        <p:sp>
          <p:nvSpPr>
            <p:cNvPr id="485" name="テキスト ボックス 484">
              <a:extLst>
                <a:ext uri="{FF2B5EF4-FFF2-40B4-BE49-F238E27FC236}">
                  <a16:creationId xmlns:a16="http://schemas.microsoft.com/office/drawing/2014/main" id="{264A6637-A8FA-2752-F11E-15D4684B3A31}"/>
                </a:ext>
              </a:extLst>
            </p:cNvPr>
            <p:cNvSpPr txBox="1"/>
            <p:nvPr/>
          </p:nvSpPr>
          <p:spPr>
            <a:xfrm>
              <a:off x="5024615" y="3542863"/>
              <a:ext cx="2492990" cy="523220"/>
            </a:xfrm>
            <a:prstGeom prst="rect">
              <a:avLst/>
            </a:prstGeom>
            <a:noFill/>
          </p:spPr>
          <p:txBody>
            <a:bodyPr wrap="none" rtlCol="0">
              <a:spAutoFit/>
            </a:bodyPr>
            <a:lstStyle/>
            <a:p>
              <a:r>
                <a:rPr lang="ja-JP" altLang="en-US" dirty="0"/>
                <a:t>回答の要点などを生成</a:t>
              </a:r>
            </a:p>
            <a:p>
              <a:r>
                <a:rPr kumimoji="1" lang="ja-JP" altLang="en-US" sz="1000" dirty="0">
                  <a:solidFill>
                    <a:schemeClr val="bg1">
                      <a:lumMod val="50000"/>
                    </a:schemeClr>
                  </a:solidFill>
                </a:rPr>
                <a:t>ナレッジベースを主に使用し根拠を生成</a:t>
              </a:r>
              <a:endParaRPr kumimoji="1" lang="en-US" altLang="ja-JP" sz="1000" dirty="0">
                <a:solidFill>
                  <a:schemeClr val="bg1">
                    <a:lumMod val="50000"/>
                  </a:schemeClr>
                </a:solidFill>
              </a:endParaRPr>
            </a:p>
          </p:txBody>
        </p:sp>
      </p:grpSp>
      <p:pic>
        <p:nvPicPr>
          <p:cNvPr id="489" name="グラフィックス 488" descr="テレビ 枠線">
            <a:extLst>
              <a:ext uri="{FF2B5EF4-FFF2-40B4-BE49-F238E27FC236}">
                <a16:creationId xmlns:a16="http://schemas.microsoft.com/office/drawing/2014/main" id="{BA751685-C810-8FE6-BF16-B4058365125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06302" y="764839"/>
            <a:ext cx="2451226" cy="2451226"/>
          </a:xfrm>
          <a:prstGeom prst="rect">
            <a:avLst/>
          </a:prstGeom>
        </p:spPr>
      </p:pic>
    </p:spTree>
    <p:extLst>
      <p:ext uri="{BB962C8B-B14F-4D97-AF65-F5344CB8AC3E}">
        <p14:creationId xmlns:p14="http://schemas.microsoft.com/office/powerpoint/2010/main" val="1421882354"/>
      </p:ext>
    </p:extLst>
  </p:cSld>
  <p:clrMapOvr>
    <a:masterClrMapping/>
  </p:clrMapOvr>
</p:sld>
</file>

<file path=ppt/theme/theme1.xml><?xml version="1.0" encoding="utf-8"?>
<a:theme xmlns:a="http://schemas.openxmlformats.org/drawingml/2006/main" name="ChatGPT">
  <a:themeElements>
    <a:clrScheme name="Customs Search">
      <a:dk1>
        <a:srgbClr val="000000"/>
      </a:dk1>
      <a:lt1>
        <a:srgbClr val="FFFFFF"/>
      </a:lt1>
      <a:dk2>
        <a:srgbClr val="0E2F45"/>
      </a:dk2>
      <a:lt2>
        <a:srgbClr val="C7D4DA"/>
      </a:lt2>
      <a:accent1>
        <a:srgbClr val="007F86"/>
      </a:accent1>
      <a:accent2>
        <a:srgbClr val="0E2F45"/>
      </a:accent2>
      <a:accent3>
        <a:srgbClr val="E39A1B"/>
      </a:accent3>
      <a:accent4>
        <a:srgbClr val="C95D52"/>
      </a:accent4>
      <a:accent5>
        <a:srgbClr val="597B8A"/>
      </a:accent5>
      <a:accent6>
        <a:srgbClr val="00A6A6"/>
      </a:accent6>
      <a:hlink>
        <a:srgbClr val="1769AA"/>
      </a:hlink>
      <a:folHlink>
        <a:srgbClr val="6B4BA3"/>
      </a:folHlink>
    </a:clrScheme>
    <a:fontScheme name="">
      <a:majorFont>
        <a:latin typeface="Aptos"/>
        <a:ea typeface=""/>
        <a:cs typeface=""/>
      </a:majorFont>
      <a:minorFont>
        <a:latin typeface="Aptos"/>
        <a:ea typeface=""/>
        <a:cs typeface=""/>
      </a:minorFont>
    </a:fontScheme>
    <a:fmtScheme name="Customs 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ustoms Search">
      <a:dk1>
        <a:srgbClr val="000000"/>
      </a:dk1>
      <a:lt1>
        <a:srgbClr val="FFFFFF"/>
      </a:lt1>
      <a:dk2>
        <a:srgbClr val="0E2F45"/>
      </a:dk2>
      <a:lt2>
        <a:srgbClr val="C7D4DA"/>
      </a:lt2>
      <a:accent1>
        <a:srgbClr val="007F86"/>
      </a:accent1>
      <a:accent2>
        <a:srgbClr val="0E2F45"/>
      </a:accent2>
      <a:accent3>
        <a:srgbClr val="E39A1B"/>
      </a:accent3>
      <a:accent4>
        <a:srgbClr val="C95D52"/>
      </a:accent4>
      <a:accent5>
        <a:srgbClr val="597B8A"/>
      </a:accent5>
      <a:accent6>
        <a:srgbClr val="00A6A6"/>
      </a:accent6>
      <a:hlink>
        <a:srgbClr val="1769AA"/>
      </a:hlink>
      <a:folHlink>
        <a:srgbClr val="6B4BA3"/>
      </a:folHlink>
    </a:clrScheme>
    <a:fontScheme name="">
      <a:majorFont>
        <a:latin typeface="Aptos"/>
        <a:ea typeface=""/>
        <a:cs typeface=""/>
      </a:majorFont>
      <a:minorFont>
        <a:latin typeface="Aptos"/>
        <a:ea typeface=""/>
        <a:cs typeface=""/>
      </a:minorFont>
    </a:fontScheme>
    <a:fmtScheme name="Customs 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550</Words>
  <Application>Microsoft Office PowerPoint</Application>
  <DocSecurity>0</DocSecurity>
  <PresentationFormat>ワイド画面</PresentationFormat>
  <Paragraphs>76</Paragraphs>
  <Slides>3</Slides>
  <Notes>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vt:i4>
      </vt:variant>
    </vt:vector>
  </HeadingPairs>
  <TitlesOfParts>
    <vt:vector size="6" baseType="lpstr">
      <vt:lpstr>Noto Sans JP</vt:lpstr>
      <vt:lpstr>Aptos</vt:lpstr>
      <vt:lpstr>ChatGPT</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一翔 渡部</cp:lastModifiedBy>
  <cp:revision>4</cp:revision>
  <dcterms:created xsi:type="dcterms:W3CDTF">2026-10-14T14:36:54Z</dcterms:created>
  <dcterms:modified xsi:type="dcterms:W3CDTF">2026-10-14T17:59:59Z</dcterms:modified>
</cp:coreProperties>
</file>