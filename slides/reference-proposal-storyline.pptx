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3ca4a78d4643b6" /><Relationship Type="http://schemas.openxmlformats.org/officeDocument/2006/relationships/extended-properties" Target="/docProps/app.xml" Id="R425bc16aa5b14858" /><Relationship Type="http://schemas.openxmlformats.org/officeDocument/2006/relationships/officeDocument" Target="/ppt/presentation.xml" Id="R989594894ca14e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33544d08b34d7d"/>
  </p:sldMasterIdLst>
  <p:notesMasterIdLst>
    <p:notesMasterId xmlns:r="http://schemas.openxmlformats.org/officeDocument/2006/relationships" r:id="R2907bc2d272f4f88"/>
  </p:notesMasterIdLst>
  <p:sldIdLst>
    <p:sldId xmlns:r="http://schemas.openxmlformats.org/officeDocument/2006/relationships" id="256" r:id="R2f778bf1c1d24fd9"/>
    <p:sldId xmlns:r="http://schemas.openxmlformats.org/officeDocument/2006/relationships" id="257" r:id="Rfb70d172206b47e0"/>
    <p:sldId xmlns:r="http://schemas.openxmlformats.org/officeDocument/2006/relationships" id="258" r:id="R049e80d2cebb4777"/>
    <p:sldId xmlns:r="http://schemas.openxmlformats.org/officeDocument/2006/relationships" id="259" r:id="R64f189aab2bf431b"/>
    <p:sldId xmlns:r="http://schemas.openxmlformats.org/officeDocument/2006/relationships" id="260" r:id="R89747f576be74c0b"/>
    <p:sldId xmlns:r="http://schemas.openxmlformats.org/officeDocument/2006/relationships" id="261" r:id="R77a26c2e7fdb49ce"/>
    <p:sldId xmlns:r="http://schemas.openxmlformats.org/officeDocument/2006/relationships" id="262" r:id="Ra0cef322c6644ff6"/>
    <p:sldId xmlns:r="http://schemas.openxmlformats.org/officeDocument/2006/relationships" id="263" r:id="R91cba64c1dd0427e"/>
    <p:sldId xmlns:r="http://schemas.openxmlformats.org/officeDocument/2006/relationships" id="264" r:id="Rd44314d582ff4e0c"/>
    <p:sldId xmlns:r="http://schemas.openxmlformats.org/officeDocument/2006/relationships" id="265" r:id="R867264fd442642f2"/>
    <p:sldId xmlns:r="http://schemas.openxmlformats.org/officeDocument/2006/relationships" id="266" r:id="R0b9bfbda740f4e02"/>
    <p:sldId xmlns:r="http://schemas.openxmlformats.org/officeDocument/2006/relationships" id="267" r:id="R1871aa22b3ad4e5d"/>
    <p:sldId xmlns:r="http://schemas.openxmlformats.org/officeDocument/2006/relationships" id="268" r:id="R545fdde7c3544c54"/>
    <p:sldId xmlns:r="http://schemas.openxmlformats.org/officeDocument/2006/relationships" id="269" r:id="R23af64f20dc34421"/>
    <p:sldId xmlns:r="http://schemas.openxmlformats.org/officeDocument/2006/relationships" id="270" r:id="R76bb39bbf990428b"/>
    <p:sldId xmlns:r="http://schemas.openxmlformats.org/officeDocument/2006/relationships" id="271" r:id="Raadabc089c9e47fc"/>
    <p:sldId xmlns:r="http://schemas.openxmlformats.org/officeDocument/2006/relationships" id="272" r:id="R17bcf0500e4a41dc"/>
    <p:sldId xmlns:r="http://schemas.openxmlformats.org/officeDocument/2006/relationships" id="273" r:id="R419af596206c494b"/>
    <p:sldId xmlns:r="http://schemas.openxmlformats.org/officeDocument/2006/relationships" id="274" r:id="R7ad06fb6cf8447a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c065f1006c4f14" /><Relationship Type="http://schemas.openxmlformats.org/officeDocument/2006/relationships/slideMaster" Target="/ppt/slideMasters/slideMaster1.xml" Id="Ra833544d08b34d7d" /><Relationship Type="http://schemas.openxmlformats.org/officeDocument/2006/relationships/notesMaster" Target="/ppt/notesMasters/notesMaster1.xml" Id="R2907bc2d272f4f88" /><Relationship Type="http://schemas.openxmlformats.org/officeDocument/2006/relationships/presProps" Target="/ppt/presProps.xml" Id="Rdc7b72e503304b36" /><Relationship Type="http://schemas.openxmlformats.org/officeDocument/2006/relationships/tableStyles" Target="/ppt/tableStyles.xml" Id="R29625a803a6c4776" /><Relationship Type="http://schemas.openxmlformats.org/officeDocument/2006/relationships/slide" Target="/ppt/slides/slide1.xml" Id="R2f778bf1c1d24fd9" /><Relationship Type="http://schemas.openxmlformats.org/officeDocument/2006/relationships/slide" Target="/ppt/slides/slide2.xml" Id="Rfb70d172206b47e0" /><Relationship Type="http://schemas.openxmlformats.org/officeDocument/2006/relationships/slide" Target="/ppt/slides/slide3.xml" Id="R049e80d2cebb4777" /><Relationship Type="http://schemas.openxmlformats.org/officeDocument/2006/relationships/slide" Target="/ppt/slides/slide4.xml" Id="R64f189aab2bf431b" /><Relationship Type="http://schemas.openxmlformats.org/officeDocument/2006/relationships/slide" Target="/ppt/slides/slide5.xml" Id="R89747f576be74c0b" /><Relationship Type="http://schemas.openxmlformats.org/officeDocument/2006/relationships/slide" Target="/ppt/slides/slide6.xml" Id="R77a26c2e7fdb49ce" /><Relationship Type="http://schemas.openxmlformats.org/officeDocument/2006/relationships/slide" Target="/ppt/slides/slide7.xml" Id="Ra0cef322c6644ff6" /><Relationship Type="http://schemas.openxmlformats.org/officeDocument/2006/relationships/slide" Target="/ppt/slides/slide8.xml" Id="R91cba64c1dd0427e" /><Relationship Type="http://schemas.openxmlformats.org/officeDocument/2006/relationships/slide" Target="/ppt/slides/slide9.xml" Id="Rd44314d582ff4e0c" /><Relationship Type="http://schemas.openxmlformats.org/officeDocument/2006/relationships/slide" Target="/ppt/slides/slide10.xml" Id="R867264fd442642f2" /><Relationship Type="http://schemas.openxmlformats.org/officeDocument/2006/relationships/slide" Target="/ppt/slides/slide11.xml" Id="R0b9bfbda740f4e02" /><Relationship Type="http://schemas.openxmlformats.org/officeDocument/2006/relationships/slide" Target="/ppt/slides/slide12.xml" Id="R1871aa22b3ad4e5d" /><Relationship Type="http://schemas.openxmlformats.org/officeDocument/2006/relationships/slide" Target="/ppt/slides/slide13.xml" Id="R545fdde7c3544c54" /><Relationship Type="http://schemas.openxmlformats.org/officeDocument/2006/relationships/slide" Target="/ppt/slides/slide14.xml" Id="R23af64f20dc34421" /><Relationship Type="http://schemas.openxmlformats.org/officeDocument/2006/relationships/slide" Target="/ppt/slides/slide15.xml" Id="R76bb39bbf990428b" /><Relationship Type="http://schemas.openxmlformats.org/officeDocument/2006/relationships/slide" Target="/ppt/slides/slide16.xml" Id="Raadabc089c9e47fc" /><Relationship Type="http://schemas.openxmlformats.org/officeDocument/2006/relationships/slide" Target="/ppt/slides/slide17.xml" Id="R17bcf0500e4a41dc" /><Relationship Type="http://schemas.openxmlformats.org/officeDocument/2006/relationships/slide" Target="/ppt/slides/slide18.xml" Id="R419af596206c494b" /><Relationship Type="http://schemas.openxmlformats.org/officeDocument/2006/relationships/slide" Target="/ppt/slides/slide19.xml" Id="R7ad06fb6cf8447a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b5979c5ef34f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ustoms Evidence">
      <a:dk1>
        <a:srgbClr val="000000"/>
      </a:dk1>
      <a:lt1>
        <a:srgbClr val="FFFFFF"/>
      </a:lt1>
      <a:dk2>
        <a:srgbClr val="102A43"/>
      </a:dk2>
      <a:lt2>
        <a:srgbClr val="EDF2F5"/>
      </a:lt2>
      <a:accent1>
        <a:srgbClr val="173F5F"/>
      </a:accent1>
      <a:accent2>
        <a:srgbClr val="0C7C86"/>
      </a:accent2>
      <a:accent3>
        <a:srgbClr val="E69A2D"/>
      </a:accent3>
      <a:accent4>
        <a:srgbClr val="C94C4C"/>
      </a:accent4>
      <a:accent5>
        <a:srgbClr val="6B7C8A"/>
      </a:accent5>
      <a:accent6>
        <a:srgbClr val="16A6A1"/>
      </a:accent6>
      <a:hlink>
        <a:srgbClr val="1769AA"/>
      </a:hlink>
      <a:folHlink>
        <a:srgbClr val="6B4BA3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ustoms Eviden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8a01ecd1b641da" /><Relationship Type="http://schemas.openxmlformats.org/officeDocument/2006/relationships/notesMaster" Target="/ppt/notesMasters/notesMaster1.xml" Id="R6db3dc3df5be44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61680305c54c7c" /><Relationship Type="http://schemas.openxmlformats.org/officeDocument/2006/relationships/notesMaster" Target="/ppt/notesMasters/notesMaster1.xml" Id="R1b21c837fe2940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cded43f09544393" /><Relationship Type="http://schemas.openxmlformats.org/officeDocument/2006/relationships/notesMaster" Target="/ppt/notesMasters/notesMaster1.xml" Id="R327312a2394942e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72e656a6a64897" /><Relationship Type="http://schemas.openxmlformats.org/officeDocument/2006/relationships/notesMaster" Target="/ppt/notesMasters/notesMaster1.xml" Id="Raf3eeafed17d4a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30531f761e341b6" /><Relationship Type="http://schemas.openxmlformats.org/officeDocument/2006/relationships/notesMaster" Target="/ppt/notesMasters/notesMaster1.xml" Id="Rd1f74027707e45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32ef181d9a408c" /><Relationship Type="http://schemas.openxmlformats.org/officeDocument/2006/relationships/notesMaster" Target="/ppt/notesMasters/notesMaster1.xml" Id="Rb0bef5877ec641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fc5f285b81e40ee" /><Relationship Type="http://schemas.openxmlformats.org/officeDocument/2006/relationships/notesMaster" Target="/ppt/notesMasters/notesMaster1.xml" Id="R469ba7ecd98645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6a6241f2ff458b" /><Relationship Type="http://schemas.openxmlformats.org/officeDocument/2006/relationships/notesMaster" Target="/ppt/notesMasters/notesMaster1.xml" Id="Rfe041b6ea53043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79133940cf443d" /><Relationship Type="http://schemas.openxmlformats.org/officeDocument/2006/relationships/notesMaster" Target="/ppt/notesMasters/notesMaster1.xml" Id="R74bbebfe315841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7255de1150a4130" /><Relationship Type="http://schemas.openxmlformats.org/officeDocument/2006/relationships/notesMaster" Target="/ppt/notesMasters/notesMaster1.xml" Id="R1277b1a75fe34e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b1976344724c91" /><Relationship Type="http://schemas.openxmlformats.org/officeDocument/2006/relationships/notesMaster" Target="/ppt/notesMasters/notesMaster1.xml" Id="Rf5d4069c7d8044d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f9f7a41a1134f83" /><Relationship Type="http://schemas.openxmlformats.org/officeDocument/2006/relationships/notesMaster" Target="/ppt/notesMasters/notesMaster1.xml" Id="R443ff5f9207340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f078de2efa745ef" /><Relationship Type="http://schemas.openxmlformats.org/officeDocument/2006/relationships/notesMaster" Target="/ppt/notesMasters/notesMaster1.xml" Id="R3a8d9405cad544c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70895959f8c4620" /><Relationship Type="http://schemas.openxmlformats.org/officeDocument/2006/relationships/notesMaster" Target="/ppt/notesMasters/notesMaster1.xml" Id="R144b5ba8b50b4a2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ed40ed8326414c" /><Relationship Type="http://schemas.openxmlformats.org/officeDocument/2006/relationships/notesMaster" Target="/ppt/notesMasters/notesMaster1.xml" Id="R17cdb647ed934ba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2b60f08be646c2" /><Relationship Type="http://schemas.openxmlformats.org/officeDocument/2006/relationships/notesMaster" Target="/ppt/notesMasters/notesMaster1.xml" Id="Rb4059047e5c1418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a1ee524e957453e" /><Relationship Type="http://schemas.openxmlformats.org/officeDocument/2006/relationships/notesMaster" Target="/ppt/notesMasters/notesMaster1.xml" Id="Rb47e5ba7c3264da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2f44c6f4e024beb" /><Relationship Type="http://schemas.openxmlformats.org/officeDocument/2006/relationships/notesMaster" Target="/ppt/notesMasters/notesMaster1.xml" Id="R0db1bfa2a307439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457738a11b34a9c" /><Relationship Type="http://schemas.openxmlformats.org/officeDocument/2006/relationships/notesMaster" Target="/ppt/notesMasters/notesMaster1.xml" Id="Rc4eb7aea3e7044a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本資料は公開情報だけで構成している。内部の非公開情報は含めない。</a:t>
            </a:r>
          </a:p>
          <a:p xmlns:a="http://schemas.openxmlformats.org/drawingml/2006/main">
            <a:r>
              <a:t>財務省関税局『税関中長期構想2030』PDF 3～4ページ（本文2～3ページ） https://www.customs.go.jp/zeikan/seido/smart/honbun2030.pdf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スライド2 補足</a:t>
            </a:r>
          </a:p>
          <a:p xmlns:a="http://schemas.openxmlformats.org/drawingml/2006/main">
            <a:r>
              <a:t>出典: 財務省関税局『税関中長期構想2030』PDF 3～4ページ（本文2～3ページ） https://www.customs.go.jp/zeikan/seido/smart/honbun2030.pdf</a:t>
            </a:r>
          </a:p>
          <a:p xmlns:a="http://schemas.openxmlformats.org/drawingml/2006/main">
            <a:r>
              <a:t>出典: 税関『税関パンフレット2026 Chapter 7 資料』PDF 5ページ（誌面60～61ページ） https://www.customs.go.jp/zeikan/pamphlet/report/pdf/report_008j.pdf</a:t>
            </a:r>
          </a:p>
          <a:p xmlns:a="http://schemas.openxmlformats.org/drawingml/2006/main">
            <a:r>
              <a:t>出典: NTTデータ『NACCS（輸出入・港湾関連情報処理システム）』 https://www.nttdata.com/jp/ja/trends/case/2017/033101/</a:t>
            </a:r>
          </a:p>
          <a:p xmlns:a="http://schemas.openxmlformats.org/drawingml/2006/main">
            <a:r>
              <a:t>出典: NTTデータ『SimGate』 https://www.nttdata.com/jp/ja/lineup/simgate/</a:t>
            </a:r>
          </a:p>
          <a:p xmlns:a="http://schemas.openxmlformats.org/drawingml/2006/main">
            <a:r>
              <a:t>出典: NTTデータ『TradeBook』 https://www.nttdata.com/jp/ja/lineup/tradebook/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スライド3 補足</a:t>
            </a:r>
          </a:p>
          <a:p xmlns:a="http://schemas.openxmlformats.org/drawingml/2006/main">
            <a:r>
              <a:t>出典: 税関『税関パンフレット2026 Chapter 7 資料』PDF 5ページ（誌面60～61ページ） https://www.customs.go.jp/zeikan/pamphlet/report/pdf/report_008j.pdf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スライド4 補足</a:t>
            </a:r>
          </a:p>
          <a:p xmlns:a="http://schemas.openxmlformats.org/drawingml/2006/main">
            <a:r>
              <a:t>出典: 財務省関税局『税関中長期構想2030』PDF 3～4ページ（本文2～3ページ） https://www.customs.go.jp/zeikan/seido/smart/honbun2030.pdf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スライド5 補足</a:t>
            </a:r>
          </a:p>
          <a:p xmlns:a="http://schemas.openxmlformats.org/drawingml/2006/main">
            <a:r>
              <a:t>出典: 財務省『政策評価調書 政策目標5-3』PDF 6ページ（参考指標2） https://www.mof.go.jp/about_mof/mof_budget/budget/fy2025/kobetuhyou2025-15.pdf</a:t>
            </a:r>
          </a:p>
          <a:p xmlns:a="http://schemas.openxmlformats.org/drawingml/2006/main">
            <a:r>
              <a:t>出典: 税関『税関パンフレット2026 Chapter 7 資料』PDF 5ページ（誌面60～61ページ） https://www.customs.go.jp/zeikan/pamphlet/report/pdf/report_008j.pdf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スライド6 補足</a:t>
            </a:r>
          </a:p>
          <a:p xmlns:a="http://schemas.openxmlformats.org/drawingml/2006/main">
            <a:r>
              <a:t>出典: 財務省関税局『税関中長期構想2030』PDF 3～4ページ（本文2～3ページ） https://www.customs.go.jp/zeikan/seido/smart/honbun2030.pdf</a:t>
            </a:r>
          </a:p>
          <a:p xmlns:a="http://schemas.openxmlformats.org/drawingml/2006/main">
            <a:r>
              <a:t>出典: 税関『税関パンフレット2026 Chapter 7 資料』PDF 5ページ（誌面60～61ページ） https://www.customs.go.jp/zeikan/pamphlet/report/pdf/report_008j.pdf</a:t>
            </a:r>
          </a:p>
          <a:p xmlns:a="http://schemas.openxmlformats.org/drawingml/2006/main">
            <a:r>
              <a:t>出典: 財務省『政策評価調書 政策目標5-3』PDF 6ページ（参考指標2） https://www.mof.go.jp/about_mof/mof_budget/budget/fy2025/kobetuhyou2025-15.pdf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スライド7 補足</a:t>
            </a:r>
          </a:p>
          <a:p xmlns:a="http://schemas.openxmlformats.org/drawingml/2006/main">
            <a:r>
              <a:t>出典: 財務省・税関『輸入申告の審査区分の通知時期の変更』PDF 1ページ https://www.customs.go.jp/shiryo/20260501_2.pdf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スライド8 補足</a:t>
            </a:r>
          </a:p>
          <a:p xmlns:a="http://schemas.openxmlformats.org/drawingml/2006/main">
            <a:r>
              <a:t>出典: 税関『輸入通関事務処理体制について』PDF 2～5ページ https://www.customs.go.jp/kaisei/zeikantsutatsu/kobetsu/TU-H12k0247.pdf</a:t>
            </a:r>
          </a:p>
          <a:p xmlns:a="http://schemas.openxmlformats.org/drawingml/2006/main">
            <a:r>
              <a:t>出典: 税関『システム導入官署における輸入通関事務処理体制について』PDF 3～5ページ https://www.customs.go.jp/kaisei/zeikantsutatsu/kobetsu/TU-H12k0249.pdf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スライド9 補足</a:t>
            </a:r>
          </a:p>
          <a:p xmlns:a="http://schemas.openxmlformats.org/drawingml/2006/main">
            <a:r>
              <a:t>出典: 税関『輸入通関事務処理体制について』PDF 2～5ページ https://www.customs.go.jp/kaisei/zeikantsutatsu/kobetsu/TU-H12k0247.pdf</a:t>
            </a:r>
          </a:p>
          <a:p xmlns:a="http://schemas.openxmlformats.org/drawingml/2006/main">
            <a:r>
              <a:t>出典: 税関『システム導入官署における輸入通関事務処理体制について』PDF 3～5ページ https://www.customs.go.jp/kaisei/zeikantsutatsu/kobetsu/TU-H12k0249.pdf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スライド10 補足</a:t>
            </a:r>
          </a:p>
          <a:p xmlns:a="http://schemas.openxmlformats.org/drawingml/2006/main">
            <a:r>
              <a:t>出典: 財務省関税局『税関中長期構想2030 資料2-1』PDF 6ページ（資料上5ページ） https://www.mof.go.jp/about_mof/councils/customs_foreign_exchange/sub-of_customs/proceedings_customs/material/20260623/kana20260623siryo2-1.pdf</a:t>
            </a:r>
          </a:p>
          <a:p xmlns:a="http://schemas.openxmlformats.org/drawingml/2006/main">
            <a:r>
              <a:t>出典: 財務省関税局『税関中長期構想2030 資料2-2』PDF 29ページ（資料上28ページ） https://www.mof.go.jp/about_mof/councils/customs_foreign_exchange/sub-of_customs/proceedings_customs/material/20260623/kana20260623siryo2-2.pdf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スライド11 補足</a:t>
            </a:r>
          </a:p>
          <a:p xmlns:a="http://schemas.openxmlformats.org/drawingml/2006/main">
            <a:r>
              <a:t>出典: 税関『輸入通関事務処理体制について』PDF 2～5ページ https://www.customs.go.jp/kaisei/zeikantsutatsu/kobetsu/TU-H12k0247.pdf</a:t>
            </a:r>
          </a:p>
          <a:p xmlns:a="http://schemas.openxmlformats.org/drawingml/2006/main">
            <a:r>
              <a:t>出典: 税関『システム導入官署における輸入通関事務処理体制について』PDF 3～5ページ https://www.customs.go.jp/kaisei/zeikantsutatsu/kobetsu/TU-H12k0249.pdf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スライド12 補足</a:t>
            </a:r>
          </a:p>
          <a:p xmlns:a="http://schemas.openxmlformats.org/drawingml/2006/main">
            <a:r>
              <a:t>出典: 財務省関税局『税関中長期構想2030 資料2-2』PDF 29ページ（資料上28ページ） https://www.mof.go.jp/about_mof/councils/customs_foreign_exchange/sub-of_customs/proceedings_customs/material/20260623/kana20260623siryo2-2.pdf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スライド13 補足</a:t>
            </a:r>
          </a:p>
          <a:p xmlns:a="http://schemas.openxmlformats.org/drawingml/2006/main">
            <a:r>
              <a:t>出典: 税関『輸入通関事務処理体制について』PDF 2～5ページ https://www.customs.go.jp/kaisei/zeikantsutatsu/kobetsu/TU-H12k0247.pdf</a:t>
            </a:r>
          </a:p>
          <a:p xmlns:a="http://schemas.openxmlformats.org/drawingml/2006/main">
            <a:r>
              <a:t>出典: 財務省関税局『税関中長期構想2030 資料2-2』PDF 29ページ（資料上28ページ） https://www.mof.go.jp/about_mof/councils/customs_foreign_exchange/sub-of_customs/proceedings_customs/material/20260623/kana20260623siryo2-2.pdf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スライド14 補足</a:t>
            </a:r>
          </a:p>
          <a:p xmlns:a="http://schemas.openxmlformats.org/drawingml/2006/main">
            <a:r>
              <a:t>出典: 税関『輸入通関事務処理体制について』PDF 2～5ページ https://www.customs.go.jp/kaisei/zeikantsutatsu/kobetsu/TU-H12k0247.pdf</a:t>
            </a:r>
          </a:p>
          <a:p xmlns:a="http://schemas.openxmlformats.org/drawingml/2006/main">
            <a:r>
              <a:t>出典: 財務省関税局『税関中長期構想2030 資料2-2』PDF 29ページ（資料上28ページ） https://www.mof.go.jp/about_mof/councils/customs_foreign_exchange/sub-of_customs/proceedings_customs/material/20260623/kana20260623siryo2-2.pdf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スライド15 補足</a:t>
            </a:r>
          </a:p>
          <a:p xmlns:a="http://schemas.openxmlformats.org/drawingml/2006/main">
            <a:r>
              <a:t>出典: 財務省関税局『税関中長期構想2030 資料2-2』PDF 29ページ（資料上28ページ） https://www.mof.go.jp/about_mof/councils/customs_foreign_exchange/sub-of_customs/proceedings_customs/material/20260623/kana20260623siryo2-2.pdf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スライド16 補足</a:t>
            </a:r>
          </a:p>
          <a:p xmlns:a="http://schemas.openxmlformats.org/drawingml/2006/main">
            <a:r>
              <a:t>出典: 財務省関税局『税関中長期構想2030 資料2-1』PDF 6ページ（資料上5ページ） https://www.mof.go.jp/about_mof/councils/customs_foreign_exchange/sub-of_customs/proceedings_customs/material/20260623/kana20260623siryo2-1.pdf</a:t>
            </a:r>
          </a:p>
          <a:p xmlns:a="http://schemas.openxmlformats.org/drawingml/2006/main">
            <a:r>
              <a:t>出典: 財務省関税局『税関中長期構想2030 資料2-2』PDF 29ページ（資料上28ページ） https://www.mof.go.jp/about_mof/councils/customs_foreign_exchange/sub-of_customs/proceedings_customs/material/20260623/kana20260623siryo2-2.pdf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スライド17 補足</a:t>
            </a:r>
          </a:p>
          <a:p xmlns:a="http://schemas.openxmlformats.org/drawingml/2006/main">
            <a:r>
              <a:t>出典: NTTデータ『NACCS（輸出入・港湾関連情報処理システム）』 https://www.nttdata.com/jp/ja/trends/case/2017/033101/</a:t>
            </a:r>
          </a:p>
          <a:p xmlns:a="http://schemas.openxmlformats.org/drawingml/2006/main">
            <a:r>
              <a:t>出典: NTTデータ『SimGate』 https://www.nttdata.com/jp/ja/lineup/simgate/</a:t>
            </a:r>
          </a:p>
          <a:p xmlns:a="http://schemas.openxmlformats.org/drawingml/2006/main">
            <a:r>
              <a:t>出典: NTTデータ『TradeBook』 https://www.nttdata.com/jp/ja/lineup/tradebook/</a:t>
            </a:r>
          </a:p>
          <a:p xmlns:a="http://schemas.openxmlformats.org/drawingml/2006/main">
            <a:r>
              <a:t>出典: NTTデータ『DXで物流改革を！通関業務に精通したNTTデータの一手』2026年4月30日 https://www.nttdata.com/jp/ja/trends/data-insight/2026/043002/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スライド18 補足</a:t>
            </a:r>
          </a:p>
          <a:p xmlns:a="http://schemas.openxmlformats.org/drawingml/2006/main">
            <a:r>
              <a:t>出典: 財務省関税局『税関中長期構想2030』PDF 3～4ページ（本文2～3ページ） https://www.customs.go.jp/zeikan/seido/smart/honbun2030.pdf</a:t>
            </a:r>
          </a:p>
          <a:p xmlns:a="http://schemas.openxmlformats.org/drawingml/2006/main">
            <a:r>
              <a:t>出典: 税関『税関パンフレット2026 Chapter 7 資料』PDF 5ページ（誌面60～61ページ） https://www.customs.go.jp/zeikan/pamphlet/report/pdf/report_008j.pdf</a:t>
            </a:r>
          </a:p>
          <a:p xmlns:a="http://schemas.openxmlformats.org/drawingml/2006/main">
            <a:r>
              <a:t>出典: 税関『輸入通関事務処理体制について』PDF 2～5ページ https://www.customs.go.jp/kaisei/zeikantsutatsu/kobetsu/TU-H12k0247.pdf</a:t>
            </a:r>
          </a:p>
          <a:p xmlns:a="http://schemas.openxmlformats.org/drawingml/2006/main">
            <a:r>
              <a:t>出典: 財務省関税局『税関中長期構想2030 資料2-2』PDF 29ページ（資料上28ページ） https://www.mof.go.jp/about_mof/councils/customs_foreign_exchange/sub-of_customs/proceedings_customs/material/20260623/kana20260623siryo2-2.pdf</a:t>
            </a:r>
          </a:p>
          <a:p xmlns:a="http://schemas.openxmlformats.org/drawingml/2006/main">
            <a:r>
              <a:t>出典: NTTデータ『NACCS（輸出入・港湾関連情報処理システム）』 https://www.nttdata.com/jp/ja/trends/case/2017/033101/</a:t>
            </a:r>
          </a:p>
          <a:p xmlns:a="http://schemas.openxmlformats.org/drawingml/2006/main">
            <a:r>
              <a:t>出典: NTTデータ『SimGate』 https://www.nttdata.com/jp/ja/lineup/simgate/</a:t>
            </a:r>
          </a:p>
          <a:p xmlns:a="http://schemas.openxmlformats.org/drawingml/2006/main">
            <a:r>
              <a:t>出典: NTTデータ『TradeBook』 https://www.nttdata.com/jp/ja/lineup/tradebook/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スライド19 補足</a:t>
            </a:r>
          </a:p>
          <a:p xmlns:a="http://schemas.openxmlformats.org/drawingml/2006/main">
            <a:r>
              <a:t>出典: 財務省関税局『税関中長期構想2030』PDF 3～4ページ（本文2～3ページ） https://www.customs.go.jp/zeikan/seido/smart/honbun2030.pdf</a:t>
            </a:r>
          </a:p>
          <a:p xmlns:a="http://schemas.openxmlformats.org/drawingml/2006/main">
            <a:r>
              <a:t>出典: 税関『税関パンフレット2026 Chapter 7 資料』PDF 5ページ（誌面60～61ページ） https://www.customs.go.jp/zeikan/pamphlet/report/pdf/report_008j.pdf</a:t>
            </a:r>
          </a:p>
          <a:p xmlns:a="http://schemas.openxmlformats.org/drawingml/2006/main">
            <a:r>
              <a:t>出典: 財務省『政策評価調書 政策目標5-3』PDF 6ページ（参考指標2） https://www.mof.go.jp/about_mof/mof_budget/budget/fy2025/kobetuhyou2025-15.pdf</a:t>
            </a:r>
          </a:p>
          <a:p xmlns:a="http://schemas.openxmlformats.org/drawingml/2006/main">
            <a:r>
              <a:t>出典: 財務省・税関『輸入申告の審査区分の通知時期の変更』PDF 1ページ https://www.customs.go.jp/shiryo/20260501_2.pdf</a:t>
            </a:r>
          </a:p>
          <a:p xmlns:a="http://schemas.openxmlformats.org/drawingml/2006/main">
            <a:r>
              <a:t>出典: 税関『輸入通関事務処理体制について』PDF 2～5ページ https://www.customs.go.jp/kaisei/zeikantsutatsu/kobetsu/TU-H12k0247.pdf</a:t>
            </a:r>
          </a:p>
          <a:p xmlns:a="http://schemas.openxmlformats.org/drawingml/2006/main">
            <a:r>
              <a:t>出典: 税関『システム導入官署における輸入通関事務処理体制について』PDF 3～5ページ https://www.customs.go.jp/kaisei/zeikantsutatsu/kobetsu/TU-H12k0249.pdf</a:t>
            </a:r>
          </a:p>
          <a:p xmlns:a="http://schemas.openxmlformats.org/drawingml/2006/main">
            <a:r>
              <a:t>出典: 財務省関税局『税関中長期構想2030 資料2-1』PDF 6ページ（資料上5ページ） https://www.mof.go.jp/about_mof/councils/customs_foreign_exchange/sub-of_customs/proceedings_customs/material/20260623/kana20260623siryo2-1.pdf</a:t>
            </a:r>
          </a:p>
          <a:p xmlns:a="http://schemas.openxmlformats.org/drawingml/2006/main">
            <a:r>
              <a:t>出典: 財務省関税局『税関中長期構想2030 資料2-2』PDF 29ページ（資料上28ページ） https://www.mof.go.jp/about_mof/councils/customs_foreign_exchange/sub-of_customs/proceedings_customs/material/20260623/kana20260623siryo2-2.pdf</a:t>
            </a:r>
          </a:p>
          <a:p xmlns:a="http://schemas.openxmlformats.org/drawingml/2006/main">
            <a:r>
              <a:t>出典: NTTデータ『NACCS（輸出入・港湾関連情報処理システム）』 https://www.nttdata.com/jp/ja/trends/case/2017/033101/</a:t>
            </a:r>
          </a:p>
          <a:p xmlns:a="http://schemas.openxmlformats.org/drawingml/2006/main">
            <a:r>
              <a:t>出典: NTTデータ『SimGate』 https://www.nttdata.com/jp/ja/lineup/simgate/</a:t>
            </a:r>
          </a:p>
          <a:p xmlns:a="http://schemas.openxmlformats.org/drawingml/2006/main">
            <a:r>
              <a:t>出典: NTTデータ『TradeBook』 https://www.nttdata.com/jp/ja/lineup/tradebook/</a:t>
            </a:r>
          </a:p>
          <a:p xmlns:a="http://schemas.openxmlformats.org/drawingml/2006/main">
            <a:r>
              <a:t>出典: NTTデータ『DXで物流改革を！通関業務に精通したNTTデータの一手』2026年4月30日 https://www.nttdata.com/jp/ja/trends/data-insight/2026/043002/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4bb10d73e34c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15932746c2413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97370339e42f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1cbf175b7d455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0cf376c99648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b57f01087e43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B359CEA-0A89-4A5C-96A9-DBD932BE82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30D4BB9C-FA35-4BF6-8249-1BE1FB1CB7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DF1A7D4-C61A-4501-9488-9E8B868617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B4C8381-2299-4325-B323-920905C70D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88AAC1F5-B99A-4732-9C2C-D2B2E5DE027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7E16FEF-6E9D-4704-9BB2-9DA6C78BFD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727FCA5-86A9-4AFC-B2C1-D0028903B55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BF1517A-85FD-436A-A7E7-DCD43D4B7D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C2E1C77-995B-4475-B2C9-665A79619B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B152E53-DA0F-4AF7-B0FB-F786D8CFCE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5dcf27948a74d2f" /><Relationship Type="http://schemas.openxmlformats.org/officeDocument/2006/relationships/slideLayout" Target="/ppt/slideLayouts/slideLayout1.xml" Id="Rd2b71e57fb904bab" /><Relationship Type="http://schemas.openxmlformats.org/officeDocument/2006/relationships/slideLayout" Target="/ppt/slideLayouts/slideLayout2.xml" Id="R57c43199b9544529" /><Relationship Type="http://schemas.openxmlformats.org/officeDocument/2006/relationships/slideLayout" Target="/ppt/slideLayouts/slideLayout3.xml" Id="Rec5c6f9c1fcc4844" /><Relationship Type="http://schemas.openxmlformats.org/officeDocument/2006/relationships/slideLayout" Target="/ppt/slideLayouts/slideLayout4.xml" Id="Rbd87664d50dc444f" /><Relationship Type="http://schemas.openxmlformats.org/officeDocument/2006/relationships/slideLayout" Target="/ppt/slideLayouts/slideLayout5.xml" Id="Re5af36d7d025451d" /><Relationship Type="http://schemas.openxmlformats.org/officeDocument/2006/relationships/slideLayout" Target="/ppt/slideLayouts/slideLayout6.xml" Id="R867f0711413441e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b71e57fb904bab"/>
    <p:sldLayoutId xmlns:r="http://schemas.openxmlformats.org/officeDocument/2006/relationships" id="2147483650" r:id="R57c43199b9544529"/>
    <p:sldLayoutId xmlns:r="http://schemas.openxmlformats.org/officeDocument/2006/relationships" id="2147483651" r:id="Rec5c6f9c1fcc4844"/>
    <p:sldLayoutId xmlns:r="http://schemas.openxmlformats.org/officeDocument/2006/relationships" id="2147483652" r:id="Rbd87664d50dc444f"/>
    <p:sldLayoutId xmlns:r="http://schemas.openxmlformats.org/officeDocument/2006/relationships" id="2147483653" r:id="Re5af36d7d025451d"/>
    <p:sldLayoutId xmlns:r="http://schemas.openxmlformats.org/officeDocument/2006/relationships" id="2147483654" r:id="R867f0711413441e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ustoms Evidence">
      <a:dk1>
        <a:srgbClr val="000000"/>
      </a:dk1>
      <a:lt1>
        <a:srgbClr val="FFFFFF"/>
      </a:lt1>
      <a:dk2>
        <a:srgbClr val="102A43"/>
      </a:dk2>
      <a:lt2>
        <a:srgbClr val="EDF2F5"/>
      </a:lt2>
      <a:accent1>
        <a:srgbClr val="173F5F"/>
      </a:accent1>
      <a:accent2>
        <a:srgbClr val="0C7C86"/>
      </a:accent2>
      <a:accent3>
        <a:srgbClr val="E69A2D"/>
      </a:accent3>
      <a:accent4>
        <a:srgbClr val="C94C4C"/>
      </a:accent4>
      <a:accent5>
        <a:srgbClr val="6B7C8A"/>
      </a:accent5>
      <a:accent6>
        <a:srgbClr val="16A6A1"/>
      </a:accent6>
      <a:hlink>
        <a:srgbClr val="1769AA"/>
      </a:hlink>
      <a:folHlink>
        <a:srgbClr val="6B4BA3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ustoms Eviden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fe620661a444fd" /><Relationship Type="http://schemas.openxmlformats.org/officeDocument/2006/relationships/notesSlide" Target="/ppt/notesSlides/notesSlide1.xml" Id="Re2198ea4688341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b2d7c90f9849d3" /><Relationship Type="http://schemas.openxmlformats.org/officeDocument/2006/relationships/notesSlide" Target="/ppt/notesSlides/notesSlide2.xml" Id="R84976a26ffeb41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6b9e6fd1264bc2" /><Relationship Type="http://schemas.openxmlformats.org/officeDocument/2006/relationships/chart" Target="/ppt/slides/charts/chart1.xml" Id="R50830c53c7c549d4" /><Relationship Type="http://schemas.openxmlformats.org/officeDocument/2006/relationships/notesSlide" Target="/ppt/notesSlides/notesSlide3.xml" Id="R9f5084bf78f147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9dd310c29a47a7" /><Relationship Type="http://schemas.openxmlformats.org/officeDocument/2006/relationships/notesSlide" Target="/ppt/notesSlides/notesSlide4.xml" Id="R18f81182412b47a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bb556357294cf5" /><Relationship Type="http://schemas.openxmlformats.org/officeDocument/2006/relationships/chart" Target="/ppt/slides/charts/chart2.xml" Id="Rc7606f7a956e46c2" /><Relationship Type="http://schemas.openxmlformats.org/officeDocument/2006/relationships/notesSlide" Target="/ppt/notesSlides/notesSlide5.xml" Id="Readec00c2ced42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e47070d6c346a4" /><Relationship Type="http://schemas.openxmlformats.org/officeDocument/2006/relationships/notesSlide" Target="/ppt/notesSlides/notesSlide6.xml" Id="R1fdd44896d084e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e3808ccd204895" /><Relationship Type="http://schemas.openxmlformats.org/officeDocument/2006/relationships/notesSlide" Target="/ppt/notesSlides/notesSlide7.xml" Id="R0e2b10fd26cf452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496dd5aeeb4406" /><Relationship Type="http://schemas.openxmlformats.org/officeDocument/2006/relationships/notesSlide" Target="/ppt/notesSlides/notesSlide8.xml" Id="Rcecaf73ea6134ef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851456ab484a7c" /><Relationship Type="http://schemas.openxmlformats.org/officeDocument/2006/relationships/notesSlide" Target="/ppt/notesSlides/notesSlide9.xml" Id="R7d0252cbdce44ce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1d85ada44d4fc7" /><Relationship Type="http://schemas.openxmlformats.org/officeDocument/2006/relationships/notesSlide" Target="/ppt/notesSlides/notesSlide10.xml" Id="Ra16f5a72bbc9424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84ca97162564184" /><Relationship Type="http://schemas.openxmlformats.org/officeDocument/2006/relationships/notesSlide" Target="/ppt/notesSlides/notesSlide11.xml" Id="R5d251f38a6334f6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d44cc3c7bbc4c9c" /><Relationship Type="http://schemas.openxmlformats.org/officeDocument/2006/relationships/notesSlide" Target="/ppt/notesSlides/notesSlide12.xml" Id="R3bfd20bc84da41a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36b0d6a16e4975" /><Relationship Type="http://schemas.openxmlformats.org/officeDocument/2006/relationships/notesSlide" Target="/ppt/notesSlides/notesSlide13.xml" Id="R43104778c18b42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586075f0714141" /><Relationship Type="http://schemas.openxmlformats.org/officeDocument/2006/relationships/notesSlide" Target="/ppt/notesSlides/notesSlide14.xml" Id="R9c48b7d7a44f4c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227717ad43452c" /><Relationship Type="http://schemas.openxmlformats.org/officeDocument/2006/relationships/notesSlide" Target="/ppt/notesSlides/notesSlide15.xml" Id="Rf2be3b151295420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9f15776742415f" /><Relationship Type="http://schemas.openxmlformats.org/officeDocument/2006/relationships/notesSlide" Target="/ppt/notesSlides/notesSlide16.xml" Id="R761692b2057340b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70b2f906a548c2" /><Relationship Type="http://schemas.openxmlformats.org/officeDocument/2006/relationships/notesSlide" Target="/ppt/notesSlides/notesSlide17.xml" Id="R49874589ae3b4b9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e6f3225006486f" /><Relationship Type="http://schemas.openxmlformats.org/officeDocument/2006/relationships/notesSlide" Target="/ppt/notesSlides/notesSlide18.xml" Id="R063c508bb420424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b746e1a8b74854" /><Relationship Type="http://schemas.openxmlformats.org/officeDocument/2006/relationships/notesSlide" Target="/ppt/notesSlides/notesSlide19.xml" Id="Rf21bbc49f2d644b1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輸入許可件数</c:v>
          </c:tx>
          <c:spPr>
            <a:ln xmlns:a="http://schemas.openxmlformats.org/drawingml/2006/main" w="38100">
              <a:solidFill>
                <a:srgbClr val="0C7C86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0C7C86"/>
              </a:solidFill>
            </c:spPr>
          </c:marker>
          <c:cat>
            <c:numLit>
              <c:formatCode>General</c:formatCode>
              <c:ptCount val="7"/>
              <c:pt idx="0">
                <c:v>2019</c:v>
              </c:pt>
              <c:pt idx="1">
                <c:v>2020</c:v>
              </c:pt>
              <c:pt idx="2">
                <c:v>2021</c:v>
              </c:pt>
              <c:pt idx="3">
                <c:v>2022</c:v>
              </c:pt>
              <c:pt idx="4">
                <c:v>2023</c:v>
              </c:pt>
              <c:pt idx="5">
                <c:v>2024</c:v>
              </c:pt>
              <c:pt idx="6">
                <c:v>2025</c:v>
              </c:pt>
            </c:numLit>
          </c:cat>
          <c:val>
            <c:numLit>
              <c:formatCode>General</c:formatCode>
              <c:ptCount val="7"/>
              <c:pt idx="0">
                <c:v>100</c:v>
              </c:pt>
              <c:pt idx="1">
                <c:v>150.1</c:v>
              </c:pt>
              <c:pt idx="2">
                <c:v>206.1</c:v>
              </c:pt>
              <c:pt idx="3">
                <c:v>243.3</c:v>
              </c:pt>
              <c:pt idx="4">
                <c:v>302.1</c:v>
              </c:pt>
              <c:pt idx="5">
                <c:v>408.9</c:v>
              </c:pt>
              <c:pt idx="6">
                <c:v>488.8</c:v>
              </c:pt>
            </c:numLit>
          </c:val>
        </c:ser>
        <c:ser>
          <c:idx val="1"/>
          <c:order val="1"/>
          <c:tx>
            <c:v>税関定員</c:v>
          </c:tx>
          <c:spPr>
            <a:ln xmlns:a="http://schemas.openxmlformats.org/drawingml/2006/main" w="38100">
              <a:solidFill>
                <a:srgbClr val="173F5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173F5F"/>
              </a:solidFill>
            </c:spPr>
          </c:marker>
          <c:cat>
            <c:numLit>
              <c:formatCode>General</c:formatCode>
              <c:ptCount val="7"/>
              <c:pt idx="0">
                <c:v>2019</c:v>
              </c:pt>
              <c:pt idx="1">
                <c:v>2020</c:v>
              </c:pt>
              <c:pt idx="2">
                <c:v>2021</c:v>
              </c:pt>
              <c:pt idx="3">
                <c:v>2022</c:v>
              </c:pt>
              <c:pt idx="4">
                <c:v>2023</c:v>
              </c:pt>
              <c:pt idx="5">
                <c:v>2024</c:v>
              </c:pt>
              <c:pt idx="6">
                <c:v>2025</c:v>
              </c:pt>
            </c:numLit>
          </c:cat>
          <c:val>
            <c:numLit>
              <c:formatCode>General</c:formatCode>
              <c:ptCount val="7"/>
              <c:pt idx="0">
                <c:v>100</c:v>
              </c:pt>
              <c:pt idx="1">
                <c:v>102.2</c:v>
              </c:pt>
              <c:pt idx="2">
                <c:v>103.7</c:v>
              </c:pt>
              <c:pt idx="3">
                <c:v>104.8</c:v>
              </c:pt>
              <c:pt idx="4">
                <c:v>105.8</c:v>
              </c:pt>
              <c:pt idx="5">
                <c:v>106.2</c:v>
              </c:pt>
              <c:pt idx="6">
                <c:v>106.6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DD8E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D5B6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5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2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DD8E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D5B68"/>
                </a:solidFill>
              </a:defRPr>
            </a:pPr>
          </a:p>
        </c:txPr>
        <c:crossAx val="48650112"/>
        <c:crossBetween val="between"/>
        <c:majorUnit val="10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4D5B68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許可10万件当たりの非違発見件数</c:v>
          </c:tx>
          <c:spPr>
            <a:ln xmlns:a="http://schemas.openxmlformats.org/drawingml/2006/main" w="47625">
              <a:solidFill>
                <a:srgbClr val="0C7C86"/>
              </a:solidFill>
              <a:prstDash val="solid"/>
            </a:ln>
          </c:spPr>
          <c:marker>
            <c:symbol val="circle"/>
            <c:size val="10"/>
            <c:spPr>
              <a:solidFill xmlns:a="http://schemas.openxmlformats.org/drawingml/2006/main">
                <a:srgbClr val="0C7C86"/>
              </a:solidFill>
            </c:spPr>
          </c:marker>
          <c:dLbls>
            <c:numFmt formatCode="0.0" sourceLinked="0"/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1125" b="1">
                    <a:solidFill>
                      <a:srgbClr val="102A43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Lit>
              <c:ptCount val="5"/>
              <c:pt idx="0">
                <c:v>2015–19</c:v>
              </c:pt>
              <c:pt idx="1">
                <c:v>2016–20</c:v>
              </c:pt>
              <c:pt idx="2">
                <c:v>2017–21</c:v>
              </c:pt>
              <c:pt idx="3">
                <c:v>2018–22</c:v>
              </c:pt>
              <c:pt idx="4">
                <c:v>2019–23</c:v>
              </c:pt>
            </c:strLit>
          </c:cat>
          <c:val>
            <c:numLit>
              <c:formatCode>General</c:formatCode>
              <c:ptCount val="5"/>
              <c:pt idx="0">
                <c:v>291</c:v>
              </c:pt>
              <c:pt idx="1">
                <c:v>226.4</c:v>
              </c:pt>
              <c:pt idx="2">
                <c:v>174.1</c:v>
              </c:pt>
              <c:pt idx="3">
                <c:v>137.2</c:v>
              </c:pt>
              <c:pt idx="4">
                <c:v>106.2</c:v>
              </c:pt>
            </c:numLit>
          </c:val>
        </c:ser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DD8E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D5B68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2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F2F5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DD8E0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4D5B68"/>
                </a:solidFill>
              </a:defRPr>
            </a:pPr>
          </a:p>
        </c:txPr>
        <c:crossAx val="48650112"/>
        <c:crossBetween val="between"/>
        <c:majorUnit val="80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5B1C34-828A-4342-89C6-B3E3ED0B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6A1"/>
          </a:solidFill>
          <a:ln xmlns:a="http://schemas.openxmlformats.org/drawingml/2006/main" w="9525">
            <a:solidFill>
              <a:srgbClr val="16A6A1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88875-6D77-4934-B4B6-08FA2C046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85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8DD8D4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75" b="1">
                <a:solidFill>
                  <a:srgbClr val="8DD8D4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8DD8D4"/>
                </a:solidFill>
                <a:latin typeface="Noto Sans JP"/>
                <a:ea typeface="Noto Sans JP"/>
                <a:cs typeface="Noto Sans JP"/>
              </a:rPr>
              <a:t>CUSTOMS REVIEW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98CA2-D2DF-47E8-9F23-84815395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390650"/>
            <a:ext cx="685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税関輸入審査の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3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9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処理能力を高める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839DB5-DDD4-4097-A71F-28CDE1800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685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CDE9E7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100" b="0">
                <a:solidFill>
                  <a:srgbClr val="CDE9E7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CDE9E7"/>
                </a:solidFill>
                <a:latin typeface="Noto Sans JP"/>
                <a:ea typeface="Noto Sans JP"/>
                <a:cs typeface="Noto Sans JP"/>
              </a:rPr>
              <a:t>申告根拠照合ワークベンチ構想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61F9EF-0675-4858-9722-5EF7AA17C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447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46657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25F4BC-FEA2-4E3E-8A0E-9262B41F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767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区分2・3の書類審査で、書類探索と突合を支援する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最終判断は税関職員に残す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4A6DC-EDFC-4862-B31E-3642C2AC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104900"/>
            <a:ext cx="2571750" cy="3714750"/>
          </a:xfrm>
          <a:prstGeom xmlns:a="http://schemas.openxmlformats.org/drawingml/2006/main" prst="roundRect">
            <a:avLst>
              <a:gd name="adj" fmla="val 963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3C678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CE5E9-E5EA-4E4E-B8E7-DC37A2E81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524000"/>
            <a:ext cx="1847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173F5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CAB543-555E-4055-B500-B1707EAD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002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FACT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C5F6A-751D-443A-9671-1F0A9E51C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78117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事実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0AE31A-F6F1-447C-A6C3-9F2A322D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14600"/>
            <a:ext cx="1847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A9CDF-C41A-4566-AFFF-3E09D1F2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908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E2DB3-DC5F-4BB8-A59C-B107132F0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77177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計算・解釈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D71C76-F057-4364-80F3-0F3079F9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05200"/>
            <a:ext cx="18478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E69A2D"/>
          </a:solidFill>
          <a:ln xmlns:a="http://schemas.openxmlformats.org/drawingml/2006/main" w="9525">
            <a:solidFill>
              <a:srgbClr val="E69A2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CC6BD-5D79-41E5-9391-DA02A596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581400"/>
            <a:ext cx="1562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8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HYPOTHESIS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25B456-17CE-4BF9-BBAE-5A036A09E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62375"/>
            <a:ext cx="1562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未検証の仮説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E32B1A-CC9F-4381-BED1-293C4DA5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90550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AFC5D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AFC5D5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AFC5D5"/>
                </a:solidFill>
                <a:latin typeface="Noto Sans JP"/>
                <a:ea typeface="Noto Sans JP"/>
                <a:cs typeface="Noto Sans JP"/>
              </a:rPr>
              <a:t>公開一次資料に基づく提案ストーリー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04FF6B-59B6-4566-8525-98E0285F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9055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125" b="0">
                <a:solidFill>
                  <a:srgbClr val="AFC5D5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1125" b="0">
                <a:solidFill>
                  <a:srgbClr val="AFC5D5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AFC5D5"/>
                </a:solidFill>
                <a:latin typeface="Noto Sans JP"/>
                <a:ea typeface="Noto Sans JP"/>
                <a:cs typeface="Noto Sans JP"/>
              </a:rPr>
              <a:t>2026年10月14日</a:t>
            </a:r>
          </a:p>
        </p:txBody>
      </p:sp>
    </p:spTree>
    <p:extLst>
      <p:ext uri="{BB962C8B-B14F-4D97-AF65-F5344CB8AC3E}">
        <p14:creationId xmlns:p14="http://schemas.microsoft.com/office/powerpoint/2010/main" val="209723261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EA81DC-A5A5-4421-BAFF-85C83769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B95D14-BFD4-49FF-AF6F-F7E476567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EXECUTIVE SUMMARY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DF35DBB-2DBA-4053-9D7B-396E719A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提案の結論は、審査官の判断前作業を短くすること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B7E701-3459-4FF5-900B-560B9BC8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6E68DF-EC51-42B3-915E-C464C7656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138897-5ECB-46E7-90BA-1CAE1998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431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7F8F1-B64F-456B-BDDF-803859458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217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輸入量と人員の差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A6F547-E033-424F-915F-8EA00F60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21717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輸入許可件数は2019年比4.89倍。税関定員は1.07倍にとどまる。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5D8581-B727-4696-AB36-B9AF9809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1485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173F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9C3F72-FA62-4F8C-891E-205EAE93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243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事実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1B7D05-B16B-4FBC-B938-58A33250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4859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ED45DA-C415-472D-8D18-98A4D4282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431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7C8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11A7FD-AC21-4707-9628-429EE4EB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133600"/>
            <a:ext cx="217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区分2・3に限定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0F67BF-13D3-4E59-B661-C4784A2C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876550"/>
            <a:ext cx="21717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審査区分の判定は変えず、書類審査・検査扱いとなった後を支援する。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2F52A4-7548-4CFE-8AE0-314EF3B3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1485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676FB0-E828-49A8-92F7-E4F022FD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5243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方針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72F410-DE2F-47FC-8F32-0BCBB0FB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4859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C9BA42-ED67-4FCA-85E5-C4E7737B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431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7C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522CD8-DB67-48DE-9F08-D5622991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33600"/>
            <a:ext cx="217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根拠を並べて提示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C3E65D-281D-41EB-9ED0-1C6DE3EB9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76550"/>
            <a:ext cx="21717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申告・添付書類・過去実績を項目単位で照合し、差分と原文位置を示す。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B128C-AD26-4B68-B579-B5B074817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1485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A2D"/>
          </a:solidFill>
          <a:ln xmlns:a="http://schemas.openxmlformats.org/drawingml/2006/main" w="9525">
            <a:solidFill>
              <a:srgbClr val="E69A2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ADF4352-20B5-4200-9421-CF4054DD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243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仮説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BAFE0-6855-497D-9A6E-E2F313245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485900"/>
            <a:ext cx="723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3B961A-09A7-49E8-8FF0-7B2ACEF0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1943100"/>
            <a:ext cx="2171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7C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2C4635-5B10-4F6C-91D8-E5808D939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133600"/>
            <a:ext cx="2171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NTTデータの強み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FAC3FA-92FB-4285-B989-2A8A1514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876550"/>
            <a:ext cx="21717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20000"/>
              </a:lnSpc>
              <a:buNone/>
              <a:defRPr sz="142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通関システム、NACCS接続、貿易帳票管理の知見を組み合わせられる。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5C8A66-BE4B-407A-A0F0-2C9DDA9C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1485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0C4BD70-F09F-4B69-8639-27FD55C0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45243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解釈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1F01FB-89EC-481B-900F-773D43F3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10544175" cy="876300"/>
          </a:xfrm>
          <a:prstGeom xmlns:a="http://schemas.openxmlformats.org/drawingml/2006/main" prst="roundRect">
            <a:avLst>
              <a:gd name="adj" fmla="val 1087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24F72C-F60D-4421-A3C2-DBC6A4BAA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62575"/>
            <a:ext cx="9982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>
              <a:defRPr sz="180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>
              <a:lnSpc>
                <a:spcPct val="105000"/>
              </a:lnSpc>
              <a:buNone/>
              <a:defRPr sz="180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提案の中心：</a:t>
            </a:r>
            <a:r>
              <a:rPr sz="180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AIに最終判断を任せず、審査官が根拠を確認しやすい状態をつくる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525990-25A2-48DC-B814-868265362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90619A-63C2-4F5A-93AE-D40781EF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出典：税関中長期構想2030、税関パンフレット2026、NTTデータ公式情報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B94847-C1D3-4967-AA24-0788A903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37042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F130E9-DF35-48EA-807D-0A75B31FD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069A4E-7566-4ADF-9B81-029CE8BF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1. BACKGROUND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4D6411-081F-45B3-9FCF-ABE47527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輸入許可件数は4.89倍、税関定員は1.07倍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8113A6-EABB-4BCD-8565-D3A6A013F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8CC75-79B9-4A4C-A54F-372EDB25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173F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7D9CC3-716E-49B5-892B-080A21C2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620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事実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99F797-1B31-41C5-87BC-A89FF20CC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3620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2019年を100とした指数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38BD1C03-E2CB-4E6C-B60C-638FAD3431D5}"/>
              </a:ext>
            </a:extLst>
          </p:cNvPr>
          <p:cNvGraphicFramePr/>
          <p:nvPr/>
        </p:nvGraphicFramePr>
        <p:xfrm>
          <a:off xmlns:a="http://schemas.openxmlformats.org/drawingml/2006/main" x="590550" y="1790700"/>
          <a:ext xmlns:a="http://schemas.openxmlformats.org/drawingml/2006/main" cx="7810500" cy="3762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0830c53c7c549d4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FA43B-230E-449D-9555-C008F562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90700"/>
            <a:ext cx="24193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D35BF5-6EE0-4342-A3BD-EF7EE65C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47875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4.89倍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808C6A-584A-4330-9FC3-6204C387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714625"/>
            <a:ext cx="2038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輸入許可件数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4,640万 → 2億2,680万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511790-8D1E-470B-BB28-D5F4F9F6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695700"/>
            <a:ext cx="24193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2D8DE5-F1B7-473F-B8D1-39DA114E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52875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31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1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31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1.07倍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C66AE6-057D-4E42-9AF2-297357D23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619625"/>
            <a:ext cx="20383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税関定員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9,617人 → 10,255人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662673-C962-492C-9350-22FC8DB6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9120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解釈：輸入業務量と組織規模の拡大幅に大きな差がある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1F622-2C95-46DD-AEF3-57CE5C27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341969-0839-4484-9C81-90CFBDB2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出典：税関パンフレット2026 PDF 5ページ。指数は同資料から計算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007B6A-456A-4726-9ADD-D8708AC2B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964319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7FCD0A-81D6-43BD-9A5D-2D9620FE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677B46-86F4-40E8-9C7B-517497374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1. BACKGROUND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4AC4765-E666-4559-8D47-28DFF734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税関自身が、物理的・人的な処理能力の限界を課題化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E2C80-C083-4665-98DF-17542A63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B4A9B2-E107-4E24-BE59-A9B20D3D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173F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465D3-AC62-432C-8B44-8B89088E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906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事実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9D683-9BA9-4232-97E5-6EE0484F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6800850" cy="2876550"/>
          </a:xfrm>
          <a:prstGeom xmlns:a="http://schemas.openxmlformats.org/drawingml/2006/main" prst="roundRect">
            <a:avLst>
              <a:gd name="adj" fmla="val 5960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13BA9-A3A4-41CB-A268-F0CCC4F2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60769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7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「物理的・人的な処理能力は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27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7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限界に近づいています」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8F1311-8903-4B54-BCB9-8DDB4B981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76675"/>
            <a:ext cx="600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財務省関税局『税関中長期構想2030』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B55F4-4C0D-4D47-9BE1-3D94D1636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669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8DA3BA-0C63-41CD-8230-88807D1D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95500"/>
            <a:ext cx="289560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marL="25" indent="-13">
              <a:lnSpc>
                <a:spcPct val="122000"/>
              </a:lnSpc>
              <a:spcAft>
                <a:spcPts val="9"/>
              </a:spcAft>
              <a:buNone/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背景</a:t>
            </a:r>
            <a:r>
              <a: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　越境ECで少額輸入貨物が急増</a:t>
            </a:r>
          </a:p>
          <a:p xmlns:a="http://schemas.openxmlformats.org/drawingml/2006/main">
            <a:pPr marL="25" indent="-13">
              <a:lnSpc>
                <a:spcPct val="122000"/>
              </a:lnSpc>
              <a:spcAft>
                <a:spcPts val="9"/>
              </a:spcAft>
              <a:buNone/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制約</a:t>
            </a:r>
            <a:r>
              <a: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　人員不足と検査場の狭隘化</a:t>
            </a:r>
          </a:p>
          <a:p xmlns:a="http://schemas.openxmlformats.org/drawingml/2006/main">
            <a:pPr marL="25" indent="-13">
              <a:lnSpc>
                <a:spcPct val="122000"/>
              </a:lnSpc>
              <a:spcAft>
                <a:spcPts val="9"/>
              </a:spcAft>
              <a:buNone/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要請</a:t>
            </a:r>
            <a:r>
              <a: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　厳格な水際取締りと迅速通関を同時に実現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35FF95-35E1-455D-85FB-EFAFEE3AE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0"/>
            <a:ext cx="10544175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F1C77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FE83F-4799-4AEC-BEFA-8489219A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530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rPr>
              <a:t>この課題は「人をAIに置き換える」より、限られた人員が判断に使う時間を確保する問題として捉える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1801DD-2887-475F-AD27-FA432808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D7F88E-1DD0-407A-9141-0B4B8AA6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出典：税関中長期構想2030 PDF 3～4ページ（本文2～3ページ）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96A16E-6F72-4961-82F7-623336A6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757233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7968BD-5241-4FF3-A027-8A4B402D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68764-EDBA-4031-B941-B5BB05AAA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2. SIGNAL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49DC96-9B26-41D9-AB01-862B5D8A9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非違発見件数はほぼ横ばい、許可件数当たりでは63.5％低下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E780D8-705C-4858-9CD7-4B7AA3496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42E62-A3FC-429C-97B8-73ACC894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23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055FA-1057-443F-9F37-FDCBFB18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620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計算・解釈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BDABA5-7774-45E4-9BDA-3390E906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81125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125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非違発見5年平均：101,326件 → 98,677件（ほぼ横ばい）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F40DF5BE-42F4-411E-ABA9-C17720E90A63}"/>
              </a:ext>
            </a:extLst>
          </p:cNvPr>
          <p:cNvGraphicFramePr/>
          <p:nvPr/>
        </p:nvGraphicFramePr>
        <p:xfrm>
          <a:off xmlns:a="http://schemas.openxmlformats.org/drawingml/2006/main" x="590550" y="1809750"/>
          <a:ext xmlns:a="http://schemas.openxmlformats.org/drawingml/2006/main" cx="7334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7606f7a956e46c2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EAB6EE-8003-4875-B3C4-BF3AD50D4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09750"/>
            <a:ext cx="2800350" cy="1657350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6E1C90-5945-44E4-9525-209951E96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047875"/>
            <a:ext cx="238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33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−63.5％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DED171-87F1-43FB-B0EE-B7B0B2CB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003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291.0件 → 106.2件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許可10万件当たり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52EE81-88AF-467A-A1BB-61AAC084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14750"/>
            <a:ext cx="28003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F1C77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3BF769-A204-4EFC-B770-910F9B21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24300"/>
            <a:ext cx="6096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A2D"/>
          </a:solidFill>
          <a:ln xmlns:a="http://schemas.openxmlformats.org/drawingml/2006/main" w="9525">
            <a:solidFill>
              <a:srgbClr val="E69A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833C9-B442-45DA-87C8-69EFCA61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3382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注意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5D720B-0696-43C6-A89F-592EF7DE4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24350"/>
            <a:ext cx="2343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206"/>
          </a:bodyPr>
          <a:lstStyle xmlns:a="http://schemas.openxmlformats.org/drawingml/2006/main">
            <a:defPPr algn="ctr">
              <a:defRPr sz="180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rPr>
              <a:t>これは発見率でも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rPr>
              <a:t>見逃し率でもない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FCB31C-9446-4AC9-AE22-AFA2F5EE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91100"/>
            <a:ext cx="2343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7A4A00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7A4A00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7A4A00"/>
                </a:solidFill>
                <a:latin typeface="Noto Sans JP"/>
                <a:ea typeface="Noto Sans JP"/>
                <a:cs typeface="Noto Sans JP"/>
              </a:rPr>
              <a:t>年度と暦年の差、制度・選定・実際の誤り率などの影響を含む参考比較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85007F-4C33-4C55-9F0C-69665B9F5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5ECDB7-D675-4A43-BF64-125501E5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出典：財務省 政策評価調書 PDF 6ページ、税関パンフレット2026。5年平均同士を比較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C8D0B-B22D-49F7-9823-78AE6DB78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8137609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7F7880-7B3D-48BC-ADE8-934EDCB44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ED1FE2-1F0B-4F51-9F40-F737F874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2. SIGNAL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D71518-718B-4C8A-93C3-B1F350663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データが示すのは処理能力の論点であり、見逃しの証明ではない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EE37D-7D02-4825-AF2D-B7BDF5D7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2013E-130F-4847-8E85-B991BF7C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3209925" cy="3924300"/>
          </a:xfrm>
          <a:prstGeom xmlns:a="http://schemas.openxmlformats.org/drawingml/2006/main" prst="roundRect">
            <a:avLst>
              <a:gd name="adj" fmla="val 4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73F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4E8E3-8057-42F3-AAAE-5CD20B84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3209925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173F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2D06E-3775-4E20-82BB-BD5987DF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828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事実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4F8E5F-44E7-44B3-B200-C58362A1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828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確認できること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8FED8B-2E71-4C2C-AFB2-B9F24F380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6765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marL="25" indent="-13">
              <a:lnSpc>
                <a:spcPct val="120000"/>
              </a:lnSpc>
              <a:spcAft>
                <a:spcPts val="9"/>
              </a:spcAft>
              <a:buNone/>
              <a:defRPr sz="150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0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輸入許可件数は急増</a:t>
            </a:r>
          </a:p>
          <a:p xmlns:a="http://schemas.openxmlformats.org/drawingml/2006/main">
            <a:pPr marL="25" indent="-13">
              <a:lnSpc>
                <a:spcPct val="120000"/>
              </a:lnSpc>
              <a:spcAft>
                <a:spcPts val="9"/>
              </a:spcAft>
              <a:buNone/>
              <a:defRPr sz="150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0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税関定員の増加は限定的</a:t>
            </a:r>
          </a:p>
          <a:p xmlns:a="http://schemas.openxmlformats.org/drawingml/2006/main">
            <a:pPr marL="25" indent="-13">
              <a:lnSpc>
                <a:spcPct val="120000"/>
              </a:lnSpc>
              <a:spcAft>
                <a:spcPts val="9"/>
              </a:spcAft>
              <a:buNone/>
              <a:defRPr sz="150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0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非違発見件数の5年平均は横ばい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1FB75-79CD-40D7-8A5C-7B8CF07F4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619250"/>
            <a:ext cx="3209925" cy="3924300"/>
          </a:xfrm>
          <a:prstGeom xmlns:a="http://schemas.openxmlformats.org/drawingml/2006/main" prst="roundRect">
            <a:avLst>
              <a:gd name="adj" fmla="val 4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37536C-2CDE-4B2D-8075-832C68845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619250"/>
            <a:ext cx="3209925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AA2881-6A2D-44A5-BA9C-C50C6E79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752600"/>
            <a:ext cx="2828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計算・解釈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FADD8-6415-4FF2-A47D-3F5E6769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962150"/>
            <a:ext cx="2828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安全に言えること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8FFD0-2443-45D3-A29A-8F391C29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2628900"/>
            <a:ext cx="26765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marL="25" indent="-13">
              <a:lnSpc>
                <a:spcPct val="120000"/>
              </a:lnSpc>
              <a:spcAft>
                <a:spcPts val="9"/>
              </a:spcAft>
              <a:buNone/>
              <a:defRPr sz="150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0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業務量と組織規模の拡大差が大きい</a:t>
            </a:r>
          </a:p>
          <a:p xmlns:a="http://schemas.openxmlformats.org/drawingml/2006/main">
            <a:pPr marL="25" indent="-13">
              <a:lnSpc>
                <a:spcPct val="120000"/>
              </a:lnSpc>
              <a:spcAft>
                <a:spcPts val="9"/>
              </a:spcAft>
              <a:buNone/>
              <a:defRPr sz="150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0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非違発見の密度は低下</a:t>
            </a:r>
          </a:p>
          <a:p xmlns:a="http://schemas.openxmlformats.org/drawingml/2006/main">
            <a:pPr marL="25" indent="-13">
              <a:lnSpc>
                <a:spcPct val="120000"/>
              </a:lnSpc>
              <a:spcAft>
                <a:spcPts val="9"/>
              </a:spcAft>
              <a:buNone/>
              <a:defRPr sz="150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0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人員制約だけが原因とは言えない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F10B4-E039-4A6D-8F3F-33A75A26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19250"/>
            <a:ext cx="3209925" cy="3924300"/>
          </a:xfrm>
          <a:prstGeom xmlns:a="http://schemas.openxmlformats.org/drawingml/2006/main" prst="roundRect">
            <a:avLst>
              <a:gd name="adj" fmla="val 47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9A2D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0DFC6F-F7D5-4ADE-B1C6-27A2FDFA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19250"/>
            <a:ext cx="3209925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69A2D"/>
          </a:solidFill>
          <a:ln xmlns:a="http://schemas.openxmlformats.org/drawingml/2006/main" w="9525">
            <a:solidFill>
              <a:srgbClr val="E69A2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27165F-D2F5-4235-B15A-929D69F2A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52600"/>
            <a:ext cx="28289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未検証の仮説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FC422D-0090-4D34-AEE1-CCC47DA2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62150"/>
            <a:ext cx="28289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現場で確かめること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0D8C23-D5D9-476E-8A9C-01C8A88E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28900"/>
            <a:ext cx="26765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0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marL="25" indent="-13">
              <a:lnSpc>
                <a:spcPct val="120000"/>
              </a:lnSpc>
              <a:spcAft>
                <a:spcPts val="9"/>
              </a:spcAft>
              <a:buNone/>
              <a:defRPr sz="150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0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区分2・3の件数や処理時間</a:t>
            </a:r>
          </a:p>
          <a:p xmlns:a="http://schemas.openxmlformats.org/drawingml/2006/main">
            <a:pPr marL="25" indent="-13">
              <a:lnSpc>
                <a:spcPct val="120000"/>
              </a:lnSpc>
              <a:spcAft>
                <a:spcPts val="9"/>
              </a:spcAft>
              <a:buNone/>
              <a:defRPr sz="150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0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書類探索・突合がボトルネックか</a:t>
            </a:r>
          </a:p>
          <a:p xmlns:a="http://schemas.openxmlformats.org/drawingml/2006/main">
            <a:pPr marL="25" indent="-13">
              <a:lnSpc>
                <a:spcPct val="120000"/>
              </a:lnSpc>
              <a:spcAft>
                <a:spcPts val="9"/>
              </a:spcAft>
              <a:buNone/>
              <a:defRPr sz="150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0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余力で審査対象を広げられるか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0F9ADF-8E52-4191-B1E4-65A1A704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05441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結論：人手不足による見逃しを断定せず、審査処理能力の不足可能性を検証する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A9D2F39-6568-4BEA-9E46-D4E4A7B35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4C94A8-1100-4393-B964-F109098D0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出典：税関中長期構想2030、税関パンフレット2026、財務省 政策評価調書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1900F7-98C1-44AA-9C8A-FC28DDBE8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9713829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E33AE2-34C8-42F5-A32D-BF39A3730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EB606-6459-40DC-B8BF-B7EF242C1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3. SCOPE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D922A4-29FB-42D8-B80C-B737A832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提案対象は、審査区分が決まった後の区分2・3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922978-E166-497A-96CC-5BDAB568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42D689-22C4-4462-A39C-1EBA582D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C1BAB4-547E-4134-A181-1CB28AE9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620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事実＋方針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C86FA-057C-4DD4-9CD1-D5C1AB8A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24150"/>
            <a:ext cx="209550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92668-F506-459D-B1B1-EFD5DFD0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09900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審査区分判定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6B2F3C-B380-4065-8F7D-2BC2E8D16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24050"/>
            <a:ext cx="27241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845F80-4C90-4650-A581-1E897DB3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43125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区分1　簡易審査扱い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34480-4D31-4374-9EED-290F4DFC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29000"/>
            <a:ext cx="27241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AF5F5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D11541-3F95-41F1-B20B-3FE4CFCFE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60045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区分2　書類審査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区分3　検査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E9193-AF31-44EF-8E06-8D123566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924050"/>
            <a:ext cx="2724150" cy="87630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F515F-643B-44BF-A62F-7704F6B7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226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即時許可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817279-762B-454E-A24A-44BD3390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29000"/>
            <a:ext cx="272415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417464D-90B1-4646-A4EB-0BA3A09E9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00450"/>
            <a:ext cx="2266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職員が審査・検査し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最終判断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26A041-20AD-4B93-8A47-CD55777D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71700"/>
            <a:ext cx="609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0">
            <a:solidFill>
              <a:srgbClr val="CDD8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199556-DC40-4DEF-9386-FF451394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43325"/>
            <a:ext cx="6096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0">
            <a:solidFill>
              <a:srgbClr val="0C7C8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F4E9B5-DB26-4A4E-B248-95BCA0F1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71700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0">
            <a:solidFill>
              <a:srgbClr val="CDD8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C3368-530C-4646-91C1-A1AC7E25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43325"/>
            <a:ext cx="68580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0">
            <a:solidFill>
              <a:srgbClr val="0C7C8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8315F-90D6-479C-9558-DBD0F410B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181350"/>
            <a:ext cx="7258050" cy="1466850"/>
          </a:xfrm>
          <a:prstGeom xmlns:a="http://schemas.openxmlformats.org/drawingml/2006/main" prst="roundRect">
            <a:avLst>
              <a:gd name="adj" fmla="val 11688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9447EE-EDEC-4FC3-8069-08F4F9BEE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24175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今回の支援範囲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86A4B0-4C4F-4B1E-B789-26F58C086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0"/>
            <a:ext cx="10544175" cy="1047750"/>
          </a:xfrm>
          <a:prstGeom xmlns:a="http://schemas.openxmlformats.org/drawingml/2006/main" prst="roundRect">
            <a:avLst>
              <a:gd name="adj" fmla="val 10909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5DF567-B2E2-45A0-8A87-D379C1A5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29200"/>
            <a:ext cx="98488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42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marL="25" indent="-13">
              <a:lnSpc>
                <a:spcPct val="105000"/>
              </a:lnSpc>
              <a:spcAft>
                <a:spcPts val="9"/>
              </a:spcAft>
              <a:buNone/>
              <a:defRPr sz="142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42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審査区分の判定ロジックを変更しない</a:t>
            </a:r>
          </a:p>
          <a:p xmlns:a="http://schemas.openxmlformats.org/drawingml/2006/main">
            <a:pPr marL="25" indent="-13">
              <a:lnSpc>
                <a:spcPct val="105000"/>
              </a:lnSpc>
              <a:spcAft>
                <a:spcPts val="9"/>
              </a:spcAft>
              <a:buNone/>
              <a:defRPr sz="142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42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どの貨物を審査するかをAIに決めさせない</a:t>
            </a:r>
          </a:p>
          <a:p xmlns:a="http://schemas.openxmlformats.org/drawingml/2006/main">
            <a:pPr marL="25" indent="-13">
              <a:lnSpc>
                <a:spcPct val="105000"/>
              </a:lnSpc>
              <a:spcAft>
                <a:spcPts val="9"/>
              </a:spcAft>
              <a:buNone/>
              <a:defRPr sz="142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42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区分2・3となった案件で、職員が書類と根拠を確認する作業を支援する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0035D4-AC7F-4AB3-8156-403AD0429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3449B3-C5D6-461B-AC9B-6C71DD436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出典：財務省・税関『輸入申告の審査区分の通知時期の変更』PDF 1ページ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E684E9-8011-4D21-B997-B20995B3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722660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ED88225-23D8-4C3B-B69E-F121222EA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42299-4160-4716-950F-A4716AC7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4. AS-IS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50970F-B6BA-4107-8FB3-60A7D9EC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区分2・3では、書類・参考情報・現物を組み合わせて判断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94FE0B-40BE-4C30-9A85-0D27F4B1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621034-7920-4A58-AF91-7975372A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173F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7353C-41B2-4C71-A0E3-D4D60E9B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620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事実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BBCB34-47DD-4179-9380-D879ADDD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47900"/>
            <a:ext cx="1276350" cy="219075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405F6-7FB9-45EA-8A11-BC36853D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003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4C445-7910-41AE-A6C1-EA4EDE73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申告・添付書類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A5F58B-20C6-4225-A445-4EEFB5D7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書類の有無を確認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092F6D-FCCB-444E-8219-1689CE9C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09925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0">
            <a:solidFill>
              <a:srgbClr val="CDD8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422756-1310-4897-B270-5202B076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247900"/>
            <a:ext cx="1276350" cy="219075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DB07FE-42D0-418E-B85B-2AD0E7427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4003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02346D-7E0C-4F10-8303-693F74CAF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97180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申告内容の審査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C4B419-7CE2-45A7-8281-72B76938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638550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品名・数量・価格・分類・原産地等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6F415-BCA9-4CF0-86C1-9E7522C1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09925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0">
            <a:solidFill>
              <a:srgbClr val="CDD8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F9CA91-B1D7-41C1-8B1A-F88C4B45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47900"/>
            <a:ext cx="1276350" cy="219075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BC126-1983-42C2-B023-8F2805DB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003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186B42-28F0-4645-BA4F-79698C42E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97180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参考情報の確認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4C3A8D-69B5-424C-ADB7-F8AC96D4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38550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価格資料・事前教示・過去実績等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842B1F-425A-4D6C-9326-CB9E606E4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09925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0">
            <a:solidFill>
              <a:srgbClr val="CDD8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DF4733-1D29-4086-8271-F981E471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47900"/>
            <a:ext cx="1276350" cy="219075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EAF5F5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9F3786-AA09-46E8-A9FD-B7CA9A65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24003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E9B2C7-15B0-4EA2-A995-82F2C4D1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97180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疑義の整理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7950330-3BE5-40FE-8732-B1360097E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638550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不一致・不足・追加確認事項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9DCD4E-C1E4-4895-AC8D-4A0993473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9925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0">
            <a:solidFill>
              <a:srgbClr val="CDD8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503AA7-33F7-4DF5-AE99-5E9FEB29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247900"/>
            <a:ext cx="1276350" cy="219075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EAF5F5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D9A6ACC-2EC0-47A3-8C91-E8A85979A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24003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43F0395-5D75-466E-B5A8-946C18AB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照会・訂正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5E481A-4648-45FA-BECA-8BFA39B8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638550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説明・資料・申告訂正を求める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20647E-14E5-4DB1-9520-BAE08D18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09925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0">
            <a:solidFill>
              <a:srgbClr val="CDD8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5CD42AC-C0E6-4480-8748-9EDBA924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47900"/>
            <a:ext cx="1276350" cy="219075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95EFFA-1FA5-467B-808B-F4443809E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24003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6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E5B76D-1DAE-4080-9FFF-B5692EA05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7180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必要な追加措置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C365F3-1EC6-44E0-B097-48125D80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638550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貨物確認・検査・分析・相談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4EBD63-FD21-4703-8499-6E2C113E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09925"/>
            <a:ext cx="1714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0">
            <a:solidFill>
              <a:srgbClr val="CDD8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268F1F-D2FF-47BC-8DC9-FE8C8FA79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247900"/>
            <a:ext cx="1276350" cy="2190750"/>
          </a:xfrm>
          <a:prstGeom xmlns:a="http://schemas.openxmlformats.org/drawingml/2006/main" prst="roundRect">
            <a:avLst>
              <a:gd name="adj" fmla="val 10448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94B22D-A2D8-4E08-8953-792DE5E0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24003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8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138C0DA-3CA8-4EC9-AB26-833D2A721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971800"/>
            <a:ext cx="1047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最終判断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8A32D8-83C7-416D-9995-18C4C14E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638550"/>
            <a:ext cx="104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0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税関職員が決定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280A3E4-C635-4133-A203-5B1272744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44175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DC088F-9FF8-4ABC-8110-7FC0E477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1000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審査官は、書類の確認だけでなく、参考情報の探索、疑義の整理、照会、検査要否の判断まで担う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08F3B5-113E-45F2-81AE-1738E0895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AD9DA0D-F5BB-4349-97D6-7FB263EC9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出典：税関『輸入通関事務処理体制について』PDF 2～5ページほか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2D1414-5F92-4CED-BFFE-F0828741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0227213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8FE2CF-0D54-440C-A690-617B99C2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DE34E-361D-4DB9-ADE7-68FEC036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4. AS-IS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E469A1-F1EC-49F7-9023-4E4AB2E6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審査実務は、情報収集・内容確認・照会に整理できる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B392CE-EDC3-421E-A3FF-33132C6F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31766C-3795-4BE5-B18E-3D505ED6C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239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FFE977-304A-4540-8AC5-275DBEAD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62075"/>
            <a:ext cx="1123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計算・解釈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5FC42-E5C0-4C92-920A-702561A7F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138112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※ 提案上の整理であり、税関の公式用語ではない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9DDD2B-FF5D-48FC-8AF8-7B56605F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621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1C64B2-9901-4475-B4AE-DCE3AC18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62150"/>
            <a:ext cx="2562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情報収集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EE8C2C-FA94-4C19-A1E7-945FE829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400300"/>
            <a:ext cx="2562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判断材料を集める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3BE4F-69F1-44A2-A836-5D8B8FF8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19400"/>
            <a:ext cx="3209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7C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E633F6-47DC-4EC2-8A9C-C6FF9A17F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29146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marL="25" indent="-13">
              <a:lnSpc>
                <a:spcPct val="118000"/>
              </a:lnSpc>
              <a:spcAft>
                <a:spcPts val="9"/>
              </a:spcAft>
              <a:buNone/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法令・通達</a:t>
            </a:r>
          </a:p>
          <a:p xmlns:a="http://schemas.openxmlformats.org/drawingml/2006/main">
            <a:pPr marL="25" indent="-13">
              <a:lnSpc>
                <a:spcPct val="118000"/>
              </a:lnSpc>
              <a:spcAft>
                <a:spcPts val="9"/>
              </a:spcAft>
              <a:buNone/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価格資料・事前教示</a:t>
            </a:r>
          </a:p>
          <a:p xmlns:a="http://schemas.openxmlformats.org/drawingml/2006/main">
            <a:pPr marL="25" indent="-13">
              <a:lnSpc>
                <a:spcPct val="118000"/>
              </a:lnSpc>
              <a:spcAft>
                <a:spcPts val="9"/>
              </a:spcAft>
              <a:buNone/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過去の輸入実績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93EE3B-7305-4D4E-B495-07AC2BBC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9621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D5AFBE-EEEA-44EB-9BFC-9AFF3B84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1962150"/>
            <a:ext cx="2562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内容確認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E7040E-B518-4D67-80AE-C0E240E7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400300"/>
            <a:ext cx="2562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申告と根拠を比べる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108FA-4BC6-4A44-A1BB-2F8EBDAF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2819400"/>
            <a:ext cx="3209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7C8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A553C3-B9F7-486D-A75E-A8FF6C6C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3162300"/>
            <a:ext cx="29146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marL="25" indent="-13">
              <a:lnSpc>
                <a:spcPct val="118000"/>
              </a:lnSpc>
              <a:spcAft>
                <a:spcPts val="9"/>
              </a:spcAft>
              <a:buNone/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品名・数量・価格</a:t>
            </a:r>
          </a:p>
          <a:p xmlns:a="http://schemas.openxmlformats.org/drawingml/2006/main">
            <a:pPr marL="25" indent="-13">
              <a:lnSpc>
                <a:spcPct val="118000"/>
              </a:lnSpc>
              <a:spcAft>
                <a:spcPts val="9"/>
              </a:spcAft>
              <a:buNone/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分類・原産地・許認可</a:t>
            </a:r>
          </a:p>
          <a:p xmlns:a="http://schemas.openxmlformats.org/drawingml/2006/main">
            <a:pPr marL="25" indent="-13">
              <a:lnSpc>
                <a:spcPct val="118000"/>
              </a:lnSpc>
              <a:spcAft>
                <a:spcPts val="9"/>
              </a:spcAft>
              <a:buNone/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書類間の整合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FA40E2-4119-4A84-A8F0-2A29531A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962150"/>
            <a:ext cx="514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CD57AE-864E-4490-998D-2A45BC6EB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62150"/>
            <a:ext cx="2562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2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照会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C04AF7-6E62-4BC4-AABC-47919CF1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00300"/>
            <a:ext cx="25622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疑義を解消する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D30404-A5BE-4AC0-AC1F-A3B21109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19400"/>
            <a:ext cx="3209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C7C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9BDA93-9188-447D-9A25-C81ECE6D9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62300"/>
            <a:ext cx="29146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marL="25" indent="-13">
              <a:lnSpc>
                <a:spcPct val="118000"/>
              </a:lnSpc>
              <a:spcAft>
                <a:spcPts val="9"/>
              </a:spcAft>
              <a:buNone/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不足情報の確認</a:t>
            </a:r>
          </a:p>
          <a:p xmlns:a="http://schemas.openxmlformats.org/drawingml/2006/main">
            <a:pPr marL="25" indent="-13">
              <a:lnSpc>
                <a:spcPct val="118000"/>
              </a:lnSpc>
              <a:spcAft>
                <a:spcPts val="9"/>
              </a:spcAft>
              <a:buNone/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追加資料の依頼</a:t>
            </a:r>
          </a:p>
          <a:p xmlns:a="http://schemas.openxmlformats.org/drawingml/2006/main">
            <a:pPr marL="25" indent="-13">
              <a:lnSpc>
                <a:spcPct val="118000"/>
              </a:lnSpc>
              <a:spcAft>
                <a:spcPts val="9"/>
              </a:spcAft>
              <a:buNone/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説明・申告訂正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3CE21E-2AA7-4D4A-80EF-6628AE8F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19700"/>
            <a:ext cx="10544175" cy="723900"/>
          </a:xfrm>
          <a:prstGeom xmlns:a="http://schemas.openxmlformats.org/drawingml/2006/main" prst="roundRect">
            <a:avLst>
              <a:gd name="adj" fmla="val 13158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EF08D5-172B-46C9-A4A4-C4FB0A12A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1000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6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改善対象は、判断そのものではなく、判断材料を「探す・読み取る・並べる・比較する」までの作業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203F99-472B-47E8-8B5C-A8A99861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8563DD-4291-4365-8525-F4E5E55F2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根拠：税関の公開通達に記載された審査・照会・検査業務を提案上の3群に整理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5F9A74-D9F0-435C-BB62-8B87A3AA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499527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1751DB-9E87-4306-8B39-CD79B0A9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3BF482-98A2-425B-B501-1636D66D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5. CURRENT AI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6DEE938-826E-4824-B419-7554032B4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区分2・3内部のAIは、実証または中長期検討の段階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0CA641-2FBB-4BF4-8B38-7ED3D920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336917-B2B9-4163-AFED-559709E2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685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F5F"/>
          </a:solidFill>
          <a:ln xmlns:a="http://schemas.openxmlformats.org/drawingml/2006/main" w="9525">
            <a:solidFill>
              <a:srgbClr val="173F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218FB8-3628-4428-B747-89340EC5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62075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事実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01B78D-BC56-400E-B162-181268BDB05E}"/>
              </a:ext>
            </a:extLst>
          </p:cNvPr>
          <p:cNvGraphicFramePr/>
          <p:nvPr/>
        </p:nvGraphicFramePr>
        <p:xfrm>
          <a:off xmlns:a="http://schemas.openxmlformats.org/drawingml/2006/main" x="590550" y="1809750"/>
          <a:ext xmlns:a="http://schemas.openxmlformats.org/drawingml/2006/main" cx="10544175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3714750"/>
                <a:gridCol w="1619250"/>
                <a:gridCol w="2733675"/>
              </a:tblGrid>
              <a:tr h="6286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施策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DD8E0"/>
                      </a:solidFill>
                      <a:prstDash val="solid"/>
                    </a:lnL>
                    <a:lnR w="9525">
                      <a:solidFill>
                        <a:srgbClr val="CDD8E0"/>
                      </a:solidFill>
                      <a:prstDash val="solid"/>
                    </a:lnR>
                    <a:lnT w="9525">
                      <a:solidFill>
                        <a:srgbClr val="CDD8E0"/>
                      </a:solidFill>
                      <a:prstDash val="solid"/>
                    </a:lnT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公開資料上の内容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T w="9525">
                      <a:solidFill>
                        <a:srgbClr val="CDD8E0"/>
                      </a:solidFill>
                      <a:prstDash val="solid"/>
                    </a:lnT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現在地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T w="9525">
                      <a:solidFill>
                        <a:srgbClr val="CDD8E0"/>
                      </a:solidFill>
                      <a:prstDash val="solid"/>
                    </a:lnT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今回の整理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T w="9525">
                      <a:solidFill>
                        <a:srgbClr val="CDD8E0"/>
                      </a:solidFill>
                      <a:prstDash val="solid"/>
                    </a:lnT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1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輸入申告書・通関書類のAI確認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DD8E0"/>
                      </a:solidFill>
                      <a:prstDash val="solid"/>
                    </a:lnL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1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申告書と通関関係書類をAIで確認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7C86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実証実験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1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区分2・3内部に関係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1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申告内容と添付書類の対査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DD8E0"/>
                      </a:solidFill>
                      <a:prstDash val="solid"/>
                    </a:lnL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1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通関時の書類審査でAIが対査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7C86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中長期検討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1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今回の提案と整合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1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審査ポイントの明示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DD8E0"/>
                      </a:solidFill>
                      <a:prstDash val="solid"/>
                    </a:lnL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1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対査結果から確認ポイントを職員に提示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C7C86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中長期検討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1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人の判断を支援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1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過去実績・根拠資料の案件単位提示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DD8E0"/>
                      </a:solidFill>
                      <a:prstDash val="solid"/>
                    </a:lnL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1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区分2・3での本格運用を示す公開情報は未確認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7A4A00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未確認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FFF3D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621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本提案の具体化余地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61DCB4-DD3C-482F-98C4-ABBD9F40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7800"/>
            <a:ext cx="10544175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5F0D53-1E25-456C-87D9-74B667C9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公開情報からは、申告・複数書類・過去実績を一画面で根拠付き照合する本格運用は確認できない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EA40FA-353F-4C7C-8B6F-93B9DD17D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34D937-23C3-4FAB-8F3D-13FBEE2A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出典：税関中長期構想2030 資料2-1 PDF 6ページ、資料2-2 PDF 29ページ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3E2DA-0404-442C-9D16-1CDFDEFF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097499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936D0F-D283-4C7B-B33F-486BBF5F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98BF1-CB7A-43DC-AC9B-31BED79C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6. PROBLEM HYPOTHESIS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A0239A6-0AB8-4B70-9A61-4376583A2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課題仮説は、書類の探索と突合に判断時間が奪われること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282E6A-B56B-440C-9F86-B6A330C2B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B38BA-03EA-4381-9FD4-9C3C1CD6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219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A2D"/>
          </a:solidFill>
          <a:ln xmlns:a="http://schemas.openxmlformats.org/drawingml/2006/main" w="9525">
            <a:solidFill>
              <a:srgbClr val="E69A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921C93-C7D5-4E6D-B2BA-F90FD19C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62075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未検証の仮説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770B8E-1BE6-4927-AB04-7F224DAA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48768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009F0-7AA8-4DEB-AC9A-D66F5622C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81200"/>
            <a:ext cx="4876800" cy="3238500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EAF5F5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4F179-6AD7-4A9E-B1CF-51EDAC27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7900"/>
            <a:ext cx="422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現在の可能性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0E3ADE-6937-4F73-821A-CE8A4461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76550"/>
            <a:ext cx="4095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marL="25" indent="-13">
              <a:lnSpc>
                <a:spcPct val="116000"/>
              </a:lnSpc>
              <a:spcAft>
                <a:spcPts val="9"/>
              </a:spcAft>
              <a:buNone/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書類やシステムをまたいで必要情報を探す</a:t>
            </a:r>
          </a:p>
          <a:p xmlns:a="http://schemas.openxmlformats.org/drawingml/2006/main">
            <a:pPr marL="25" indent="-13">
              <a:lnSpc>
                <a:spcPct val="116000"/>
              </a:lnSpc>
              <a:spcAft>
                <a:spcPts val="9"/>
              </a:spcAft>
              <a:buNone/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品名・数量・価格・原産地を読み取る</a:t>
            </a:r>
          </a:p>
          <a:p xmlns:a="http://schemas.openxmlformats.org/drawingml/2006/main">
            <a:pPr marL="25" indent="-13">
              <a:lnSpc>
                <a:spcPct val="116000"/>
              </a:lnSpc>
              <a:spcAft>
                <a:spcPts val="9"/>
              </a:spcAft>
              <a:buNone/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申告と添付書類、書類同士を比較する</a:t>
            </a:r>
          </a:p>
          <a:p xmlns:a="http://schemas.openxmlformats.org/drawingml/2006/main">
            <a:pPr marL="25" indent="-13">
              <a:lnSpc>
                <a:spcPct val="116000"/>
              </a:lnSpc>
              <a:spcAft>
                <a:spcPts val="9"/>
              </a:spcAft>
              <a:buNone/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過去案件を検索し、差を確認する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E651F3-A5E6-4057-A31F-96563416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47900"/>
            <a:ext cx="422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本来配分したい時間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8E611-317F-4117-B9C2-5272ED34C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76550"/>
            <a:ext cx="4095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marL="25" indent="-13">
              <a:lnSpc>
                <a:spcPct val="116000"/>
              </a:lnSpc>
              <a:spcAft>
                <a:spcPts val="9"/>
              </a:spcAft>
              <a:buNone/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差分が実務上問題かを判断する</a:t>
            </a:r>
          </a:p>
          <a:p xmlns:a="http://schemas.openxmlformats.org/drawingml/2006/main">
            <a:pPr marL="25" indent="-13">
              <a:lnSpc>
                <a:spcPct val="116000"/>
              </a:lnSpc>
              <a:spcAft>
                <a:spcPts val="9"/>
              </a:spcAft>
              <a:buNone/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追加資料や質問内容を決める</a:t>
            </a:r>
          </a:p>
          <a:p xmlns:a="http://schemas.openxmlformats.org/drawingml/2006/main">
            <a:pPr marL="25" indent="-13">
              <a:lnSpc>
                <a:spcPct val="116000"/>
              </a:lnSpc>
              <a:spcAft>
                <a:spcPts val="9"/>
              </a:spcAft>
              <a:buNone/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検査・分析・専門相談の要否を決める</a:t>
            </a:r>
          </a:p>
          <a:p xmlns:a="http://schemas.openxmlformats.org/drawingml/2006/main">
            <a:pPr marL="25" indent="-13">
              <a:lnSpc>
                <a:spcPct val="116000"/>
              </a:lnSpc>
              <a:spcAft>
                <a:spcPts val="9"/>
              </a:spcAft>
              <a:buNone/>
              <a:def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575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難しい案件を深く確認する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B80DD-677E-40A0-9F8C-15971106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29000"/>
            <a:ext cx="4381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E69A2D"/>
          </a:solidFill>
          <a:ln xmlns:a="http://schemas.openxmlformats.org/drawingml/2006/main" w="0">
            <a:solidFill>
              <a:srgbClr val="E69A2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D0872A-660F-4692-8C8C-B50B2F5FC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62600"/>
            <a:ext cx="105441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rPr>
              <a:t>公開資料では所要時間が分からないため、現場ヒアリングと実測が必要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4EE31E-BE61-496F-8446-5F11FF7A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D0AC2C-9B81-4A5A-8B78-D8ED01A2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根拠：公開通達で業務内容は確認できるが、作業別時間は公開されていない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6D1100-B431-4F4F-9258-3A7B92EF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6487024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250727C-3716-4B80-8F1D-E811C0C4E822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7600950" y="3619500"/>
            <a:ext cx="971550" cy="1152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7C86"/>
            </a:solidFill>
            <a:prstDash val="solid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CFB7EE2-66D0-4B11-9500-4DBDDD7B6540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7600950" y="3619500"/>
            <a:ext cx="971550" cy="85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7C86"/>
            </a:solidFill>
            <a:prstDash val="solid"/>
          </a:ln>
        </p:spPr>
      </p:cxnSp>
      <p:cxnSp>
        <p:nvCxn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7DC0DC-0DDF-4B94-812B-EF8092FD4858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 flipV="1">
            <a:off x="7600950" y="2638425"/>
            <a:ext cx="971550" cy="9810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C7C86"/>
            </a:solidFill>
            <a:prstDash val="solid"/>
          </a:ln>
        </p:spPr>
      </p:cxn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5F51702-FA60-4C7A-B3DA-42259B9FF1DA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2857500" y="3619500"/>
            <a:ext cx="971550" cy="14763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DD8E0"/>
            </a:solidFill>
            <a:prstDash val="solid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D87CC0-2E72-45EC-A414-20967E9FD63D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2857500" y="3619500"/>
            <a:ext cx="971550" cy="7524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DD8E0"/>
            </a:solidFill>
            <a:prstDash val="solid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277B38-A239-466F-A553-A13249B90C8F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2857500" y="3619500"/>
            <a:ext cx="971550" cy="285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DD8E0"/>
            </a:solidFill>
            <a:prstDash val="solid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CF1C33-CB01-404A-8F2A-E6A9F857EDDB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857500" y="2924175"/>
            <a:ext cx="971550" cy="6953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DD8E0"/>
            </a:solidFill>
            <a:prstDash val="solid"/>
          </a:ln>
        </p:spPr>
      </p:cxnSp>
      <p:cxnSp>
        <p:nvCxn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9CB09D-28AB-4F80-B23F-F3315EDCDC29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857500" y="2200275"/>
            <a:ext cx="971550" cy="141922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DD8E0"/>
            </a:solidFill>
            <a:prstDash val="solid"/>
          </a:ln>
        </p:spPr>
      </p:cxn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1F708A-D342-4436-8FC9-2DF0E484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1F7E3E-F6B3-4643-9861-86D6580A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7. TO-BE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F222B83-7A14-44A6-BD88-A63B3E29B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申告根拠照合ワークベンチが、差分と原文位置を一緒に示す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CB533F-CBB8-4709-8582-5CB7AFD65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57186-8BDF-4B03-9A38-6B436FC7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219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A2D"/>
          </a:solidFill>
          <a:ln xmlns:a="http://schemas.openxmlformats.org/drawingml/2006/main" w="9525">
            <a:solidFill>
              <a:srgbClr val="E69A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12926B-41F1-40AC-A9F9-CFAD59BAE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62075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未検証の仮説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45BF9-8EB6-4F58-94DB-18BED98F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22669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56949C-ECFC-41C9-B9A9-F4D3E6C2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7875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申告情報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259E3-74AB-4B6D-8177-0FB38476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76525"/>
            <a:ext cx="22669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9DD2E7-FAA9-4EEF-81D4-50870EAA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インボイス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0C1E95-7174-4549-A2E8-101EF629F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00425"/>
            <a:ext cx="22669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DDEEEA-6858-4572-AB64-8BE62F23D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Packing List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6D66A7-83DF-40C7-93D1-7D064170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24325"/>
            <a:ext cx="22669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000624-A817-4C9F-B451-0EACA366E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9575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証明書・許可書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82F607-0206-47D6-9716-AD06B21C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2266950" cy="49530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841DDC-9BB0-4EF2-8DB1-43267D283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43475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過去の許可実績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CAFC7C-3596-494C-9265-55EE1EFE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381250"/>
            <a:ext cx="3771900" cy="2476500"/>
          </a:xfrm>
          <a:prstGeom xmlns:a="http://schemas.openxmlformats.org/drawingml/2006/main" prst="roundRect">
            <a:avLst>
              <a:gd name="adj" fmla="val 8462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BB26D4-5B40-454B-8B98-D088851B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724150"/>
            <a:ext cx="30099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88702"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申告根拠照合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ワークベンチ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F78E63-8C3C-4C0F-8038-BD40A60C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638550"/>
            <a:ext cx="281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D7D9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83D1A15-4021-41A2-BC17-AE59178DA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848100"/>
            <a:ext cx="2743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39"/>
          </a:bodyPr>
          <a:lstStyle xmlns:a="http://schemas.openxmlformats.org/drawingml/2006/main">
            <a:defPPr algn="l">
              <a:defRPr sz="13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1. 案件単位でまとめる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2. 必要項目を抽出する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3. 項目単位で比較する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4. 差分と原文位置を表示する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B1785A-A44E-41C8-8A52-345E62E5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47900"/>
            <a:ext cx="2552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5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AD0B43-B670-4856-95B2-293281A6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>
            <a:defPPr algn="ctr">
              <a:defRPr sz="16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差分一覧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C5435A-DB48-4304-8BA3-868A2735C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57475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どの値が異なるか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D61E9-CB13-400B-8EB3-4F0796F67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14700"/>
            <a:ext cx="2552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5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86C467-6160-4402-B315-FCA91ABC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290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>
            <a:defPPr algn="ctr">
              <a:defRPr sz="16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根拠箇所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529620-1AF9-41AA-8F35-D96FE623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24275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どの書類のどこか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1E37C7-EAC9-43B2-86A2-0A5AAD144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81500"/>
            <a:ext cx="25527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5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C31593F-C4AF-4726-BB25-D2632D61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95800"/>
            <a:ext cx="2133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95"/>
          </a:bodyPr>
          <a:lstStyle xmlns:a="http://schemas.openxmlformats.org/drawingml/2006/main">
            <a:defPPr algn="ctr">
              <a:defRPr sz="16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未確認項目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4C7E165-DC0D-466A-96EC-39A18017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91075"/>
            <a:ext cx="2133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何が不足しているか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B78E77-42CF-45AD-8760-61196060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10544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構成・接続方式・採用製品は未確定。ここでは支援機能の範囲だけを定義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3C0219-CFF1-4B70-8599-96A3A570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ED6DA8-E688-4733-AAD1-EDC4B843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方向性の根拠：税関中長期構想2030の「申告内容と添付書類の対査」「審査ポイントの明示」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5D7E57-7907-4756-9BDA-8F49AE149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1567817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A453109-93CE-40C1-AF2B-DD5EFB7B1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73FF9E-7B18-48E8-8801-62610711B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7. TO-BE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CB3CF4-5861-426C-99D0-5158A90B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審査官は、不一致の値と根拠原文を同じ画面で確認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151D4-F094-43B6-B127-75C4BABD6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D4B04-6E80-43A9-BEB1-0887ADCF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7810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A2D"/>
          </a:solidFill>
          <a:ln xmlns:a="http://schemas.openxmlformats.org/drawingml/2006/main" w="9525">
            <a:solidFill>
              <a:srgbClr val="E69A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E46B8F-EA67-45EE-BB1B-EAAFBDE4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62075"/>
            <a:ext cx="781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概念例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F4EFFF-92F1-49B8-A606-A6C1DCAC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381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※ 実画面ではない。機能の説明用イメージ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C85A7-8A98-46C3-A6F1-EF548DF4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28800"/>
            <a:ext cx="10544175" cy="3981450"/>
          </a:xfrm>
          <a:prstGeom xmlns:a="http://schemas.openxmlformats.org/drawingml/2006/main" prst="roundRect">
            <a:avLst>
              <a:gd name="adj" fmla="val 3828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AECFAE-6E90-4C5A-A059-97639C5D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案件：ACME-2026-00182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D6102C-92CC-4950-9B7A-C3F3B9203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42506-B311-4014-B1D6-D06F225A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6222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項目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09E41-DF14-4F5A-9DE1-826BD5221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4765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893A2-D4CB-4455-8521-6F064D32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562225"/>
            <a:ext cx="1276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申告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917A8C-573F-4B83-AC5B-18481370B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476500"/>
            <a:ext cx="1524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FAD6F-40E6-436E-A429-202BBFE5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562225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Invoice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0497A-FDA9-4923-A497-D28B6070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765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08F7E-5AB6-452E-9100-C99C52149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56222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Packing List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1AE19A-D6D5-42E1-9C8F-B7FB8DE4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765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5FA5EF-0A2A-4FDF-B82A-C0B8D8A8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6222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過去実績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942141-4E73-4627-8207-641820A2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476500"/>
            <a:ext cx="171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AEB4AF-A9B4-4FE3-897A-66295629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562225"/>
            <a:ext cx="1562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確認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BF4BEF-7937-4CB0-83E5-58C626BD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146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9E0141-5F67-4C5B-832B-18E98EC3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7657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数量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DB7F3A-D936-43E1-887E-E38A636A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9146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8038D0-3849-44B2-8ACB-2A2CF8C3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07657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1,000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BEA7DA9-D149-4584-8826-452A5498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992D20-F306-48F7-8D1F-8B338865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07657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1,000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0A5C71-88A7-450F-924A-F53423C65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146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CCB77E-CAFC-4481-A0D1-AA035108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76575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rPr>
              <a:t>980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B40AEF-FC9D-4310-A20B-F160C95A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146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67AFCF5-8A8C-44A4-8C73-AAC469B5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076575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1,000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30B737-30D3-4A13-8D22-C7820376D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146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6F0B54-6693-4B1C-A31C-8BBFC5A2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76575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rPr>
              <a:t>20点差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C028CB0-AE05-4B94-AE8D-A1ADCC5C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D527B1-2029-47AC-9D92-34B31A4C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6237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単価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CFC733-08C6-4A5D-A02B-39DEB17A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004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717EBA-01ED-486E-911C-EBCF092F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76237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USD 8.00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6807466-B409-473C-8486-95A1BF9D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004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564734-67FD-43E1-9713-DE31D3CCC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6237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USD 8.00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3DDD6C-CA6B-4AB5-A687-DD12489F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004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CECC7F6-F033-45CB-8D84-92A318ED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762375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—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70A7BC8-64C3-4999-A49A-4AE0B3D4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004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F723F6-1D7D-48AC-BD26-F8967EA7C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62375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rPr>
              <a:t>USD 12.50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33B9883-4E13-4B9F-9C5B-ADA77A4CD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004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0985ED1-B3FA-4B4C-9E53-AF5F12AFF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62375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1">
                <a:solidFill>
                  <a:srgbClr val="7A4A00"/>
                </a:solidFill>
                <a:latin typeface="Noto Sans JP"/>
                <a:ea typeface="Noto Sans JP"/>
                <a:cs typeface="Noto Sans JP"/>
              </a:rPr>
              <a:t>過去差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1A85C1-CD8D-4526-A486-5BC3EB619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77FC80B-1316-44A8-8605-043F0683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4817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1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1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原産地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246D5E-18EF-4768-8599-81C32787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86250"/>
            <a:ext cx="1428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76DEEF-FBAA-4D74-B52C-1E278036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448175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VN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69C0A95-505A-4876-B2C2-563C26D5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286250"/>
            <a:ext cx="1524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08EFCF9-5F45-4EFD-9077-35787A9A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48175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VN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4E2ED1-AA55-42A9-B24D-4CB05685E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862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D05D636-986E-4A10-B41D-DB9422076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48175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VN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2810C60-B4A6-49DF-83D0-670BCD02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2862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D1AB97-5445-4C7A-89F6-D14A73F22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448175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VN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2ECEB2E-076E-49B4-8D3C-F66ED9CD3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86250"/>
            <a:ext cx="1714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04C08BE-F7C0-4F8E-AF46-F72BDB1B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448175"/>
            <a:ext cx="1562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一致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10BEFB9-834B-499F-B4D5-6FEEC246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9715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3E822C9-69FA-49DC-8570-79086375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181600"/>
            <a:ext cx="937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105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根拠原文：Packing List 2ページ  “Qty: 980 PCS”　｜　過去許可：2026-05-17  “Unit price: USD 12.50”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93049EC-B9D4-4C4B-AC02-A69A80A83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467930B-16CF-4581-A74B-82E8C4D1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概念例。具体的な項目、比較条件、画面構成は業務ヒアリング後に確定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BD38704-FCF3-4373-9BA9-250314F9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68398571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5BB7B2-AFA5-4D33-AAE8-467E7F9A1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38D18-09A5-4B8F-B2AA-ACB8A1DDC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8. CHANGE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2F4FA5B-F1A6-4A0F-AFFE-6ABF2626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人の仕事を「差を探す」から「差の意味を判断する」へ変える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7A919-CAD6-4943-9764-5C9D3965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8ACB9C-6371-4DE0-90B4-EAE22325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1181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A2D"/>
          </a:solidFill>
          <a:ln xmlns:a="http://schemas.openxmlformats.org/drawingml/2006/main" w="9525">
            <a:solidFill>
              <a:srgbClr val="E69A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D61B7-703A-4588-9CB0-1A0356305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As-Is 仮説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9CA212-275F-467E-A6C7-43D1E4BF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4572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EFD89C-3C2C-4823-9D20-D849CE11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00D751-EB08-45C9-86BC-B0B55F0D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1621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書類を探す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B5F8E7-0B96-485F-AC1B-5A6BA302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667000"/>
            <a:ext cx="1905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0">
            <a:solidFill>
              <a:srgbClr val="CDD8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DC9C2A-DC41-4130-A1D6-DC677E77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76550"/>
            <a:ext cx="4572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A1068A-1711-4140-A726-B7B786149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AD5D0F-482F-4A51-9ED6-5AB10F712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003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項目を読む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DDFFE8-A847-4607-8521-E141A148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05200"/>
            <a:ext cx="1905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0">
            <a:solidFill>
              <a:srgbClr val="CDD8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057CD0-B9C2-44CB-9701-4E6F1B41C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14750"/>
            <a:ext cx="4572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1872FB-3041-43C8-8B8A-3497E72B5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C61B09-A94F-463C-9BC7-4A2D909E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385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書類を比較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3A5951-78D0-4ACF-A9EB-442E506B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343400"/>
            <a:ext cx="1905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0">
            <a:solidFill>
              <a:srgbClr val="CDD8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A6083B-7C76-4D8C-BE0B-077BEAB5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52950"/>
            <a:ext cx="4572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C11AD7-859B-42C2-B6CF-A2CB0FD3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958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5AF034-BB6C-4A40-B83D-C9500DAF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6767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疑義を判断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4BA648-9F4B-4156-B343-6E8B3B43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09700"/>
            <a:ext cx="11811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6E9C25-6F78-455F-8AA2-97C164720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19225"/>
            <a:ext cx="1181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To-Be 仮説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8275CC-6385-49C0-8656-9A50F0A6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4572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5F5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82ABCE-BE16-4D6B-AAC8-ECC6473CE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812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5F2BDC-47F6-4D3E-A870-DFE5B4D96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1621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書類を自動整理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0C39B4-D100-4BF7-A983-05CE0AA72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67000"/>
            <a:ext cx="1905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0">
            <a:solidFill>
              <a:srgbClr val="CDD8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2406404-C359-4907-AF46-C822E09DC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4572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5F5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4F0D1E-E4BE-4180-8483-FD5885488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194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18B276-FDD1-4F55-A145-CA1F3731B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0003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項目を自動抽出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CFB1D7-4E6B-42C1-98E3-1E112640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05200"/>
            <a:ext cx="1905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0">
            <a:solidFill>
              <a:srgbClr val="CDD8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0756A6-EEEE-49BD-A8C8-BF7DCCF2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572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5F5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B28B8B2-00D6-4375-8875-D9CF8B49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576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070457-02CD-40B9-8A97-19F131B0B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385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差分と根拠を表示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9B7826-0969-45F2-98DA-74DB4CF8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43400"/>
            <a:ext cx="190500" cy="1714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0">
            <a:solidFill>
              <a:srgbClr val="CDD8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606D90-FE71-4C10-80EE-F7DD19CF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52950"/>
            <a:ext cx="4572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C29DC3-591B-478E-BCDE-6A7594F9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958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67E2B4-42C1-420F-A437-6343F1B2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6767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65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人が疑義を判断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D83115-E33B-423F-B1D9-2042D77E3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038350"/>
            <a:ext cx="19050" cy="3105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820BCD-F64D-41EA-B98D-6491CAF4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5657850"/>
            <a:ext cx="445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72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判断権限は変えない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31BC5A-36D3-4BB0-ACB1-708032D2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3920D3-A2AA-46A5-8F57-F3114AEA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As-Isの作業配分とTo-Beの効果は未検証。PoCで実測する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DBE7D52-1356-408B-B0B3-5F224C6B4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50928839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3F7ADEC-6C0E-4A1D-B4D7-25555866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7C998-348B-43EC-83DC-EB14FD86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9. EXPECTED IMPACT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2F0C3E9-2149-4A6A-BAB2-3E986F72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直接効果は時間創出、発見機会の増加は運用次第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413317-6CB6-455B-B411-857CF800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599C10-0AD8-4834-B31F-18F1789F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219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9A2D"/>
          </a:solidFill>
          <a:ln xmlns:a="http://schemas.openxmlformats.org/drawingml/2006/main" w="9525">
            <a:solidFill>
              <a:srgbClr val="E69A2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259F20-953A-4408-A276-F4B32495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62075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未検証の仮説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4008BC-7984-4F96-B83E-384297677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43150"/>
            <a:ext cx="1619250" cy="2095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B24D0E-A858-430C-A21B-9A38C971C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251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1F2A3-DD2A-48B5-B9D3-2AA16FDD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機能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86106-1B0B-418B-964A-66973BAA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86150"/>
            <a:ext cx="135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書類整理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項目抽出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差分表示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9A1E92-6C77-4BDA-8418-59618C639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86125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0">
            <a:solidFill>
              <a:srgbClr val="CDD8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2C6B9E-C6D7-47BD-BADD-DD61B0BA5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43150"/>
            <a:ext cx="1619250" cy="2095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59894-100C-4087-B8B1-7D56E409F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251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7171C-0C3A-4096-B48F-E0BB04AE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9718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直接効果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57C09C-955B-4F7B-97BA-90EA288F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486150"/>
            <a:ext cx="135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探索・突合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時間を短縮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87CBAC-79B5-4DD8-BAE3-13B7084AE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86125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0">
            <a:solidFill>
              <a:srgbClr val="CDD8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5E5C1D-CE62-4DF7-BF55-AE568C35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43150"/>
            <a:ext cx="1619250" cy="2095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EAF5F5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7FFED5-E1D7-4786-8795-2E3EDC1A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51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9899B-E942-4766-B8E9-F5D1FEBA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9718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処理能力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942B5E-7145-46CE-B7B8-DC765F4E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486150"/>
            <a:ext cx="135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処理件数または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確認の深さを向上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5F921D-2EF9-453A-8641-58E88EFB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86125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0">
            <a:solidFill>
              <a:srgbClr val="CDD8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6D1305-8241-4900-851C-660288E4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343150"/>
            <a:ext cx="1619250" cy="2095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3DA"/>
          </a:solidFill>
          <a:ln xmlns:a="http://schemas.openxmlformats.org/drawingml/2006/main" w="9525">
            <a:solidFill>
              <a:srgbClr val="E69A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07E667-4879-4DD6-B17A-10D81879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51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31B714-D25F-43A8-9CFC-3D4E1E1A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9718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運用判断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03C29C-8390-485B-8678-01758A9D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486150"/>
            <a:ext cx="135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7A4A00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7A4A00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7A4A00"/>
                </a:solidFill>
                <a:latin typeface="Noto Sans JP"/>
                <a:ea typeface="Noto Sans JP"/>
                <a:cs typeface="Noto Sans JP"/>
              </a:rPr>
              <a:t>創出余力を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7A4A00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7A4A00"/>
                </a:solidFill>
                <a:latin typeface="Noto Sans JP"/>
                <a:ea typeface="Noto Sans JP"/>
                <a:cs typeface="Noto Sans JP"/>
              </a:rPr>
              <a:t>どこへ配分するか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AC48EB-3B09-4278-9B1C-B9588BFA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86125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0">
            <a:solidFill>
              <a:srgbClr val="CDD8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D87F92-E1DC-4CF4-8262-C7619591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343150"/>
            <a:ext cx="1619250" cy="20955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3A09D7-B40A-4AFE-87ED-7992EC572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5146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901E133-01AC-452D-B482-6FDE1380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71800"/>
            <a:ext cx="135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最終効果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4E3FB6-6943-4E93-95E3-CAF0D808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486150"/>
            <a:ext cx="13525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発見機会を高め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275" b="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迅速通関を維持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49EA3A-D792-4B39-8E11-5F9D9CF0E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72050"/>
            <a:ext cx="10544175" cy="952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868A123-2BB1-4F85-BF99-69781E60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006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261"/>
          </a:bodyPr>
          <a:lstStyle xmlns:a="http://schemas.openxmlformats.org/drawingml/2006/main">
            <a:defPPr algn="ctr">
              <a:defRPr sz="157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重要：書類審査を効率化しても、余力を審査対象の拡大や高難度案件へ配分しなければ、非違発見数は自動的には増えない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1FACBB-6FED-4B37-B64C-F04C8ADE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6C0457-FC43-4783-9B7C-7A6CCA43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効果の因果連鎖は仮説。区分2・3件数、処理時間、追加確認、申告修正などで段階的に検証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8408F8-E95C-4CEA-869E-DE307614E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5511544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748484-A19F-435D-9A69-22E1E2811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24060-0559-4E03-BD10-76254E37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10. GUARDRAILS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20294E-2AE0-4DCF-9452-1C4E4882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AIは根拠提示まで、法的・実務的な判断は人が担う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4703CB-C7EF-4575-838F-999093F1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182F4-06CD-4962-BD0A-D6F613C47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4953000" cy="3790950"/>
          </a:xfrm>
          <a:prstGeom xmlns:a="http://schemas.openxmlformats.org/drawingml/2006/main" prst="roundRect">
            <a:avLst>
              <a:gd name="adj" fmla="val 4523"/>
            </a:avLst>
          </a:prstGeom>
          <a:solidFill xmlns:a="http://schemas.openxmlformats.org/drawingml/2006/main">
            <a:srgbClr val="EAF5F5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52BB9F-FFCB-4A8D-B5B0-BCCAD727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790700"/>
            <a:ext cx="4953000" cy="3790950"/>
          </a:xfrm>
          <a:prstGeom xmlns:a="http://schemas.openxmlformats.org/drawingml/2006/main" prst="roundRect">
            <a:avLst>
              <a:gd name="adj" fmla="val 4523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ADC3D9-A91E-403D-B420-662AB423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57400"/>
            <a:ext cx="430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システムが行う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9A5A22-8B69-43E8-9917-567B42668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4000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marL="25" indent="-13">
              <a:lnSpc>
                <a:spcPct val="118000"/>
              </a:lnSpc>
              <a:spcAft>
                <a:spcPts val="9"/>
              </a:spcAft>
              <a:buNone/>
              <a:defRPr sz="165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65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案件単位で書類をまとめる</a:t>
            </a:r>
          </a:p>
          <a:p xmlns:a="http://schemas.openxmlformats.org/drawingml/2006/main">
            <a:pPr marL="25" indent="-13">
              <a:lnSpc>
                <a:spcPct val="118000"/>
              </a:lnSpc>
              <a:spcAft>
                <a:spcPts val="9"/>
              </a:spcAft>
              <a:buNone/>
              <a:defRPr sz="165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65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必要項目を抽出する</a:t>
            </a:r>
          </a:p>
          <a:p xmlns:a="http://schemas.openxmlformats.org/drawingml/2006/main">
            <a:pPr marL="25" indent="-13">
              <a:lnSpc>
                <a:spcPct val="118000"/>
              </a:lnSpc>
              <a:spcAft>
                <a:spcPts val="9"/>
              </a:spcAft>
              <a:buNone/>
              <a:defRPr sz="165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65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値の差と未確認項目を示す</a:t>
            </a:r>
          </a:p>
          <a:p xmlns:a="http://schemas.openxmlformats.org/drawingml/2006/main">
            <a:pPr marL="25" indent="-13">
              <a:lnSpc>
                <a:spcPct val="118000"/>
              </a:lnSpc>
              <a:spcAft>
                <a:spcPts val="9"/>
              </a:spcAft>
              <a:buNone/>
              <a:defRPr sz="1650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650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原文の該当箇所を示す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48E51-40E0-4CB4-BB59-3D73D909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57400"/>
            <a:ext cx="4305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税関職員が行う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F7F233-62B2-45EE-8C1D-006AC435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81300"/>
            <a:ext cx="4000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>
              <a:defRPr sz="16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marL="25" indent="-13">
              <a:lnSpc>
                <a:spcPct val="118000"/>
              </a:lnSpc>
              <a:spcAft>
                <a:spcPts val="9"/>
              </a:spcAft>
              <a:buNone/>
              <a:defRPr sz="16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65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差分が問題かを判断する</a:t>
            </a:r>
          </a:p>
          <a:p xmlns:a="http://schemas.openxmlformats.org/drawingml/2006/main">
            <a:pPr marL="25" indent="-13">
              <a:lnSpc>
                <a:spcPct val="118000"/>
              </a:lnSpc>
              <a:spcAft>
                <a:spcPts val="9"/>
              </a:spcAft>
              <a:buNone/>
              <a:defRPr sz="16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65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追加確認・申告訂正を決める</a:t>
            </a:r>
          </a:p>
          <a:p xmlns:a="http://schemas.openxmlformats.org/drawingml/2006/main">
            <a:pPr marL="25" indent="-13">
              <a:lnSpc>
                <a:spcPct val="118000"/>
              </a:lnSpc>
              <a:spcAft>
                <a:spcPts val="9"/>
              </a:spcAft>
              <a:buNone/>
              <a:defRPr sz="16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65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検査・分析の要否を決める</a:t>
            </a:r>
          </a:p>
          <a:p xmlns:a="http://schemas.openxmlformats.org/drawingml/2006/main">
            <a:pPr marL="25" indent="-13">
              <a:lnSpc>
                <a:spcPct val="118000"/>
              </a:lnSpc>
              <a:spcAft>
                <a:spcPts val="9"/>
              </a:spcAft>
              <a:buNone/>
              <a:defRPr sz="1650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650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輸入許可等を最終判断する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B3DB7E-765B-4C05-8EF6-D307C626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76600"/>
            <a:ext cx="5905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4D9CA-C3CD-4B06-AFF6-105198ED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28612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方針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1929E1-4E81-4C8D-A6D6-8A9A7F829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48350"/>
            <a:ext cx="105441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AIに「違反」「低価申告」「許可可否」を決めさせない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9952F-7949-4780-B331-2528F96F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3961D4-B84A-4070-9DBC-FCDA39F6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税関中長期構想2030は、AIの業務補助の下で職員が判断・決定に集中する方向を示す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B3E967-DBE3-4FF4-8E24-22A9D58A6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2631477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B2B0E0-5AF1-4C03-988C-E49BA268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A2560-3368-4AA0-A1AB-10D4FCEEF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11. WHY NTT DATA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388E4DB-FE0C-456D-AB91-854690F9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NTTデータの強みは、通関・接続・帳票を横断できること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5918F4-90D7-4462-8970-94E7562DF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F018E7-1E41-4D66-8BC8-1B066AC7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250961-C40A-40E9-B7CE-1C4DDAC6E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62075"/>
            <a:ext cx="1066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97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事実＋解釈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BA193D-F63D-48DA-9F3D-6408119CB334}"/>
              </a:ext>
            </a:extLst>
          </p:cNvPr>
          <p:cNvGraphicFramePr/>
          <p:nvPr/>
        </p:nvGraphicFramePr>
        <p:xfrm>
          <a:off xmlns:a="http://schemas.openxmlformats.org/drawingml/2006/main" x="590550" y="1809750"/>
          <a:ext xmlns:a="http://schemas.openxmlformats.org/drawingml/2006/main" cx="10544175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4095750"/>
                <a:gridCol w="4067175"/>
              </a:tblGrid>
              <a:tr h="833438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必要な能力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DD8E0"/>
                      </a:solidFill>
                      <a:prstDash val="solid"/>
                    </a:lnL>
                    <a:lnR w="9525">
                      <a:solidFill>
                        <a:srgbClr val="CDD8E0"/>
                      </a:solidFill>
                      <a:prstDash val="solid"/>
                    </a:lnR>
                    <a:lnT w="9525">
                      <a:solidFill>
                        <a:srgbClr val="CDD8E0"/>
                      </a:solidFill>
                      <a:prstDash val="solid"/>
                    </a:lnT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公開実績・資産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T w="9525">
                      <a:solidFill>
                        <a:srgbClr val="CDD8E0"/>
                      </a:solidFill>
                      <a:prstDash val="solid"/>
                    </a:lnT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今回の提案での意味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T w="9525">
                      <a:solidFill>
                        <a:srgbClr val="CDD8E0"/>
                      </a:solidFill>
                      <a:prstDash val="solid"/>
                    </a:lnT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102A43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7C86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税関・通関業務の理解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DD8E0"/>
                      </a:solidFill>
                      <a:prstDash val="solid"/>
                    </a:lnL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1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NACCSの開発・保守に関与。VNACCS、MACCSを構築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1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申告・審査・例外処理を業務に沿って設計できる可能性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7C86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既存システムとの接続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DD8E0"/>
                      </a:solidFill>
                      <a:prstDash val="solid"/>
                    </a:lnL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1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SimGateでNACCSと企業システムを接続。40社以上の物流事業者が利用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1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情報形式・接続制約・運用を踏まえた連携設計に知見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C7C86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貿易書類の扱い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DD8E0"/>
                      </a:solidFill>
                      <a:prstDash val="solid"/>
                    </a:lnL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EA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1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TradeBookでInvoice、Packing List、輸出入許可帳票等を一元管理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6212D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複数帳票を案件・許可情報と関連付ける知見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DD8E0"/>
                      </a:solidFill>
                      <a:prstDash val="solid"/>
                    </a:lnR>
                    <a:lnB w="9525">
                      <a:solidFill>
                        <a:srgbClr val="CDD8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53632F-6131-4DB7-95DF-8DAFD1D37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67350"/>
            <a:ext cx="10544175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D61254-2F9F-455D-994F-6DD41A5E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0070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57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AI技術単体ではなく、通関業務と既存情報を理解して実装へ落とせることが差別化の核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E2B39-355C-4C7D-83E4-5EE601BE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37D0D6-D4E5-4F0D-8559-9311403B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出典：NTTデータ公式 NACCS事例、SimGate、TradeBook、SimGate導入事例（2026年4月）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E04F4-DE78-413C-9EF0-67295F5A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5611325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3B42EF-D4C5-46DF-8C44-BCAE44FC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F93B34-23E9-4AC1-8E92-0D484E67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12. CONCLUSION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CE3F0F-172D-4092-8754-490E7DA3F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提案は一本につながるが、4つの空白は検証が必要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92F3AC-D566-42C3-8162-82F13F939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CC8002-6A2E-4180-870E-0D28D564D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14500"/>
            <a:ext cx="21336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392F4-317E-4715-B461-AE489FF1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背景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E363C-1466-4F32-B22A-D109B8B9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輸入4.89倍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定員1.07倍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7722F9-16A5-4355-A5B6-CED18CFE5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28600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0">
            <a:solidFill>
              <a:srgbClr val="CDD8E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FE3BBC-3A50-467E-8ECE-4D441DAB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714500"/>
            <a:ext cx="21336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F6F9FA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D93E3-91C9-41A8-842A-9EBE23A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8859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課題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6AA3E7-5E8F-41FE-875A-B19C6F0F1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669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限られた人員で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厳格審査と迅速通関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2DF73-89EF-41F8-A9B9-D231D0E6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28600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0">
            <a:solidFill>
              <a:srgbClr val="CDD8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2A327-B14C-43D6-B20C-EA74A863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714500"/>
            <a:ext cx="21336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EAF5F5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AC7AA-DCDB-442F-B347-9D51A4E3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8859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施策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7C3912-08FC-468B-A533-D7A2162B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2669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根拠照合を支援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判断は人に残す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333FD-6D43-4587-9BDB-E4643AA3E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0"/>
            <a:ext cx="4381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DD8E0"/>
          </a:solidFill>
          <a:ln xmlns:a="http://schemas.openxmlformats.org/drawingml/2006/main" w="0">
            <a:solidFill>
              <a:srgbClr val="CDD8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4E1278-74EF-439C-9A4D-137A5220E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133600" cy="1390650"/>
          </a:xfrm>
          <a:prstGeom xmlns:a="http://schemas.openxmlformats.org/drawingml/2006/main" prst="roundRect">
            <a:avLst>
              <a:gd name="adj" fmla="val 10959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8F42EC-45AD-4E70-85BF-0B03845F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885950"/>
            <a:ext cx="1752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125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強み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CEB6BA-E25A-4B70-817E-EF8DB1F48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669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通関・接続・帳票の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defRPr>
            </a:pPr>
            <a:r>
              <a:rPr sz="1500" b="1">
                <a:solidFill>
                  <a:srgbClr val="FFFFFF"/>
                </a:solidFill>
                <a:latin typeface="Noto Sans JP"/>
                <a:ea typeface="Noto Sans JP"/>
                <a:cs typeface="Noto Sans JP"/>
              </a:rPr>
              <a:t>知見を組み合わせる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5139DC-4C4E-4F01-B654-3E94BAD78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43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87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次に確認すべき4点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E84B1D-21D0-4113-BC41-9AA36BF1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49530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14181D-A03A-4C20-91E5-E05C9BC6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114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A2D"/>
          </a:solidFill>
          <a:ln xmlns:a="http://schemas.openxmlformats.org/drawingml/2006/main" w="9525">
            <a:solidFill>
              <a:srgbClr val="E69A2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9AF2E-A37D-4FA9-A582-E1476335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348DF8-5C2A-4DB1-AB9D-5609605C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910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区分2・3の件数、書類数、処理時間の実態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D24272-1E37-444C-B58B-0ECC48807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57650"/>
            <a:ext cx="49530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9DCC7C-3D30-4900-B4E9-85C8F4766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057650"/>
            <a:ext cx="114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A2D"/>
          </a:solidFill>
          <a:ln xmlns:a="http://schemas.openxmlformats.org/drawingml/2006/main" w="9525">
            <a:solidFill>
              <a:srgbClr val="E69A2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4C5741-E828-4B5D-A3F8-76D51A1D0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291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BB96E5-2BBD-4D12-9DCB-008F21BB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1910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情報探索・書類突合にかかる時間と頻度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B77F1B-7823-4D38-B803-FE30CF29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49530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7707F9-6D5A-41BA-8CAB-F3D723E9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95850"/>
            <a:ext cx="114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9A2D"/>
          </a:solidFill>
          <a:ln xmlns:a="http://schemas.openxmlformats.org/drawingml/2006/main" w="9525">
            <a:solidFill>
              <a:srgbClr val="E69A2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DE1795-DEF6-412B-982E-AE57CF1A7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FC6AAC-D709-41C4-A318-894AC8AF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支援による時間短縮・確認精度・現場適合性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ED1E84-569E-47BB-816E-58F9AF4E8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95850"/>
            <a:ext cx="495300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E8D936-C1B9-4BA5-9EE9-AD7F0288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895850"/>
            <a:ext cx="114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AFE909-0741-40DC-B55C-8DCA64D7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67300"/>
            <a:ext cx="323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5CAE01-3BE8-4E8D-9E5F-E7F86981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02920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6212D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6212D"/>
                </a:solidFill>
                <a:latin typeface="Noto Sans JP"/>
                <a:ea typeface="Noto Sans JP"/>
                <a:cs typeface="Noto Sans JP"/>
              </a:rPr>
              <a:t>NTTデータ既存資産を再利用できる範囲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6AB5AB3-9487-4616-8ED9-CE9C5240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B29A94B-F973-41DD-A1A8-7831AFA1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結論は公開情報ベース。効果数値、業務負荷、既存資産の転用可能性は未検証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999D158-3988-4A1D-BC4A-8D507267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0952025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B5088FD-EE06-402C-BD81-845C57E6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C7C86"/>
          </a:solidFill>
          <a:ln xmlns:a="http://schemas.openxmlformats.org/drawingml/2006/main" w="9525">
            <a:solidFill>
              <a:srgbClr val="0C7C86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A890D1-7010-4522-94D8-8A9E9F3C1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APPENDIX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50D876-B6D1-4EB7-8C2A-F225485A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主要な一次資料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0EED2-A013-42B3-B92F-E93AE7A9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6205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85998-2614-4012-B057-ED6BFAFFD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811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F3E0C9-69EB-437F-8D7F-B5E7A20BB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5811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税関中長期構想2030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FE824-F387-4B99-BB03-F68326D25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0500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customs.go.jp/zeikan/seido/smart/honbun2030.pdf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AC9EAE-FB1E-406E-8FFB-5BA4432E8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152650"/>
            <a:ext cx="417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PDF 3～4ページ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029C71-5BDD-4286-AC86-AE2AE139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09825"/>
            <a:ext cx="417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05A24-7504-49B3-9D8F-53752E60A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765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1DF5D3-E5C7-4FAE-8C43-4742713EA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765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税関パンフレット2026 Chapter 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6117E-739C-445D-985A-3E3C4490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0035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customs.go.jp/zeikan/pamphlet/report/pdf/report_008j.pdf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8E746-A009-48E5-896F-013C9BF1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417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PDF 5ページ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60A07C-47D0-4D04-B377-F5589263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05175"/>
            <a:ext cx="417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1825C6-D223-4ED4-8AF2-E4D619BA7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718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162528-D2A5-44CA-8935-85B5DDE81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政策評価調書 政策目標5-3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005BD-13CC-4B4A-8945-ECA869F5B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9570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mof.go.jp/about_mof/mof_budget/budget/fy2025/…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89A257-2E0E-47C6-AE4F-9115BD637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417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PDF 6ページ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28EEDA-A6C9-4CF4-B536-FAD6AFDB3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00525"/>
            <a:ext cx="417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754DBF-F538-4851-BE9A-522801896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672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7AA9AF-2251-4553-9AF3-9F815373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672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輸入申告の審査区分の通知時期の変更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CAACF1-2078-4732-B004-682DA998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9105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customs.go.jp/shiryo/20260501_2.pdf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F552B2-5EA6-4D3A-8CF9-1DFF9570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838700"/>
            <a:ext cx="417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PDF 1ページ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73AE71-D196-408F-B7F9-DCD0D60A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095875"/>
            <a:ext cx="417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2A205A-F903-4CCC-BD27-305F3FCC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625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05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153E3B-5FE7-4D77-9E33-43018F362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1625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輸入通関事務処理体制について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B441DF-5540-4122-8039-D0BED2E5B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48640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customs.go.jp/kaisei/…/TU-H12k0247.pdf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7D24DA5-03A6-4737-B1AD-7EAA02D9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5734050"/>
            <a:ext cx="417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PDF 2～5ページ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E9457D-4D24-495E-9468-C25B5C21D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06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C6888D-D8A0-4C1E-8108-32D68757E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5811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税関中長期構想2030 資料2-1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6C8C2C-62B8-4935-B8E9-E362CBE22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0500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mof.go.jp/…/20260623/kana20260623siryo2-1.pdf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4620ED-1E6D-4686-AC0F-D8EE8A976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152650"/>
            <a:ext cx="417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PDF 6ページ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06CF60-DA6F-428D-9B1F-63EF6BB9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09825"/>
            <a:ext cx="417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D608629-FF95-4FF5-B1D7-E8E05AB2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765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07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25F6F6C-789F-4D3C-8DAC-F5835F02D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4765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税関中長期構想2030 資料2-2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74813F-5B56-426C-8CF9-5AD55456B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0035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mof.go.jp/…/20260623/kana20260623siryo2-2.pdf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C667CB9-C5D6-47E1-85DD-78CC9DDE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048000"/>
            <a:ext cx="417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PDF 29ページ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C8B44FD-22D4-4711-9EDD-05DD10B17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05175"/>
            <a:ext cx="417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89F890-4122-43BB-8126-DD580258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08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4146E1-F4DC-4C90-82AB-23F2E795E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718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NTTデータ NACCS事例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9FF951-1E3C-40D7-9FC3-E02B099F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69570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nttdata.com/jp/ja/trends/case/2017/033101/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5950C2-B7C0-49FD-981C-21E5C140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943350"/>
            <a:ext cx="417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該当本文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A6BA96-077E-460D-90F7-0ED443AD7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00525"/>
            <a:ext cx="417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F2FE43D-9652-404C-9239-C1D1B60D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6720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09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BC73CF-300B-4075-ADDE-E215819D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6720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NTTデータ SimGate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D4D90C-0108-4AB8-A92C-80D1030B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9105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nttdata.com/jp/ja/lineup/simgate/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7623EB1-D1DB-408E-A097-A67F009F5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838700"/>
            <a:ext cx="417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商品概要等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3CFB73-9597-4B2E-8BD0-9ED48B29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95875"/>
            <a:ext cx="4171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9EA6F54-E788-4234-ACD9-8AA6E1FF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1625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1425" b="1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064A9B-C310-4570-B186-99B20A7C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162550"/>
            <a:ext cx="417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NTTデータ TradeBook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155C8B-D649-4F53-8AF9-030A5BAC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486400"/>
            <a:ext cx="4171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nttdata.com/jp/ja/lineup/tradebook/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9CADC1-8D74-4099-A334-E34B647A0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734050"/>
            <a:ext cx="417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0">
                <a:solidFill>
                  <a:srgbClr val="0C7C86"/>
                </a:solidFill>
                <a:latin typeface="Noto Sans JP"/>
                <a:ea typeface="Noto Sans JP"/>
                <a:cs typeface="Noto Sans JP"/>
              </a:rPr>
              <a:t>商品概要等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491BFA3-6342-4DA3-B77E-4CF7DB4D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00800"/>
            <a:ext cx="1095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DD8E0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5D7AC31-CB8A-4F12-A554-26D121A6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5795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defRPr>
            </a:pPr>
            <a:r>
              <a:rPr sz="788" b="0">
                <a:solidFill>
                  <a:srgbClr val="4D5B68"/>
                </a:solidFill>
                <a:latin typeface="Noto Sans JP"/>
                <a:ea typeface="Noto Sans JP"/>
                <a:cs typeface="Noto Sans JP"/>
              </a:rPr>
              <a:t>各スライドの発言者ノートに完全なURLを記載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CDFC64F-997D-48FA-A6CB-9753BF75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4579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r"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defPPr>
          </a:lstStyle>
          <a:p xmlns:a="http://schemas.openxmlformats.org/drawingml/2006/main">
            <a:pPr algn="r">
              <a:lnSpc>
                <a:spcPct val="105000"/>
              </a:lnSpc>
              <a:buNone/>
              <a:def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defRPr>
            </a:pPr>
            <a:r>
              <a:rPr sz="900" b="1">
                <a:solidFill>
                  <a:srgbClr val="102A43"/>
                </a:solidFill>
                <a:latin typeface="Noto Sans JP"/>
                <a:ea typeface="Noto Sans JP"/>
                <a:cs typeface="Noto Sans JP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552960641"/>
      </p:ext>
    </p:extLst>
  </p:cSld>
</p:sld>
</file>

<file path=ppt/theme/theme1.xml><?xml version="1.0" encoding="utf-8"?>
<a:theme xmlns:a="http://schemas.openxmlformats.org/drawingml/2006/main" name="ChatGPT">
  <a:themeElements>
    <a:clrScheme name="Customs Evidence">
      <a:dk1>
        <a:srgbClr val="000000"/>
      </a:dk1>
      <a:lt1>
        <a:srgbClr val="FFFFFF"/>
      </a:lt1>
      <a:dk2>
        <a:srgbClr val="102A43"/>
      </a:dk2>
      <a:lt2>
        <a:srgbClr val="EDF2F5"/>
      </a:lt2>
      <a:accent1>
        <a:srgbClr val="173F5F"/>
      </a:accent1>
      <a:accent2>
        <a:srgbClr val="0C7C86"/>
      </a:accent2>
      <a:accent3>
        <a:srgbClr val="E69A2D"/>
      </a:accent3>
      <a:accent4>
        <a:srgbClr val="C94C4C"/>
      </a:accent4>
      <a:accent5>
        <a:srgbClr val="6B7C8A"/>
      </a:accent5>
      <a:accent6>
        <a:srgbClr val="16A6A1"/>
      </a:accent6>
      <a:hlink>
        <a:srgbClr val="1769AA"/>
      </a:hlink>
      <a:folHlink>
        <a:srgbClr val="6B4BA3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ustoms Eviden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2026-10-13T19:24:11.8780000Z</dcterms:created>
  <dcterms:modified xsi:type="dcterms:W3CDTF">2026-10-13T19:24:11.8780000Z</dcterms:modified>
</coreProperties>
</file>